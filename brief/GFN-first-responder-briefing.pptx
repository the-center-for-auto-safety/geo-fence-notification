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number, not the technology.
31 reports since April 2025, from one city's fire department. That is not a technology forecast, it is a filed record.
This briefing is about a proposed message format, not a product and not an adopted standard. Say that up front so nobody thinks they are being sold something.
Ask the room before you go on: how many of you have had an AV in the way of an apparatus placement in the last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cards, three failure modes: the vehicle blocks and the remote fix does not work; the vehicle blocks and it takes police plus a tow; the vehicle drives itself into the hazard.
The bottom line is the one that should land. The same officer, the same complaint, eleven months apart. There was no mechanism to make the second one not happen.
If someone asks whether this is one city or one company: the NHTSA letter on the next slide calls it an industry-wide functional insufficiency, not a company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the authority is arriving whether or not the fire service participates in shaping it.
H.R. 10033 is the important one. Read the two numbers out loud: hotline answered in 30 seconds, geofence notice complied with in 2 minutes. Those are real obligations on operators.
Note the bill was introduced 3 August 2026 and has not passed. Do not overstate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briefing turns on. Slow down here.
The bill gives you authority. Authority without a defined message means every operator implements it differently, and the burden of reconciling that lands on the incident commander.
The footnote is worth reading aloud. The fire service's own guidance today is informational. Nobody has handed departments a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in the order a dispatcher would ask them. Nothing here is exotic. It is the information you already put in a CAD entry.
The IPAWS point matters for small agencies. If your county already has an alert origination tool and a COG ID, you can issue one of these without any new credentialing process.
Do not get drawn into the data format on this slide. If someone asks, the answer is: it is JSON, and it also renders as CAP 1.2.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 widths encode severity. That is the whole visual.
The argument for a chief: a blanket no-vehicles rule is right for a fire ground and wrong for a parade route. If the only tool is total closure, people will either over-close, or stop using it.
NO DRIVERLESS is the interesting one for a signals-dark intersection where an officer is hand-directing traffic. A human in the vehicle can read a hand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card, use the first. Exit, never freeze.
The second card is the one that protects the public and your relationship with the city. A geofence nobody cancelled is a neighborhood quietly losing service, and nobody finds out for a week.
The third card is what you say when someone in the room asks whether this lets you shut down cars remotely. It does not, deliberately, and that is a feature. An advisory that never causes an unsafe maneuver is a thing an operator can accept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 not describe. If you have a laptop, open the console and draw a zone live instead of using this slide. It takes about twenty seconds.
The timings on the right come from the specification's latency budget for a life-safety notice.
Point at the red vehicle in the map if it is visible: that is one that got boxed in by apparatus and could not leave. The format has a way to report that by exception rather than pretending the zone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things a department already has or can decide locally in an afternoon. The first one is the real work.
Card 1 is outlined in red on purpose. Registry governance is genuinely unsolved and it is the piece where public safety input matters most and is currently absent.
If someone asks who pays: nobody has costed this.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 room of chiefs will assume anything technical is overselling itself, and the fastest way past that is to volunteer where the draft disagrees with the statute.
The 4 hours versus 72 hours gap is the one people will push on. The answer: the bill sets an outer ceiling, the draft sets working limits inside it, and the working limits are a proposal you can argue with.
Comply in 2 minutes versus clear the zone in 5 minutes are not the same claim. The draft should say which it means, and currently it does not. That is a genuine open item, not a rhetorical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plainly and do not soften it. A command audience has been pitched vaporware before and will be listening for it.
The eighteen defects line is a credibility point, not a confession. A draft that has been attacked and repaired is worth more than one that has not.
If the room's takeaway is only that geofence notices need a common format and public safety should shape it, the briefing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timing. Two years of rulemaking sounds slow, but the practices that get written into that rule are being set now by whoever shows up.
Concrete next step to offer the room: a one-hour tabletop with a real incident from their own records. That is the smallest useful commitment and it produces the feedback the draft actually needs.
Leave behind: the executive summary, the draft specification, and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leave-behind, not a slide to read out. Skip it in the room.
Useful if someone takes the deck away and circulates it, which is the most likely thing to happen to it.
The two worth saying aloud if they come up: covered entity is the bill's term and it covers manufacturers as well as fleet operators, which is what makes privately owned vehicles work. And the registry is the piece that does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1572768"/>
            <a:ext cx="7223760" cy="2103120"/>
          </a:xfrm>
          <a:prstGeom prst="rect">
            <a:avLst/>
          </a:prstGeom>
          <a:noFill/>
          <a:ln/>
        </p:spPr>
        <p:txBody>
          <a:bodyPr wrap="square" lIns="0" tIns="0" rIns="0" bIns="0" rtlCol="0" anchor="t"/>
          <a:lstStyle/>
          <a:p>
            <a:pPr indent="0" marL="0">
              <a:lnSpc>
                <a:spcPts val="5800"/>
              </a:lnSpc>
              <a:buNone/>
            </a:pPr>
            <a:r>
              <a:rPr lang="en-US" sz="5200" b="1" dirty="0">
                <a:solidFill>
                  <a:srgbClr val="F2EEE9"/>
                </a:solidFill>
                <a:latin typeface="Cambria" pitchFamily="34" charset="0"/>
                <a:ea typeface="Cambria" pitchFamily="34" charset="-122"/>
                <a:cs typeface="Cambria" pitchFamily="34" charset="-120"/>
              </a:rPr>
              <a:t>Closing the street</a:t>
            </a:r>
            <a:endParaRPr lang="en-US" sz="5200" dirty="0"/>
          </a:p>
          <a:p>
            <a:pPr indent="0" marL="0">
              <a:lnSpc>
                <a:spcPts val="5800"/>
              </a:lnSpc>
              <a:buNone/>
            </a:pPr>
            <a:r>
              <a:rPr lang="en-US" sz="5200" b="1" dirty="0">
                <a:solidFill>
                  <a:srgbClr val="F2EEE9"/>
                </a:solidFill>
                <a:latin typeface="Cambria" pitchFamily="34" charset="0"/>
                <a:ea typeface="Cambria" pitchFamily="34" charset="-122"/>
                <a:cs typeface="Cambria" pitchFamily="34" charset="-120"/>
              </a:rPr>
              <a:t>to a robotaxi</a:t>
            </a:r>
            <a:endParaRPr lang="en-US" sz="5200" dirty="0"/>
          </a:p>
        </p:txBody>
      </p:sp>
      <p:sp>
        <p:nvSpPr>
          <p:cNvPr id="3" name="Text 1"/>
          <p:cNvSpPr txBox="1"/>
          <p:nvPr/>
        </p:nvSpPr>
        <p:spPr>
          <a:xfrm>
            <a:off x="566928" y="3822192"/>
            <a:ext cx="6858000" cy="914400"/>
          </a:xfrm>
          <a:prstGeom prst="rect">
            <a:avLst/>
          </a:prstGeom>
          <a:noFill/>
          <a:ln/>
        </p:spPr>
        <p:txBody>
          <a:bodyPr wrap="square" lIns="0" tIns="0" rIns="0" bIns="0" rtlCol="0" anchor="t"/>
          <a:lstStyle/>
          <a:p>
            <a:pPr indent="0" marL="0">
              <a:lnSpc>
                <a:spcPts val="2600"/>
              </a:lnSpc>
              <a:buNone/>
            </a:pPr>
            <a:r>
              <a:rPr lang="en-US" sz="1700" dirty="0">
                <a:solidFill>
                  <a:srgbClr val="A79C90"/>
                </a:solidFill>
                <a:latin typeface="Calibri" pitchFamily="34" charset="0"/>
                <a:ea typeface="Calibri" pitchFamily="34" charset="-122"/>
                <a:cs typeface="Calibri" pitchFamily="34" charset="-120"/>
              </a:rPr>
              <a:t>A common format for geofence notices, so one message from your dispatcher reaches every automated vehicle operating in your jurisdiction.</a:t>
            </a:r>
            <a:endParaRPr lang="en-US" sz="1700" dirty="0"/>
          </a:p>
        </p:txBody>
      </p:sp>
      <p:sp>
        <p:nvSpPr>
          <p:cNvPr id="4" name="Text 2"/>
          <p:cNvSpPr txBox="1"/>
          <p:nvPr/>
        </p:nvSpPr>
        <p:spPr>
          <a:xfrm>
            <a:off x="566928" y="4956048"/>
            <a:ext cx="7223760" cy="274320"/>
          </a:xfrm>
          <a:prstGeom prst="rect">
            <a:avLst/>
          </a:prstGeom>
          <a:noFill/>
          <a:ln/>
        </p:spPr>
        <p:txBody>
          <a:bodyPr wrap="square" lIns="0" tIns="0" rIns="0" bIns="0" rtlCol="0" anchor="t"/>
          <a:lstStyle/>
          <a:p>
            <a:pPr indent="0" marL="0">
              <a:buNone/>
            </a:pPr>
            <a:r>
              <a:rPr lang="en-US" sz="1300" dirty="0">
                <a:solidFill>
                  <a:srgbClr val="F2EEE9"/>
                </a:solidFill>
                <a:latin typeface="Calibri" pitchFamily="34" charset="0"/>
                <a:ea typeface="Calibri" pitchFamily="34" charset="-122"/>
                <a:cs typeface="Calibri" pitchFamily="34" charset="-120"/>
              </a:rPr>
              <a:t>Briefing for fire, law enforcement, EMS and emergency management command</a:t>
            </a:r>
            <a:endParaRPr lang="en-US" sz="1300" dirty="0"/>
          </a:p>
        </p:txBody>
      </p:sp>
      <p:sp>
        <p:nvSpPr>
          <p:cNvPr id="5" name="Text 3"/>
          <p:cNvSpPr txBox="1"/>
          <p:nvPr/>
        </p:nvSpPr>
        <p:spPr>
          <a:xfrm>
            <a:off x="566928" y="5266944"/>
            <a:ext cx="7223760" cy="274320"/>
          </a:xfrm>
          <a:prstGeom prst="rect">
            <a:avLst/>
          </a:prstGeom>
          <a:noFill/>
          <a:ln/>
        </p:spPr>
        <p:txBody>
          <a:bodyPr wrap="square" lIns="0" tIns="0" rIns="0" bIns="0" rtlCol="0" anchor="t"/>
          <a:lstStyle/>
          <a:p>
            <a:pPr indent="0" marL="0">
              <a:buNone/>
            </a:pPr>
            <a:r>
              <a:rPr lang="en-US" sz="1150" dirty="0">
                <a:solidFill>
                  <a:srgbClr val="A79C90"/>
                </a:solidFill>
                <a:latin typeface="Courier New" pitchFamily="34" charset="0"/>
                <a:ea typeface="Courier New" pitchFamily="34" charset="-122"/>
                <a:cs typeface="Courier New" pitchFamily="34" charset="-120"/>
              </a:rPr>
              <a:t>Draft for comment  ·  3 September 2026  ·  GFN v0.1</a:t>
            </a:r>
            <a:endParaRPr lang="en-US" sz="1150" dirty="0"/>
          </a:p>
        </p:txBody>
      </p:sp>
      <p:sp>
        <p:nvSpPr>
          <p:cNvPr id="6" name="Shape 4"/>
          <p:cNvSpPr/>
          <p:nvPr/>
        </p:nvSpPr>
        <p:spPr>
          <a:xfrm>
            <a:off x="8275320" y="1572768"/>
            <a:ext cx="3364992" cy="3163824"/>
          </a:xfrm>
          <a:prstGeom prst="roundRect">
            <a:avLst>
              <a:gd name="adj" fmla="val 2312"/>
            </a:avLst>
          </a:prstGeom>
          <a:solidFill>
            <a:srgbClr val="C1341C"/>
          </a:solidFill>
          <a:ln w="12700">
            <a:solidFill>
              <a:srgbClr val="C1341C"/>
            </a:solidFill>
            <a:prstDash val="solid"/>
          </a:ln>
        </p:spPr>
      </p:sp>
      <p:sp>
        <p:nvSpPr>
          <p:cNvPr id="7" name="Text 5"/>
          <p:cNvSpPr txBox="1"/>
          <p:nvPr/>
        </p:nvSpPr>
        <p:spPr>
          <a:xfrm>
            <a:off x="8275320" y="1883664"/>
            <a:ext cx="3364992" cy="1371600"/>
          </a:xfrm>
          <a:prstGeom prst="rect">
            <a:avLst/>
          </a:prstGeom>
          <a:noFill/>
          <a:ln/>
        </p:spPr>
        <p:txBody>
          <a:bodyPr wrap="square" lIns="0" tIns="0" rIns="0" bIns="0" rtlCol="0" anchor="t"/>
          <a:lstStyle/>
          <a:p>
            <a:pPr algn="ctr" indent="0" marL="0">
              <a:buNone/>
            </a:pPr>
            <a:r>
              <a:rPr lang="en-US" sz="9600" b="1" dirty="0">
                <a:solidFill>
                  <a:srgbClr val="FFFFFF"/>
                </a:solidFill>
                <a:latin typeface="Cambria" pitchFamily="34" charset="0"/>
                <a:ea typeface="Cambria" pitchFamily="34" charset="-122"/>
                <a:cs typeface="Cambria" pitchFamily="34" charset="-120"/>
              </a:rPr>
              <a:t>31</a:t>
            </a:r>
            <a:endParaRPr lang="en-US" sz="9600" dirty="0"/>
          </a:p>
        </p:txBody>
      </p:sp>
      <p:sp>
        <p:nvSpPr>
          <p:cNvPr id="8" name="Text 6"/>
          <p:cNvSpPr txBox="1"/>
          <p:nvPr/>
        </p:nvSpPr>
        <p:spPr>
          <a:xfrm>
            <a:off x="8549640" y="3310128"/>
            <a:ext cx="2816352" cy="1188720"/>
          </a:xfrm>
          <a:prstGeom prst="rect">
            <a:avLst/>
          </a:prstGeom>
          <a:noFill/>
          <a:ln/>
        </p:spPr>
        <p:txBody>
          <a:bodyPr wrap="square" lIns="0" tIns="0" rIns="0" bIns="0" rtlCol="0" anchor="t"/>
          <a:lstStyle/>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reports filed by San Francisco</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firefighters since April 2025,</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documenting robotaxis obstructing</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emergency operations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PROBLEM</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It is already happening, and the workaround is manual</a:t>
            </a:r>
            <a:endParaRPr lang="en-US" sz="3400" dirty="0"/>
          </a:p>
        </p:txBody>
      </p:sp>
      <p:sp>
        <p:nvSpPr>
          <p:cNvPr id="4" name="Shape 2"/>
          <p:cNvSpPr/>
          <p:nvPr/>
        </p:nvSpPr>
        <p:spPr>
          <a:xfrm>
            <a:off x="566928"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5" name="Text 3"/>
          <p:cNvSpPr txBox="1"/>
          <p:nvPr/>
        </p:nvSpPr>
        <p:spPr>
          <a:xfrm>
            <a:off x="822960"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2025-12  ·  15TH STREET</a:t>
            </a:r>
            <a:endParaRPr lang="en-US" sz="1050" dirty="0"/>
          </a:p>
        </p:txBody>
      </p:sp>
      <p:sp>
        <p:nvSpPr>
          <p:cNvPr id="6" name="Text 4"/>
          <p:cNvSpPr txBox="1"/>
          <p:nvPr/>
        </p:nvSpPr>
        <p:spPr>
          <a:xfrm>
            <a:off x="822960"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Engine blocked, stabbing call</a:t>
            </a:r>
            <a:endParaRPr lang="en-US" sz="1500" dirty="0"/>
          </a:p>
        </p:txBody>
      </p:sp>
      <p:sp>
        <p:nvSpPr>
          <p:cNvPr id="7" name="Text 5"/>
          <p:cNvSpPr txBox="1"/>
          <p:nvPr/>
        </p:nvSpPr>
        <p:spPr>
          <a:xfrm>
            <a:off x="822960"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Crews knocked on the window for customer service. Remote repositioning failed. Firefighters operated the vehicle themselves and it malfunctioned in reverse. Fifteen minutes. Another crew arrived first.</a:t>
            </a:r>
            <a:endParaRPr lang="en-US" sz="1250" dirty="0"/>
          </a:p>
        </p:txBody>
      </p:sp>
      <p:sp>
        <p:nvSpPr>
          <p:cNvPr id="8" name="Shape 6"/>
          <p:cNvSpPr/>
          <p:nvPr/>
        </p:nvSpPr>
        <p:spPr>
          <a:xfrm>
            <a:off x="4379976"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9" name="Text 7"/>
          <p:cNvSpPr txBox="1"/>
          <p:nvPr/>
        </p:nvSpPr>
        <p:spPr>
          <a:xfrm>
            <a:off x="4636008"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2026-02-21  ·  SANCHEZ ST</a:t>
            </a:r>
            <a:endParaRPr lang="en-US" sz="1050" dirty="0"/>
          </a:p>
        </p:txBody>
      </p:sp>
      <p:sp>
        <p:nvSpPr>
          <p:cNvPr id="10" name="Text 8"/>
          <p:cNvSpPr txBox="1"/>
          <p:nvPr/>
        </p:nvSpPr>
        <p:spPr>
          <a:xfrm>
            <a:off x="4636008"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Engine blocked, respiratory call</a:t>
            </a:r>
            <a:endParaRPr lang="en-US" sz="1500" dirty="0"/>
          </a:p>
        </p:txBody>
      </p:sp>
      <p:sp>
        <p:nvSpPr>
          <p:cNvPr id="11" name="Text 9"/>
          <p:cNvSpPr txBox="1"/>
          <p:nvPr/>
        </p:nvSpPr>
        <p:spPr>
          <a:xfrm>
            <a:off x="4636008"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 three-point turn put the vehicle across the engine's path. Clearing it took SFPD and a tow truck.</a:t>
            </a:r>
            <a:endParaRPr lang="en-US" sz="1250" dirty="0"/>
          </a:p>
        </p:txBody>
      </p:sp>
      <p:sp>
        <p:nvSpPr>
          <p:cNvPr id="12" name="Shape 10"/>
          <p:cNvSpPr/>
          <p:nvPr/>
        </p:nvSpPr>
        <p:spPr>
          <a:xfrm>
            <a:off x="8193024"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13" name="Text 11"/>
          <p:cNvSpPr txBox="1"/>
          <p:nvPr/>
        </p:nvSpPr>
        <p:spPr>
          <a:xfrm>
            <a:off x="8449056"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2026-06-20  ·  FIRE GROUND</a:t>
            </a:r>
            <a:endParaRPr lang="en-US" sz="1050" dirty="0"/>
          </a:p>
        </p:txBody>
      </p:sp>
      <p:sp>
        <p:nvSpPr>
          <p:cNvPr id="14" name="Text 12"/>
          <p:cNvSpPr txBox="1"/>
          <p:nvPr/>
        </p:nvSpPr>
        <p:spPr>
          <a:xfrm>
            <a:off x="8449056"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Vehicle drove into heavy smoke</a:t>
            </a:r>
            <a:endParaRPr lang="en-US" sz="1500" dirty="0"/>
          </a:p>
        </p:txBody>
      </p:sp>
      <p:sp>
        <p:nvSpPr>
          <p:cNvPr id="15" name="Text 13"/>
          <p:cNvSpPr txBox="1"/>
          <p:nvPr/>
        </p:nvSpPr>
        <p:spPr>
          <a:xfrm>
            <a:off x="8449056"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An unoccupied vehicle entered an active fire scene obscured by smoke, braked hard, and stopped. It produced a 105-vehicle recall.</a:t>
            </a:r>
            <a:endParaRPr lang="en-US" sz="1250" dirty="0"/>
          </a:p>
        </p:txBody>
      </p:sp>
      <p:sp>
        <p:nvSpPr>
          <p:cNvPr id="16" name="Shape 14"/>
          <p:cNvSpPr/>
          <p:nvPr/>
        </p:nvSpPr>
        <p:spPr>
          <a:xfrm>
            <a:off x="566928" y="4261104"/>
            <a:ext cx="11057839" cy="1298448"/>
          </a:xfrm>
          <a:prstGeom prst="roundRect">
            <a:avLst>
              <a:gd name="adj" fmla="val 4930"/>
            </a:avLst>
          </a:prstGeom>
          <a:solidFill>
            <a:srgbClr val="F0DCD6"/>
          </a:solidFill>
          <a:ln w="12700">
            <a:solidFill>
              <a:srgbClr val="E2C4BB"/>
            </a:solidFill>
            <a:prstDash val="solid"/>
          </a:ln>
        </p:spPr>
      </p:sp>
      <p:sp>
        <p:nvSpPr>
          <p:cNvPr id="17" name="Text 15"/>
          <p:cNvSpPr txBox="1"/>
          <p:nvPr/>
        </p:nvSpPr>
        <p:spPr>
          <a:xfrm>
            <a:off x="877824" y="4462272"/>
            <a:ext cx="10436047" cy="914400"/>
          </a:xfrm>
          <a:prstGeom prst="rect">
            <a:avLst/>
          </a:prstGeom>
          <a:noFill/>
          <a:ln/>
        </p:spPr>
        <p:txBody>
          <a:bodyPr wrap="square" lIns="0" tIns="0" rIns="0" bIns="0" rtlCol="0" anchor="t"/>
          <a:lstStyle/>
          <a:p>
            <a:pPr indent="0" marL="0">
              <a:lnSpc>
                <a:spcPts val="2100"/>
              </a:lnSpc>
              <a:buNone/>
            </a:pPr>
            <a:r>
              <a:rPr lang="en-US" sz="1450" b="1" dirty="0">
                <a:solidFill>
                  <a:srgbClr val="22201D"/>
                </a:solidFill>
                <a:latin typeface="Calibri" pitchFamily="34" charset="0"/>
                <a:ea typeface="Calibri" pitchFamily="34" charset="-122"/>
                <a:cs typeface="Calibri" pitchFamily="34" charset="-120"/>
              </a:rPr>
              <a:t>The same lieutenant filed the same complaint about a vehicle blocking aerial positioning eleven months apart.</a:t>
            </a:r>
            <a:pPr indent="0" marL="0">
              <a:lnSpc>
                <a:spcPts val="2100"/>
              </a:lnSpc>
              <a:buNone/>
            </a:pPr>
            <a:r>
              <a:rPr lang="en-US" sz="1450" dirty="0">
                <a:solidFill>
                  <a:srgbClr val="6B625A"/>
                </a:solidFill>
                <a:latin typeface="Calibri" pitchFamily="34" charset="0"/>
                <a:ea typeface="Calibri" pitchFamily="34" charset="-122"/>
                <a:cs typeface="Calibri" pitchFamily="34" charset="-120"/>
              </a:rPr>
              <a:t>  Nothing between those two reports changed the outcome. Separately, the department has responded to over 100 vehicle-initiated 911 calls to wake sleeping passengers.</a:t>
            </a:r>
            <a:endParaRPr lang="en-US" sz="1450" dirty="0"/>
          </a:p>
        </p:txBody>
      </p:sp>
      <p:sp>
        <p:nvSpPr>
          <p:cNvPr id="18" name="Text 16"/>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6B625A"/>
                </a:solidFill>
                <a:latin typeface="Calibri" pitchFamily="34" charset="0"/>
                <a:ea typeface="Calibri" pitchFamily="34" charset="-122"/>
                <a:cs typeface="Calibri" pitchFamily="34" charset="-120"/>
              </a:rPr>
              <a:t>Source: San Francisco Standard, 10 July 2026, reviewing SFFD incident reports. Recall figure: NHTSA via Al Jazeera, 17 July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WHERE THINGS STAND</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Washington has moved. The mechanism has not been written.</a:t>
            </a:r>
            <a:endParaRPr lang="en-US" sz="3400" dirty="0"/>
          </a:p>
        </p:txBody>
      </p:sp>
      <p:sp>
        <p:nvSpPr>
          <p:cNvPr id="4" name="Shape 2"/>
          <p:cNvSpPr/>
          <p:nvPr/>
        </p:nvSpPr>
        <p:spPr>
          <a:xfrm>
            <a:off x="585216" y="1975104"/>
            <a:ext cx="274320" cy="274320"/>
          </a:xfrm>
          <a:prstGeom prst="ellipse">
            <a:avLst/>
          </a:prstGeom>
          <a:solidFill>
            <a:srgbClr val="C1341C"/>
          </a:solidFill>
          <a:ln w="12700">
            <a:solidFill>
              <a:srgbClr val="C1341C"/>
            </a:solidFill>
            <a:prstDash val="solid"/>
          </a:ln>
        </p:spPr>
      </p:sp>
      <p:sp>
        <p:nvSpPr>
          <p:cNvPr id="5" name="Text 3"/>
          <p:cNvSpPr txBox="1"/>
          <p:nvPr/>
        </p:nvSpPr>
        <p:spPr>
          <a:xfrm>
            <a:off x="1042416" y="1947672"/>
            <a:ext cx="1481328" cy="256032"/>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8 JUL 2026</a:t>
            </a:r>
            <a:endParaRPr lang="en-US" sz="1150" dirty="0"/>
          </a:p>
        </p:txBody>
      </p:sp>
      <p:sp>
        <p:nvSpPr>
          <p:cNvPr id="6" name="Text 4"/>
          <p:cNvSpPr txBox="1"/>
          <p:nvPr/>
        </p:nvSpPr>
        <p:spPr>
          <a:xfrm>
            <a:off x="2651760" y="1883664"/>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NHTSA calls it a functional insufficiency</a:t>
            </a:r>
            <a:endParaRPr lang="en-US" sz="1900" dirty="0"/>
          </a:p>
        </p:txBody>
      </p:sp>
      <p:sp>
        <p:nvSpPr>
          <p:cNvPr id="7" name="Text 5"/>
          <p:cNvSpPr txBox="1"/>
          <p:nvPr/>
        </p:nvSpPr>
        <p:spPr>
          <a:xfrm>
            <a:off x="2651760" y="2286000"/>
            <a:ext cx="9052560" cy="694944"/>
          </a:xfrm>
          <a:prstGeom prst="rect">
            <a:avLst/>
          </a:prstGeom>
          <a:noFill/>
          <a:ln/>
        </p:spPr>
        <p:txBody>
          <a:bodyPr wrap="square" lIns="0" tIns="0" rIns="0" bIns="0" rtlCol="0" anchor="t"/>
          <a:lstStyle/>
          <a:p>
            <a:pPr indent="0" marL="0">
              <a:lnSpc>
                <a:spcPts val="1900"/>
              </a:lnSpc>
              <a:buNone/>
            </a:pPr>
            <a:r>
              <a:rPr lang="en-US" sz="1350" dirty="0">
                <a:solidFill>
                  <a:srgbClr val="6B625A"/>
                </a:solidFill>
                <a:latin typeface="Calibri" pitchFamily="34" charset="0"/>
                <a:ea typeface="Calibri" pitchFamily="34" charset="-122"/>
                <a:cs typeface="Calibri" pitchFamily="34" charset="-120"/>
              </a:rPr>
              <a:t>Administrator Morrison to AV developers: an automated vehicle that cannot safely interact with first responders is a danger to the general public. Remediation plans due in three weeks.</a:t>
            </a:r>
            <a:endParaRPr lang="en-US" sz="1350" dirty="0"/>
          </a:p>
        </p:txBody>
      </p:sp>
      <p:sp>
        <p:nvSpPr>
          <p:cNvPr id="8" name="Shape 6"/>
          <p:cNvSpPr/>
          <p:nvPr/>
        </p:nvSpPr>
        <p:spPr>
          <a:xfrm>
            <a:off x="585216" y="3236976"/>
            <a:ext cx="274320" cy="274320"/>
          </a:xfrm>
          <a:prstGeom prst="ellipse">
            <a:avLst/>
          </a:prstGeom>
          <a:solidFill>
            <a:srgbClr val="B07818"/>
          </a:solidFill>
          <a:ln w="12700">
            <a:solidFill>
              <a:srgbClr val="B07818"/>
            </a:solidFill>
            <a:prstDash val="solid"/>
          </a:ln>
        </p:spPr>
      </p:sp>
      <p:sp>
        <p:nvSpPr>
          <p:cNvPr id="9" name="Text 7"/>
          <p:cNvSpPr txBox="1"/>
          <p:nvPr/>
        </p:nvSpPr>
        <p:spPr>
          <a:xfrm>
            <a:off x="1042416" y="3209544"/>
            <a:ext cx="1481328" cy="256032"/>
          </a:xfrm>
          <a:prstGeom prst="rect">
            <a:avLst/>
          </a:prstGeom>
          <a:noFill/>
          <a:ln/>
        </p:spPr>
        <p:txBody>
          <a:bodyPr wrap="square" lIns="0" tIns="0" rIns="0" bIns="0" rtlCol="0" anchor="t"/>
          <a:lstStyle/>
          <a:p>
            <a:pPr indent="0" marL="0">
              <a:buNone/>
            </a:pPr>
            <a:r>
              <a:rPr lang="en-US" sz="1150" b="1" dirty="0">
                <a:solidFill>
                  <a:srgbClr val="B07818"/>
                </a:solidFill>
                <a:latin typeface="Courier New" pitchFamily="34" charset="0"/>
                <a:ea typeface="Courier New" pitchFamily="34" charset="-122"/>
                <a:cs typeface="Courier New" pitchFamily="34" charset="-120"/>
              </a:rPr>
              <a:t>17 JUL 2026</a:t>
            </a:r>
            <a:endParaRPr lang="en-US" sz="1150" dirty="0"/>
          </a:p>
        </p:txBody>
      </p:sp>
      <p:sp>
        <p:nvSpPr>
          <p:cNvPr id="10" name="Text 8"/>
          <p:cNvSpPr txBox="1"/>
          <p:nvPr/>
        </p:nvSpPr>
        <p:spPr>
          <a:xfrm>
            <a:off x="2651760" y="3145536"/>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First recall on emergency-response grounds</a:t>
            </a:r>
            <a:endParaRPr lang="en-US" sz="1900" dirty="0"/>
          </a:p>
        </p:txBody>
      </p:sp>
      <p:sp>
        <p:nvSpPr>
          <p:cNvPr id="11" name="Text 9"/>
          <p:cNvSpPr txBox="1"/>
          <p:nvPr/>
        </p:nvSpPr>
        <p:spPr>
          <a:xfrm>
            <a:off x="2651760" y="3547872"/>
            <a:ext cx="9052560" cy="694944"/>
          </a:xfrm>
          <a:prstGeom prst="rect">
            <a:avLst/>
          </a:prstGeom>
          <a:noFill/>
          <a:ln/>
        </p:spPr>
        <p:txBody>
          <a:bodyPr wrap="square" lIns="0" tIns="0" rIns="0" bIns="0" rtlCol="0" anchor="t"/>
          <a:lstStyle/>
          <a:p>
            <a:pPr indent="0" marL="0">
              <a:lnSpc>
                <a:spcPts val="1900"/>
              </a:lnSpc>
              <a:buNone/>
            </a:pPr>
            <a:r>
              <a:rPr lang="en-US" sz="1350" dirty="0">
                <a:solidFill>
                  <a:srgbClr val="6B625A"/>
                </a:solidFill>
                <a:latin typeface="Calibri" pitchFamily="34" charset="0"/>
                <a:ea typeface="Calibri" pitchFamily="34" charset="-122"/>
                <a:cs typeface="Calibri" pitchFamily="34" charset="-120"/>
              </a:rPr>
              <a:t>105 vehicles recalled after one drove into a smoke-obscured fire ground.</a:t>
            </a:r>
            <a:endParaRPr lang="en-US" sz="1350" dirty="0"/>
          </a:p>
        </p:txBody>
      </p:sp>
      <p:sp>
        <p:nvSpPr>
          <p:cNvPr id="12" name="Shape 10"/>
          <p:cNvSpPr/>
          <p:nvPr/>
        </p:nvSpPr>
        <p:spPr>
          <a:xfrm>
            <a:off x="585216" y="4498848"/>
            <a:ext cx="274320" cy="274320"/>
          </a:xfrm>
          <a:prstGeom prst="ellipse">
            <a:avLst/>
          </a:prstGeom>
          <a:solidFill>
            <a:srgbClr val="2E6E85"/>
          </a:solidFill>
          <a:ln w="12700">
            <a:solidFill>
              <a:srgbClr val="2E6E85"/>
            </a:solidFill>
            <a:prstDash val="solid"/>
          </a:ln>
        </p:spPr>
      </p:sp>
      <p:sp>
        <p:nvSpPr>
          <p:cNvPr id="13" name="Text 11"/>
          <p:cNvSpPr txBox="1"/>
          <p:nvPr/>
        </p:nvSpPr>
        <p:spPr>
          <a:xfrm>
            <a:off x="1042416" y="4471416"/>
            <a:ext cx="1481328" cy="256032"/>
          </a:xfrm>
          <a:prstGeom prst="rect">
            <a:avLst/>
          </a:prstGeom>
          <a:noFill/>
          <a:ln/>
        </p:spPr>
        <p:txBody>
          <a:bodyPr wrap="square" lIns="0" tIns="0" rIns="0" bIns="0" rtlCol="0" anchor="t"/>
          <a:lstStyle/>
          <a:p>
            <a:pPr indent="0" marL="0">
              <a:buNone/>
            </a:pPr>
            <a:r>
              <a:rPr lang="en-US" sz="1150" b="1" dirty="0">
                <a:solidFill>
                  <a:srgbClr val="2E6E85"/>
                </a:solidFill>
                <a:latin typeface="Courier New" pitchFamily="34" charset="0"/>
                <a:ea typeface="Courier New" pitchFamily="34" charset="-122"/>
                <a:cs typeface="Courier New" pitchFamily="34" charset="-120"/>
              </a:rPr>
              <a:t>3 AUG 2026</a:t>
            </a:r>
            <a:endParaRPr lang="en-US" sz="1150" dirty="0"/>
          </a:p>
        </p:txBody>
      </p:sp>
      <p:sp>
        <p:nvSpPr>
          <p:cNvPr id="14" name="Text 12"/>
          <p:cNvSpPr txBox="1"/>
          <p:nvPr/>
        </p:nvSpPr>
        <p:spPr>
          <a:xfrm>
            <a:off x="2651760" y="4407408"/>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H.R. 10033 introduced</a:t>
            </a:r>
            <a:endParaRPr lang="en-US" sz="1900" dirty="0"/>
          </a:p>
        </p:txBody>
      </p:sp>
      <p:sp>
        <p:nvSpPr>
          <p:cNvPr id="15" name="Text 13"/>
          <p:cNvSpPr txBox="1"/>
          <p:nvPr/>
        </p:nvSpPr>
        <p:spPr>
          <a:xfrm>
            <a:off x="2651760" y="4809744"/>
            <a:ext cx="9052560" cy="694944"/>
          </a:xfrm>
          <a:prstGeom prst="rect">
            <a:avLst/>
          </a:prstGeom>
          <a:noFill/>
          <a:ln/>
        </p:spPr>
        <p:txBody>
          <a:bodyPr wrap="square" lIns="0" tIns="0" rIns="0" bIns="0" rtlCol="0" anchor="t"/>
          <a:lstStyle/>
          <a:p>
            <a:pPr indent="0" marL="0">
              <a:lnSpc>
                <a:spcPts val="1900"/>
              </a:lnSpc>
              <a:buNone/>
            </a:pPr>
            <a:r>
              <a:rPr lang="en-US" sz="1350" dirty="0">
                <a:solidFill>
                  <a:srgbClr val="6B625A"/>
                </a:solidFill>
                <a:latin typeface="Calibri" pitchFamily="34" charset="0"/>
                <a:ea typeface="Calibri" pitchFamily="34" charset="-122"/>
                <a:cs typeface="Calibri" pitchFamily="34" charset="-120"/>
              </a:rPr>
              <a:t>The AV Emergency Response Coordination Act would give you a 24/7 hotline answered in 30 seconds, and the authority to issue a geofence notice that operators must comply with in 2 minutes.</a:t>
            </a:r>
            <a:endParaRPr lang="en-US" sz="1350" dirty="0"/>
          </a:p>
        </p:txBody>
      </p:sp>
      <p:sp>
        <p:nvSpPr>
          <p:cNvPr id="16" name="Shape 14"/>
          <p:cNvSpPr/>
          <p:nvPr/>
        </p:nvSpPr>
        <p:spPr>
          <a:xfrm>
            <a:off x="566928" y="5705856"/>
            <a:ext cx="11057839" cy="585216"/>
          </a:xfrm>
          <a:prstGeom prst="roundRect">
            <a:avLst>
              <a:gd name="adj" fmla="val 9375"/>
            </a:avLst>
          </a:prstGeom>
          <a:solidFill>
            <a:srgbClr val="EDE9E4"/>
          </a:solidFill>
          <a:ln w="12700">
            <a:solidFill>
              <a:srgbClr val="DED8D1"/>
            </a:solidFill>
            <a:prstDash val="solid"/>
          </a:ln>
        </p:spPr>
      </p:sp>
      <p:sp>
        <p:nvSpPr>
          <p:cNvPr id="17" name="Text 15"/>
          <p:cNvSpPr txBox="1"/>
          <p:nvPr/>
        </p:nvSpPr>
        <p:spPr>
          <a:xfrm>
            <a:off x="841248" y="5833872"/>
            <a:ext cx="10509199" cy="384048"/>
          </a:xfrm>
          <a:prstGeom prst="rect">
            <a:avLst/>
          </a:prstGeom>
          <a:noFill/>
          <a:ln/>
        </p:spPr>
        <p:txBody>
          <a:bodyPr wrap="square" lIns="0" tIns="0" rIns="0" bIns="0" rtlCol="0" anchor="t"/>
          <a:lstStyle/>
          <a:p>
            <a:pPr indent="0" marL="0">
              <a:buNone/>
            </a:pPr>
            <a:r>
              <a:rPr lang="en-US" sz="1400" i="1" dirty="0">
                <a:solidFill>
                  <a:srgbClr val="22201D"/>
                </a:solidFill>
                <a:latin typeface="Calibri" pitchFamily="34" charset="0"/>
                <a:ea typeface="Calibri" pitchFamily="34" charset="-122"/>
                <a:cs typeface="Calibri" pitchFamily="34" charset="-120"/>
              </a:rPr>
              <a:t>The bill would give NHTSA two years to write the rules, and it has not passed. What happens in the meantime is being decided now.</a:t>
            </a:r>
            <a:endParaRPr lang="en-US" sz="1400" dirty="0"/>
          </a:p>
        </p:txBody>
      </p:sp>
      <p:sp>
        <p:nvSpPr>
          <p:cNvPr id="18" name="Text 16"/>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GAP</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The bill grants the authority. It does not say what a notice is.</a:t>
            </a:r>
            <a:endParaRPr lang="en-US" sz="3400" dirty="0"/>
          </a:p>
        </p:txBody>
      </p:sp>
      <p:sp>
        <p:nvSpPr>
          <p:cNvPr id="4" name="Text 2"/>
          <p:cNvSpPr txBox="1"/>
          <p:nvPr/>
        </p:nvSpPr>
        <p:spPr>
          <a:xfrm>
            <a:off x="566928" y="1847088"/>
            <a:ext cx="6858000" cy="1371600"/>
          </a:xfrm>
          <a:prstGeom prst="rect">
            <a:avLst/>
          </a:prstGeom>
          <a:noFill/>
          <a:ln/>
        </p:spPr>
        <p:txBody>
          <a:bodyPr wrap="square" lIns="0" tIns="0" rIns="0" bIns="0" rtlCol="0" anchor="t"/>
          <a:lstStyle/>
          <a:p>
            <a:pPr indent="0" marL="0">
              <a:lnSpc>
                <a:spcPts val="2800"/>
              </a:lnSpc>
              <a:buNone/>
            </a:pPr>
            <a:r>
              <a:rPr lang="en-US" sz="1900" i="1" dirty="0">
                <a:solidFill>
                  <a:srgbClr val="F2EEE9"/>
                </a:solidFill>
                <a:latin typeface="Cambria" pitchFamily="34" charset="0"/>
                <a:ea typeface="Cambria" pitchFamily="34" charset="-122"/>
                <a:cs typeface="Cambria" pitchFamily="34" charset="-120"/>
              </a:rPr>
              <a:t>“a request issued by a first responder or other Federal, State, Tribal, or local government or agency to a covered entity to have its covered vehicles avoid a geographic area for up to 72 hours”</a:t>
            </a:r>
            <a:endParaRPr lang="en-US" sz="1900" dirty="0"/>
          </a:p>
        </p:txBody>
      </p:sp>
      <p:sp>
        <p:nvSpPr>
          <p:cNvPr id="5" name="Text 3"/>
          <p:cNvSpPr txBox="1"/>
          <p:nvPr/>
        </p:nvSpPr>
        <p:spPr>
          <a:xfrm>
            <a:off x="566928" y="3291840"/>
            <a:ext cx="6858000" cy="274320"/>
          </a:xfrm>
          <a:prstGeom prst="rect">
            <a:avLst/>
          </a:prstGeom>
          <a:noFill/>
          <a:ln/>
        </p:spPr>
        <p:txBody>
          <a:bodyPr wrap="square" lIns="0" tIns="0" rIns="0" bIns="0" rtlCol="0" anchor="t"/>
          <a:lstStyle/>
          <a:p>
            <a:pPr indent="0" marL="0">
              <a:buNone/>
            </a:pPr>
            <a:r>
              <a:rPr lang="en-US" sz="1100" dirty="0">
                <a:solidFill>
                  <a:srgbClr val="A79C90"/>
                </a:solidFill>
                <a:latin typeface="Courier New" pitchFamily="34" charset="0"/>
                <a:ea typeface="Courier New" pitchFamily="34" charset="-122"/>
                <a:cs typeface="Courier New" pitchFamily="34" charset="-120"/>
              </a:rPr>
              <a:t>H.R. 10033, definition of “geofence notice”</a:t>
            </a:r>
            <a:endParaRPr lang="en-US" sz="1100" dirty="0"/>
          </a:p>
        </p:txBody>
      </p:sp>
      <p:sp>
        <p:nvSpPr>
          <p:cNvPr id="6" name="Text 4"/>
          <p:cNvSpPr txBox="1"/>
          <p:nvPr/>
        </p:nvSpPr>
        <p:spPr>
          <a:xfrm>
            <a:off x="566928" y="3858768"/>
            <a:ext cx="6858000" cy="1828800"/>
          </a:xfrm>
          <a:prstGeom prst="rect">
            <a:avLst/>
          </a:prstGeom>
          <a:noFill/>
          <a:ln/>
        </p:spPr>
        <p:txBody>
          <a:bodyPr wrap="square" lIns="0" tIns="0" rIns="0" bIns="0" rtlCol="0" anchor="t"/>
          <a:lstStyle/>
          <a:p>
            <a:pPr indent="0" marL="0">
              <a:lnSpc>
                <a:spcPts val="2300"/>
              </a:lnSpc>
              <a:buNone/>
            </a:pPr>
            <a:r>
              <a:rPr lang="en-US" sz="1550" dirty="0">
                <a:solidFill>
                  <a:srgbClr val="A79C90"/>
                </a:solidFill>
                <a:latin typeface="Calibri" pitchFamily="34" charset="0"/>
                <a:ea typeface="Calibri" pitchFamily="34" charset="-122"/>
                <a:cs typeface="Calibri" pitchFamily="34" charset="-120"/>
              </a:rPr>
              <a:t>That is the entire definition. It does not say what is in the message, how an operator knows it is really from you, what “avoid” requires a vehicle to do, or what happens to the vehicles already inside.</a:t>
            </a:r>
            <a:endParaRPr lang="en-US" sz="1550" dirty="0"/>
          </a:p>
          <a:p>
            <a:pPr indent="0" marL="0">
              <a:lnSpc>
                <a:spcPts val="2300"/>
              </a:lnSpc>
              <a:buNone/>
            </a:pPr>
            <a:endParaRPr lang="en-US" sz="1550" dirty="0"/>
          </a:p>
          <a:p>
            <a:pPr indent="0" marL="0">
              <a:lnSpc>
                <a:spcPts val="2300"/>
              </a:lnSpc>
              <a:buNone/>
            </a:pPr>
            <a:r>
              <a:rPr lang="en-US" sz="1550" dirty="0">
                <a:solidFill>
                  <a:srgbClr val="A79C90"/>
                </a:solidFill>
                <a:latin typeface="Calibri" pitchFamily="34" charset="0"/>
                <a:ea typeface="Calibri" pitchFamily="34" charset="-122"/>
                <a:cs typeface="Calibri" pitchFamily="34" charset="-120"/>
              </a:rPr>
              <a:t>Every one of those is a question your incident commander will have to settle on scene, once per operator, unless somebody writes it down first.</a:t>
            </a:r>
            <a:endParaRPr lang="en-US" sz="1550" dirty="0"/>
          </a:p>
        </p:txBody>
      </p:sp>
      <p:sp>
        <p:nvSpPr>
          <p:cNvPr id="7" name="Shape 5"/>
          <p:cNvSpPr/>
          <p:nvPr/>
        </p:nvSpPr>
        <p:spPr>
          <a:xfrm>
            <a:off x="7772400" y="1847088"/>
            <a:ext cx="3858768" cy="3200400"/>
          </a:xfrm>
          <a:prstGeom prst="roundRect">
            <a:avLst>
              <a:gd name="adj" fmla="val 2286"/>
            </a:avLst>
          </a:prstGeom>
          <a:solidFill>
            <a:srgbClr val="2A2622"/>
          </a:solidFill>
          <a:ln w="12700">
            <a:solidFill>
              <a:srgbClr val="3A342E"/>
            </a:solidFill>
            <a:prstDash val="solid"/>
          </a:ln>
        </p:spPr>
      </p:sp>
      <p:sp>
        <p:nvSpPr>
          <p:cNvPr id="8" name="Text 6"/>
          <p:cNvSpPr txBox="1"/>
          <p:nvPr/>
        </p:nvSpPr>
        <p:spPr>
          <a:xfrm>
            <a:off x="8046720" y="2066544"/>
            <a:ext cx="3310128" cy="310896"/>
          </a:xfrm>
          <a:prstGeom prst="rect">
            <a:avLst/>
          </a:prstGeom>
          <a:noFill/>
          <a:ln/>
        </p:spPr>
        <p:txBody>
          <a:bodyPr wrap="square" lIns="0" tIns="0" rIns="0" bIns="0" rtlCol="0" anchor="t"/>
          <a:lstStyle/>
          <a:p>
            <a:pPr indent="0" marL="0">
              <a:buNone/>
            </a:pPr>
            <a:r>
              <a:rPr lang="en-US" sz="1100" b="1" spc="140" kern="0" dirty="0">
                <a:solidFill>
                  <a:srgbClr val="C1341C"/>
                </a:solidFill>
                <a:latin typeface="Courier New" pitchFamily="34" charset="0"/>
                <a:ea typeface="Courier New" pitchFamily="34" charset="-122"/>
                <a:cs typeface="Courier New" pitchFamily="34" charset="-120"/>
              </a:rPr>
              <a:t>Without a defined message</a:t>
            </a:r>
            <a:endParaRPr lang="en-US" sz="1100" dirty="0"/>
          </a:p>
        </p:txBody>
      </p:sp>
      <p:sp>
        <p:nvSpPr>
          <p:cNvPr id="9" name="Text 7"/>
          <p:cNvSpPr txBox="1"/>
          <p:nvPr/>
        </p:nvSpPr>
        <p:spPr>
          <a:xfrm>
            <a:off x="8046720" y="2487168"/>
            <a:ext cx="3310128" cy="2377440"/>
          </a:xfrm>
          <a:prstGeom prst="rect">
            <a:avLst/>
          </a:prstGeom>
          <a:noFill/>
          <a:ln/>
        </p:spPr>
        <p:txBody>
          <a:bodyPr wrap="square" lIns="0" tIns="0" rIns="0" bIns="0" rtlCol="0" anchor="t"/>
          <a:lstStyle/>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Every operator builds its own intake form.</a:t>
            </a:r>
            <a:endParaRPr lang="en-US" sz="1350" dirty="0"/>
          </a:p>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A battalion chief negotiates separately with every company running vehicles in the city.</a:t>
            </a:r>
            <a:endParaRPr lang="en-US" sz="1350" dirty="0"/>
          </a:p>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Each arrangement has a different contact, a different form, a different idea of what “avoid” means.</a:t>
            </a:r>
            <a:endParaRPr lang="en-US" sz="1350" dirty="0"/>
          </a:p>
          <a:p>
            <a:pPr marL="342900" indent="-342900">
              <a:lnSpc>
                <a:spcPts val="1900"/>
              </a:lnSpc>
              <a:spcAft>
                <a:spcPts val="900"/>
              </a:spcAft>
              <a:buSzPct val="100000"/>
              <a:buChar char="•"/>
            </a:pPr>
            <a:r>
              <a:rPr lang="en-US" sz="1350" b="1" dirty="0">
                <a:solidFill>
                  <a:srgbClr val="F2EEE9"/>
                </a:solidFill>
                <a:latin typeface="Calibri" pitchFamily="34" charset="0"/>
                <a:ea typeface="Calibri" pitchFamily="34" charset="-122"/>
                <a:cs typeface="Calibri" pitchFamily="34" charset="-120"/>
              </a:rPr>
              <a:t>At 04:00 on a working fire, that is a phone tree.</a:t>
            </a:r>
            <a:endParaRPr lang="en-US" sz="1350" dirty="0"/>
          </a:p>
        </p:txBody>
      </p:sp>
      <p:sp>
        <p:nvSpPr>
          <p:cNvPr id="10" name="Text 8"/>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A79C90"/>
                </a:solidFill>
                <a:latin typeface="Calibri" pitchFamily="34" charset="0"/>
                <a:ea typeface="Calibri" pitchFamily="34" charset="-122"/>
                <a:cs typeface="Calibri" pitchFamily="34" charset="-120"/>
              </a:rPr>
              <a:t>The IAFC's current guidance to chiefs is to study the federal strategy and read manufacturer response guides. Useful background. Not a mechanism.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PROPOSAL</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One signed message. Five questions. Every operator.</a:t>
            </a:r>
            <a:endParaRPr lang="en-US" sz="3400" dirty="0"/>
          </a:p>
        </p:txBody>
      </p:sp>
      <p:sp>
        <p:nvSpPr>
          <p:cNvPr id="4" name="Shape 2"/>
          <p:cNvSpPr/>
          <p:nvPr/>
        </p:nvSpPr>
        <p:spPr>
          <a:xfrm>
            <a:off x="566928"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5" name="Shape 3"/>
          <p:cNvSpPr/>
          <p:nvPr/>
        </p:nvSpPr>
        <p:spPr>
          <a:xfrm>
            <a:off x="786384" y="2048256"/>
            <a:ext cx="420624" cy="420624"/>
          </a:xfrm>
          <a:prstGeom prst="ellipse">
            <a:avLst/>
          </a:prstGeom>
          <a:solidFill>
            <a:srgbClr val="DCE7EB"/>
          </a:solidFill>
          <a:ln w="12700">
            <a:solidFill>
              <a:srgbClr val="DCE7EB"/>
            </a:solidFill>
            <a:prstDash val="solid"/>
          </a:ln>
        </p:spPr>
      </p:sp>
      <p:sp>
        <p:nvSpPr>
          <p:cNvPr id="6" name="Text 4"/>
          <p:cNvSpPr txBox="1"/>
          <p:nvPr/>
        </p:nvSpPr>
        <p:spPr>
          <a:xfrm>
            <a:off x="786384"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86384"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WHEN</a:t>
            </a:r>
            <a:endParaRPr lang="en-US" sz="1100" dirty="0"/>
          </a:p>
        </p:txBody>
      </p:sp>
      <p:sp>
        <p:nvSpPr>
          <p:cNvPr id="8" name="Text 6"/>
          <p:cNvSpPr txBox="1"/>
          <p:nvPr/>
        </p:nvSpPr>
        <p:spPr>
          <a:xfrm>
            <a:off x="786384"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Start and end</a:t>
            </a:r>
            <a:endParaRPr lang="en-US" sz="1600" dirty="0"/>
          </a:p>
        </p:txBody>
      </p:sp>
      <p:sp>
        <p:nvSpPr>
          <p:cNvPr id="9" name="Text 7"/>
          <p:cNvSpPr txBox="1"/>
          <p:nvPr/>
        </p:nvSpPr>
        <p:spPr>
          <a:xfrm>
            <a:off x="786384"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Every notice carries an end time. There is no open-ended form.</a:t>
            </a:r>
            <a:endParaRPr lang="en-US" sz="1200" dirty="0"/>
          </a:p>
        </p:txBody>
      </p:sp>
      <p:sp>
        <p:nvSpPr>
          <p:cNvPr id="10" name="Shape 8"/>
          <p:cNvSpPr/>
          <p:nvPr/>
        </p:nvSpPr>
        <p:spPr>
          <a:xfrm>
            <a:off x="2818729"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1" name="Shape 9"/>
          <p:cNvSpPr/>
          <p:nvPr/>
        </p:nvSpPr>
        <p:spPr>
          <a:xfrm>
            <a:off x="3038185" y="2048256"/>
            <a:ext cx="420624" cy="420624"/>
          </a:xfrm>
          <a:prstGeom prst="ellipse">
            <a:avLst/>
          </a:prstGeom>
          <a:solidFill>
            <a:srgbClr val="DCE7EB"/>
          </a:solidFill>
          <a:ln w="12700">
            <a:solidFill>
              <a:srgbClr val="DCE7EB"/>
            </a:solidFill>
            <a:prstDash val="solid"/>
          </a:ln>
        </p:spPr>
      </p:sp>
      <p:sp>
        <p:nvSpPr>
          <p:cNvPr id="12" name="Text 10"/>
          <p:cNvSpPr txBox="1"/>
          <p:nvPr/>
        </p:nvSpPr>
        <p:spPr>
          <a:xfrm>
            <a:off x="3038185"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3038185"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WHO</a:t>
            </a:r>
            <a:endParaRPr lang="en-US" sz="1100" dirty="0"/>
          </a:p>
        </p:txBody>
      </p:sp>
      <p:sp>
        <p:nvSpPr>
          <p:cNvPr id="14" name="Text 12"/>
          <p:cNvSpPr txBox="1"/>
          <p:nvPr/>
        </p:nvSpPr>
        <p:spPr>
          <a:xfrm>
            <a:off x="3038185"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Agency and authority</a:t>
            </a:r>
            <a:endParaRPr lang="en-US" sz="1600" dirty="0"/>
          </a:p>
        </p:txBody>
      </p:sp>
      <p:sp>
        <p:nvSpPr>
          <p:cNvPr id="15" name="Text 13"/>
          <p:cNvSpPr txBox="1"/>
          <p:nvPr/>
        </p:nvSpPr>
        <p:spPr>
          <a:xfrm>
            <a:off x="3038185"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Your agency, your incident number, your callback line. Signed, so it cannot be forged.</a:t>
            </a:r>
            <a:endParaRPr lang="en-US" sz="1200" dirty="0"/>
          </a:p>
        </p:txBody>
      </p:sp>
      <p:sp>
        <p:nvSpPr>
          <p:cNvPr id="16" name="Shape 14"/>
          <p:cNvSpPr/>
          <p:nvPr/>
        </p:nvSpPr>
        <p:spPr>
          <a:xfrm>
            <a:off x="5070531"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7" name="Shape 15"/>
          <p:cNvSpPr/>
          <p:nvPr/>
        </p:nvSpPr>
        <p:spPr>
          <a:xfrm>
            <a:off x="5289987" y="2048256"/>
            <a:ext cx="420624" cy="420624"/>
          </a:xfrm>
          <a:prstGeom prst="ellipse">
            <a:avLst/>
          </a:prstGeom>
          <a:solidFill>
            <a:srgbClr val="DCE7EB"/>
          </a:solidFill>
          <a:ln w="12700">
            <a:solidFill>
              <a:srgbClr val="DCE7EB"/>
            </a:solidFill>
            <a:prstDash val="solid"/>
          </a:ln>
        </p:spPr>
      </p:sp>
      <p:sp>
        <p:nvSpPr>
          <p:cNvPr id="18" name="Text 16"/>
          <p:cNvSpPr txBox="1"/>
          <p:nvPr/>
        </p:nvSpPr>
        <p:spPr>
          <a:xfrm>
            <a:off x="5289987"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5289987"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WHY</a:t>
            </a:r>
            <a:endParaRPr lang="en-US" sz="1100" dirty="0"/>
          </a:p>
        </p:txBody>
      </p:sp>
      <p:sp>
        <p:nvSpPr>
          <p:cNvPr id="20" name="Text 18"/>
          <p:cNvSpPr txBox="1"/>
          <p:nvPr/>
        </p:nvSpPr>
        <p:spPr>
          <a:xfrm>
            <a:off x="5289987"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Reason code</a:t>
            </a:r>
            <a:endParaRPr lang="en-US" sz="1600" dirty="0"/>
          </a:p>
        </p:txBody>
      </p:sp>
      <p:sp>
        <p:nvSpPr>
          <p:cNvPr id="21" name="Text 19"/>
          <p:cNvSpPr txBox="1"/>
          <p:nvPr/>
        </p:nvSpPr>
        <p:spPr>
          <a:xfrm>
            <a:off x="5289987"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Fire, crime scene, flooding, outage, evacuation, protective movement.</a:t>
            </a:r>
            <a:endParaRPr lang="en-US" sz="1200" dirty="0"/>
          </a:p>
        </p:txBody>
      </p:sp>
      <p:sp>
        <p:nvSpPr>
          <p:cNvPr id="22" name="Shape 20"/>
          <p:cNvSpPr/>
          <p:nvPr/>
        </p:nvSpPr>
        <p:spPr>
          <a:xfrm>
            <a:off x="7322332"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3" name="Shape 21"/>
          <p:cNvSpPr/>
          <p:nvPr/>
        </p:nvSpPr>
        <p:spPr>
          <a:xfrm>
            <a:off x="7541788" y="2048256"/>
            <a:ext cx="420624" cy="420624"/>
          </a:xfrm>
          <a:prstGeom prst="ellipse">
            <a:avLst/>
          </a:prstGeom>
          <a:solidFill>
            <a:srgbClr val="DCE7EB"/>
          </a:solidFill>
          <a:ln w="12700">
            <a:solidFill>
              <a:srgbClr val="DCE7EB"/>
            </a:solidFill>
            <a:prstDash val="solid"/>
          </a:ln>
        </p:spPr>
      </p:sp>
      <p:sp>
        <p:nvSpPr>
          <p:cNvPr id="24" name="Text 22"/>
          <p:cNvSpPr txBox="1"/>
          <p:nvPr/>
        </p:nvSpPr>
        <p:spPr>
          <a:xfrm>
            <a:off x="7541788"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7541788"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WHERE</a:t>
            </a:r>
            <a:endParaRPr lang="en-US" sz="1100" dirty="0"/>
          </a:p>
        </p:txBody>
      </p:sp>
      <p:sp>
        <p:nvSpPr>
          <p:cNvPr id="26" name="Text 24"/>
          <p:cNvSpPr txBox="1"/>
          <p:nvPr/>
        </p:nvSpPr>
        <p:spPr>
          <a:xfrm>
            <a:off x="7541788"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The boundary</a:t>
            </a:r>
            <a:endParaRPr lang="en-US" sz="1600" dirty="0"/>
          </a:p>
        </p:txBody>
      </p:sp>
      <p:sp>
        <p:nvSpPr>
          <p:cNvPr id="27" name="Text 25"/>
          <p:cNvSpPr txBox="1"/>
          <p:nvPr/>
        </p:nvSpPr>
        <p:spPr>
          <a:xfrm>
            <a:off x="7541788"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A polygon, a radius, or a corridor along a street. Drawn on a map, not described in words.</a:t>
            </a:r>
            <a:endParaRPr lang="en-US" sz="1200" dirty="0"/>
          </a:p>
        </p:txBody>
      </p:sp>
      <p:sp>
        <p:nvSpPr>
          <p:cNvPr id="28" name="Shape 26"/>
          <p:cNvSpPr/>
          <p:nvPr/>
        </p:nvSpPr>
        <p:spPr>
          <a:xfrm>
            <a:off x="9574134"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9" name="Shape 27"/>
          <p:cNvSpPr/>
          <p:nvPr/>
        </p:nvSpPr>
        <p:spPr>
          <a:xfrm>
            <a:off x="9793590" y="2048256"/>
            <a:ext cx="420624" cy="420624"/>
          </a:xfrm>
          <a:prstGeom prst="ellipse">
            <a:avLst/>
          </a:prstGeom>
          <a:solidFill>
            <a:srgbClr val="DCE7EB"/>
          </a:solidFill>
          <a:ln w="12700">
            <a:solidFill>
              <a:srgbClr val="DCE7EB"/>
            </a:solidFill>
            <a:prstDash val="solid"/>
          </a:ln>
        </p:spPr>
      </p:sp>
      <p:sp>
        <p:nvSpPr>
          <p:cNvPr id="30" name="Text 28"/>
          <p:cNvSpPr txBox="1"/>
          <p:nvPr/>
        </p:nvSpPr>
        <p:spPr>
          <a:xfrm>
            <a:off x="9793590"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5</a:t>
            </a:r>
            <a:endParaRPr lang="en-US" sz="1600" dirty="0"/>
          </a:p>
        </p:txBody>
      </p:sp>
      <p:sp>
        <p:nvSpPr>
          <p:cNvPr id="31" name="Text 29"/>
          <p:cNvSpPr txBox="1"/>
          <p:nvPr/>
        </p:nvSpPr>
        <p:spPr>
          <a:xfrm>
            <a:off x="9793590"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WHAT</a:t>
            </a:r>
            <a:endParaRPr lang="en-US" sz="1100" dirty="0"/>
          </a:p>
        </p:txBody>
      </p:sp>
      <p:sp>
        <p:nvSpPr>
          <p:cNvPr id="32" name="Text 30"/>
          <p:cNvSpPr txBox="1"/>
          <p:nvPr/>
        </p:nvSpPr>
        <p:spPr>
          <a:xfrm>
            <a:off x="9793590"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Required behavior</a:t>
            </a:r>
            <a:endParaRPr lang="en-US" sz="1600" dirty="0"/>
          </a:p>
        </p:txBody>
      </p:sp>
      <p:sp>
        <p:nvSpPr>
          <p:cNvPr id="33" name="Text 31"/>
          <p:cNvSpPr txBox="1"/>
          <p:nvPr/>
        </p:nvSpPr>
        <p:spPr>
          <a:xfrm>
            <a:off x="9793590"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Which restriction applies, and what a vehicle already inside must do.</a:t>
            </a:r>
            <a:endParaRPr lang="en-US" sz="1200" dirty="0"/>
          </a:p>
        </p:txBody>
      </p:sp>
      <p:sp>
        <p:nvSpPr>
          <p:cNvPr id="34" name="Shape 32"/>
          <p:cNvSpPr/>
          <p:nvPr/>
        </p:nvSpPr>
        <p:spPr>
          <a:xfrm>
            <a:off x="566928" y="4791456"/>
            <a:ext cx="11057839" cy="914400"/>
          </a:xfrm>
          <a:prstGeom prst="roundRect">
            <a:avLst>
              <a:gd name="adj" fmla="val 6000"/>
            </a:avLst>
          </a:prstGeom>
          <a:solidFill>
            <a:srgbClr val="DCE7EB"/>
          </a:solidFill>
          <a:ln w="12700">
            <a:solidFill>
              <a:srgbClr val="C6D8DE"/>
            </a:solidFill>
            <a:prstDash val="solid"/>
          </a:ln>
        </p:spPr>
      </p:sp>
      <p:sp>
        <p:nvSpPr>
          <p:cNvPr id="35" name="Text 33"/>
          <p:cNvSpPr txBox="1"/>
          <p:nvPr/>
        </p:nvSpPr>
        <p:spPr>
          <a:xfrm>
            <a:off x="877824" y="4974336"/>
            <a:ext cx="10436047" cy="566928"/>
          </a:xfrm>
          <a:prstGeom prst="rect">
            <a:avLst/>
          </a:prstGeom>
          <a:noFill/>
          <a:ln/>
        </p:spPr>
        <p:txBody>
          <a:bodyPr wrap="square" lIns="0" tIns="0" rIns="0" bIns="0" rtlCol="0" anchor="t"/>
          <a:lstStyle/>
          <a:p>
            <a:pPr indent="0" marL="0">
              <a:lnSpc>
                <a:spcPts val="2000"/>
              </a:lnSpc>
              <a:buNone/>
            </a:pPr>
            <a:r>
              <a:rPr lang="en-US" sz="1400" dirty="0">
                <a:solidFill>
                  <a:srgbClr val="22201D"/>
                </a:solidFill>
                <a:latin typeface="Calibri" pitchFamily="34" charset="0"/>
                <a:ea typeface="Calibri" pitchFamily="34" charset="-122"/>
                <a:cs typeface="Calibri" pitchFamily="34" charset="-120"/>
              </a:rPr>
              <a:t>The same notice travels two ways: straight to operators over a direct connection, or through IPAWS as a CAP message, using the alerting tool your emergency manager already has.</a:t>
            </a:r>
            <a:endParaRPr lang="en-US" sz="1400" dirty="0"/>
          </a:p>
        </p:txBody>
      </p:sp>
      <p:sp>
        <p:nvSpPr>
          <p:cNvPr id="36" name="Text 34"/>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DESIGN DECISION 1 OF 4</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The restriction is graduated, not a switch</a:t>
            </a:r>
            <a:endParaRPr lang="en-US" sz="3400" dirty="0"/>
          </a:p>
        </p:txBody>
      </p:sp>
      <p:sp>
        <p:nvSpPr>
          <p:cNvPr id="4" name="Text 2"/>
          <p:cNvSpPr txBox="1"/>
          <p:nvPr/>
        </p:nvSpPr>
        <p:spPr>
          <a:xfrm>
            <a:off x="566928" y="1700784"/>
            <a:ext cx="4224528"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HOW MUCH STREET IT TAKES</a:t>
            </a:r>
            <a:endParaRPr lang="en-US" sz="950" dirty="0"/>
          </a:p>
        </p:txBody>
      </p:sp>
      <p:sp>
        <p:nvSpPr>
          <p:cNvPr id="5" name="Text 3"/>
          <p:cNvSpPr txBox="1"/>
          <p:nvPr/>
        </p:nvSpPr>
        <p:spPr>
          <a:xfrm>
            <a:off x="5138928" y="1700784"/>
            <a:ext cx="3200400"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WHAT THE VEHICLE MUST DO</a:t>
            </a:r>
            <a:endParaRPr lang="en-US" sz="950" dirty="0"/>
          </a:p>
        </p:txBody>
      </p:sp>
      <p:sp>
        <p:nvSpPr>
          <p:cNvPr id="6" name="Text 4"/>
          <p:cNvSpPr txBox="1"/>
          <p:nvPr/>
        </p:nvSpPr>
        <p:spPr>
          <a:xfrm>
            <a:off x="8540496" y="1700784"/>
            <a:ext cx="3108960"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TYPICAL USE</a:t>
            </a:r>
            <a:endParaRPr lang="en-US" sz="950" dirty="0"/>
          </a:p>
        </p:txBody>
      </p:sp>
      <p:sp>
        <p:nvSpPr>
          <p:cNvPr id="7" name="Shape 5"/>
          <p:cNvSpPr/>
          <p:nvPr/>
        </p:nvSpPr>
        <p:spPr>
          <a:xfrm>
            <a:off x="566928" y="2048256"/>
            <a:ext cx="4224528" cy="457200"/>
          </a:xfrm>
          <a:prstGeom prst="roundRect">
            <a:avLst>
              <a:gd name="adj" fmla="val 10000"/>
            </a:avLst>
          </a:prstGeom>
          <a:solidFill>
            <a:srgbClr val="C1341C"/>
          </a:solidFill>
          <a:ln w="12700">
            <a:solidFill>
              <a:srgbClr val="C1341C"/>
            </a:solidFill>
            <a:prstDash val="solid"/>
          </a:ln>
        </p:spPr>
      </p:sp>
      <p:sp>
        <p:nvSpPr>
          <p:cNvPr id="8" name="Text 6"/>
          <p:cNvSpPr txBox="1"/>
          <p:nvPr/>
        </p:nvSpPr>
        <p:spPr>
          <a:xfrm>
            <a:off x="749808" y="2157984"/>
            <a:ext cx="3931920"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PROHIBITED</a:t>
            </a:r>
            <a:endParaRPr lang="en-US" sz="1100" dirty="0"/>
          </a:p>
        </p:txBody>
      </p:sp>
      <p:sp>
        <p:nvSpPr>
          <p:cNvPr id="9" name="Text 7"/>
          <p:cNvSpPr txBox="1"/>
          <p:nvPr/>
        </p:nvSpPr>
        <p:spPr>
          <a:xfrm>
            <a:off x="5138928" y="2157984"/>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Do not enter, do not route through</a:t>
            </a:r>
            <a:endParaRPr lang="en-US" sz="1300" dirty="0"/>
          </a:p>
        </p:txBody>
      </p:sp>
      <p:sp>
        <p:nvSpPr>
          <p:cNvPr id="10" name="Text 8"/>
          <p:cNvSpPr txBox="1"/>
          <p:nvPr/>
        </p:nvSpPr>
        <p:spPr>
          <a:xfrm>
            <a:off x="8540496" y="2167128"/>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Fire ground, active threat, collapse, flood water</a:t>
            </a:r>
            <a:endParaRPr lang="en-US" sz="1150" dirty="0"/>
          </a:p>
        </p:txBody>
      </p:sp>
      <p:sp>
        <p:nvSpPr>
          <p:cNvPr id="11" name="Shape 9"/>
          <p:cNvSpPr/>
          <p:nvPr/>
        </p:nvSpPr>
        <p:spPr>
          <a:xfrm>
            <a:off x="566928" y="2615184"/>
            <a:ext cx="3621024" cy="457200"/>
          </a:xfrm>
          <a:prstGeom prst="roundRect">
            <a:avLst>
              <a:gd name="adj" fmla="val 10000"/>
            </a:avLst>
          </a:prstGeom>
          <a:solidFill>
            <a:srgbClr val="CD6A3E"/>
          </a:solidFill>
          <a:ln w="12700">
            <a:solidFill>
              <a:srgbClr val="CD6A3E"/>
            </a:solidFill>
            <a:prstDash val="solid"/>
          </a:ln>
        </p:spPr>
      </p:sp>
      <p:sp>
        <p:nvSpPr>
          <p:cNvPr id="12" name="Text 10"/>
          <p:cNvSpPr txBox="1"/>
          <p:nvPr/>
        </p:nvSpPr>
        <p:spPr>
          <a:xfrm>
            <a:off x="749808" y="2724912"/>
            <a:ext cx="3328416"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AVOID</a:t>
            </a:r>
            <a:endParaRPr lang="en-US" sz="1100" dirty="0"/>
          </a:p>
        </p:txBody>
      </p:sp>
      <p:sp>
        <p:nvSpPr>
          <p:cNvPr id="13" name="Text 11"/>
          <p:cNvSpPr txBox="1"/>
          <p:nvPr/>
        </p:nvSpPr>
        <p:spPr>
          <a:xfrm>
            <a:off x="5138928" y="2724912"/>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Enter only if there is no alternative</a:t>
            </a:r>
            <a:endParaRPr lang="en-US" sz="1300" dirty="0"/>
          </a:p>
        </p:txBody>
      </p:sp>
      <p:sp>
        <p:nvSpPr>
          <p:cNvPr id="14" name="Text 12"/>
          <p:cNvSpPr txBox="1"/>
          <p:nvPr/>
        </p:nvSpPr>
        <p:spPr>
          <a:xfrm>
            <a:off x="8540496" y="2734056"/>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Congested perimeter, weather, utility work</a:t>
            </a:r>
            <a:endParaRPr lang="en-US" sz="1150" dirty="0"/>
          </a:p>
        </p:txBody>
      </p:sp>
      <p:sp>
        <p:nvSpPr>
          <p:cNvPr id="15" name="Shape 13"/>
          <p:cNvSpPr/>
          <p:nvPr/>
        </p:nvSpPr>
        <p:spPr>
          <a:xfrm>
            <a:off x="566928" y="3182112"/>
            <a:ext cx="3017520" cy="457200"/>
          </a:xfrm>
          <a:prstGeom prst="roundRect">
            <a:avLst>
              <a:gd name="adj" fmla="val 10000"/>
            </a:avLst>
          </a:prstGeom>
          <a:solidFill>
            <a:srgbClr val="C08A34"/>
          </a:solidFill>
          <a:ln w="12700">
            <a:solidFill>
              <a:srgbClr val="C08A34"/>
            </a:solidFill>
            <a:prstDash val="solid"/>
          </a:ln>
        </p:spPr>
      </p:sp>
      <p:sp>
        <p:nvSpPr>
          <p:cNvPr id="16" name="Text 14"/>
          <p:cNvSpPr txBox="1"/>
          <p:nvPr/>
        </p:nvSpPr>
        <p:spPr>
          <a:xfrm>
            <a:off x="749808" y="3291840"/>
            <a:ext cx="2724912"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DRIVERLESS</a:t>
            </a:r>
            <a:endParaRPr lang="en-US" sz="1100" dirty="0"/>
          </a:p>
        </p:txBody>
      </p:sp>
      <p:sp>
        <p:nvSpPr>
          <p:cNvPr id="17" name="Text 15"/>
          <p:cNvSpPr txBox="1"/>
          <p:nvPr/>
        </p:nvSpPr>
        <p:spPr>
          <a:xfrm>
            <a:off x="5138928" y="3291840"/>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Safety operator aboard, or stay out</a:t>
            </a:r>
            <a:endParaRPr lang="en-US" sz="1300" dirty="0"/>
          </a:p>
        </p:txBody>
      </p:sp>
      <p:sp>
        <p:nvSpPr>
          <p:cNvPr id="18" name="Text 16"/>
          <p:cNvSpPr txBox="1"/>
          <p:nvPr/>
        </p:nvSpPr>
        <p:spPr>
          <a:xfrm>
            <a:off x="8540496" y="3300984"/>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Signals dark, officers directing traffic</a:t>
            </a:r>
            <a:endParaRPr lang="en-US" sz="1150" dirty="0"/>
          </a:p>
        </p:txBody>
      </p:sp>
      <p:sp>
        <p:nvSpPr>
          <p:cNvPr id="19" name="Shape 17"/>
          <p:cNvSpPr/>
          <p:nvPr/>
        </p:nvSpPr>
        <p:spPr>
          <a:xfrm>
            <a:off x="566928" y="3749040"/>
            <a:ext cx="2414016" cy="457200"/>
          </a:xfrm>
          <a:prstGeom prst="roundRect">
            <a:avLst>
              <a:gd name="adj" fmla="val 10000"/>
            </a:avLst>
          </a:prstGeom>
          <a:solidFill>
            <a:srgbClr val="9A8A48"/>
          </a:solidFill>
          <a:ln w="12700">
            <a:solidFill>
              <a:srgbClr val="9A8A48"/>
            </a:solidFill>
            <a:prstDash val="solid"/>
          </a:ln>
        </p:spPr>
      </p:sp>
      <p:sp>
        <p:nvSpPr>
          <p:cNvPr id="20" name="Text 18"/>
          <p:cNvSpPr txBox="1"/>
          <p:nvPr/>
        </p:nvSpPr>
        <p:spPr>
          <a:xfrm>
            <a:off x="749808" y="3858768"/>
            <a:ext cx="2121408"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STOP</a:t>
            </a:r>
            <a:endParaRPr lang="en-US" sz="1100" dirty="0"/>
          </a:p>
        </p:txBody>
      </p:sp>
      <p:sp>
        <p:nvSpPr>
          <p:cNvPr id="21" name="Text 19"/>
          <p:cNvSpPr txBox="1"/>
          <p:nvPr/>
        </p:nvSpPr>
        <p:spPr>
          <a:xfrm>
            <a:off x="5138928" y="3858768"/>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Drive through, do not stop or wait</a:t>
            </a:r>
            <a:endParaRPr lang="en-US" sz="1300" dirty="0"/>
          </a:p>
        </p:txBody>
      </p:sp>
      <p:sp>
        <p:nvSpPr>
          <p:cNvPr id="22" name="Text 20"/>
          <p:cNvSpPr txBox="1"/>
          <p:nvPr/>
        </p:nvSpPr>
        <p:spPr>
          <a:xfrm>
            <a:off x="8540496" y="3867912"/>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Parade staging, motorcade, narrow work zone</a:t>
            </a:r>
            <a:endParaRPr lang="en-US" sz="1150" dirty="0"/>
          </a:p>
        </p:txBody>
      </p:sp>
      <p:sp>
        <p:nvSpPr>
          <p:cNvPr id="23" name="Shape 21"/>
          <p:cNvSpPr/>
          <p:nvPr/>
        </p:nvSpPr>
        <p:spPr>
          <a:xfrm>
            <a:off x="566928" y="4315968"/>
            <a:ext cx="1810512" cy="457200"/>
          </a:xfrm>
          <a:prstGeom prst="roundRect">
            <a:avLst>
              <a:gd name="adj" fmla="val 10000"/>
            </a:avLst>
          </a:prstGeom>
          <a:solidFill>
            <a:srgbClr val="5C7C60"/>
          </a:solidFill>
          <a:ln w="12700">
            <a:solidFill>
              <a:srgbClr val="5C7C60"/>
            </a:solidFill>
            <a:prstDash val="solid"/>
          </a:ln>
        </p:spPr>
      </p:sp>
      <p:sp>
        <p:nvSpPr>
          <p:cNvPr id="24" name="Text 22"/>
          <p:cNvSpPr txBox="1"/>
          <p:nvPr/>
        </p:nvSpPr>
        <p:spPr>
          <a:xfrm>
            <a:off x="749808" y="4425696"/>
            <a:ext cx="1517904"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SPEED LIMITED</a:t>
            </a:r>
            <a:endParaRPr lang="en-US" sz="1100" dirty="0"/>
          </a:p>
        </p:txBody>
      </p:sp>
      <p:sp>
        <p:nvSpPr>
          <p:cNvPr id="25" name="Text 23"/>
          <p:cNvSpPr txBox="1"/>
          <p:nvPr/>
        </p:nvSpPr>
        <p:spPr>
          <a:xfrm>
            <a:off x="5138928" y="4425696"/>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Reduced speed through the area</a:t>
            </a:r>
            <a:endParaRPr lang="en-US" sz="1300" dirty="0"/>
          </a:p>
        </p:txBody>
      </p:sp>
      <p:sp>
        <p:nvSpPr>
          <p:cNvPr id="26" name="Text 24"/>
          <p:cNvSpPr txBox="1"/>
          <p:nvPr/>
        </p:nvSpPr>
        <p:spPr>
          <a:xfrm>
            <a:off x="8540496" y="4434840"/>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Debris field, degraded pavement</a:t>
            </a:r>
            <a:endParaRPr lang="en-US" sz="1150" dirty="0"/>
          </a:p>
        </p:txBody>
      </p:sp>
      <p:sp>
        <p:nvSpPr>
          <p:cNvPr id="27" name="Shape 25"/>
          <p:cNvSpPr/>
          <p:nvPr/>
        </p:nvSpPr>
        <p:spPr>
          <a:xfrm>
            <a:off x="566928" y="4882896"/>
            <a:ext cx="1481328" cy="457200"/>
          </a:xfrm>
          <a:prstGeom prst="roundRect">
            <a:avLst>
              <a:gd name="adj" fmla="val 10000"/>
            </a:avLst>
          </a:prstGeom>
          <a:solidFill>
            <a:srgbClr val="2E6E85"/>
          </a:solidFill>
          <a:ln w="12700">
            <a:solidFill>
              <a:srgbClr val="2E6E85"/>
            </a:solidFill>
            <a:prstDash val="solid"/>
          </a:ln>
        </p:spPr>
      </p:sp>
      <p:sp>
        <p:nvSpPr>
          <p:cNvPr id="28" name="Text 26"/>
          <p:cNvSpPr txBox="1"/>
          <p:nvPr/>
        </p:nvSpPr>
        <p:spPr>
          <a:xfrm>
            <a:off x="749808" y="4992624"/>
            <a:ext cx="1188720"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PICKUPS</a:t>
            </a:r>
            <a:endParaRPr lang="en-US" sz="1100" dirty="0"/>
          </a:p>
        </p:txBody>
      </p:sp>
      <p:sp>
        <p:nvSpPr>
          <p:cNvPr id="29" name="Text 27"/>
          <p:cNvSpPr txBox="1"/>
          <p:nvPr/>
        </p:nvSpPr>
        <p:spPr>
          <a:xfrm>
            <a:off x="5138928" y="4992624"/>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No passenger pickup or drop-off</a:t>
            </a:r>
            <a:endParaRPr lang="en-US" sz="1300" dirty="0"/>
          </a:p>
        </p:txBody>
      </p:sp>
      <p:sp>
        <p:nvSpPr>
          <p:cNvPr id="30" name="Text 28"/>
          <p:cNvSpPr txBox="1"/>
          <p:nvPr/>
        </p:nvSpPr>
        <p:spPr>
          <a:xfrm>
            <a:off x="8540496" y="5001768"/>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Event egress, temporary curb conflict</a:t>
            </a:r>
            <a:endParaRPr lang="en-US" sz="1150" dirty="0"/>
          </a:p>
        </p:txBody>
      </p:sp>
      <p:sp>
        <p:nvSpPr>
          <p:cNvPr id="31" name="Text 29"/>
          <p:cNvSpPr txBox="1"/>
          <p:nvPr/>
        </p:nvSpPr>
        <p:spPr>
          <a:xfrm>
            <a:off x="566928" y="5687568"/>
            <a:ext cx="11057839" cy="658368"/>
          </a:xfrm>
          <a:prstGeom prst="rect">
            <a:avLst/>
          </a:prstGeom>
          <a:noFill/>
          <a:ln/>
        </p:spPr>
        <p:txBody>
          <a:bodyPr wrap="square" lIns="0" tIns="0" rIns="0" bIns="0" rtlCol="0" anchor="t"/>
          <a:lstStyle/>
          <a:p>
            <a:pPr indent="0" marL="0">
              <a:lnSpc>
                <a:spcPts val="2000"/>
              </a:lnSpc>
              <a:buNone/>
            </a:pPr>
            <a:r>
              <a:rPr lang="en-US" sz="1400" dirty="0">
                <a:solidFill>
                  <a:srgbClr val="22201D"/>
                </a:solidFill>
                <a:latin typeface="Calibri" pitchFamily="34" charset="0"/>
                <a:ea typeface="Calibri" pitchFamily="34" charset="-122"/>
                <a:cs typeface="Calibri" pitchFamily="34" charset="-120"/>
              </a:rPr>
              <a:t>Closing more street than the incident needs is not free. It pushes traffic onto residential blocks and strands riders who depend on the service. The format makes it easy to close exactly what you need, and no more.</a:t>
            </a:r>
            <a:endParaRPr lang="en-US" sz="1400" dirty="0"/>
          </a:p>
        </p:txBody>
      </p:sp>
      <p:sp>
        <p:nvSpPr>
          <p:cNvPr id="32" name="Text 30"/>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DESIGN DECISIONS 2, 3 AND 4</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The three rules that protect your people</a:t>
            </a:r>
            <a:endParaRPr lang="en-US" sz="3400" dirty="0"/>
          </a:p>
        </p:txBody>
      </p:sp>
      <p:sp>
        <p:nvSpPr>
          <p:cNvPr id="4" name="Shape 2"/>
          <p:cNvSpPr/>
          <p:nvPr/>
        </p:nvSpPr>
        <p:spPr>
          <a:xfrm>
            <a:off x="566928" y="1828800"/>
            <a:ext cx="3515258" cy="3401568"/>
          </a:xfrm>
          <a:prstGeom prst="roundRect">
            <a:avLst>
              <a:gd name="adj" fmla="val 2151"/>
            </a:avLst>
          </a:prstGeom>
          <a:solidFill>
            <a:srgbClr val="2A2622"/>
          </a:solidFill>
          <a:ln w="12700">
            <a:solidFill>
              <a:srgbClr val="3A342E"/>
            </a:solidFill>
            <a:prstDash val="solid"/>
          </a:ln>
        </p:spPr>
      </p:sp>
      <p:sp>
        <p:nvSpPr>
          <p:cNvPr id="5" name="Text 3"/>
          <p:cNvSpPr txBox="1"/>
          <p:nvPr/>
        </p:nvSpPr>
        <p:spPr>
          <a:xfrm>
            <a:off x="841248"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EXIT, NEVER FREEZE</a:t>
            </a:r>
            <a:endParaRPr lang="en-US" sz="1100" dirty="0"/>
          </a:p>
        </p:txBody>
      </p:sp>
      <p:sp>
        <p:nvSpPr>
          <p:cNvPr id="6" name="Text 4"/>
          <p:cNvSpPr txBox="1"/>
          <p:nvPr/>
        </p:nvSpPr>
        <p:spPr>
          <a:xfrm>
            <a:off x="841248"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Vehicles drive out, they do not stop where they stand</a:t>
            </a:r>
            <a:endParaRPr lang="en-US" sz="1900" dirty="0"/>
          </a:p>
        </p:txBody>
      </p:sp>
      <p:sp>
        <p:nvSpPr>
          <p:cNvPr id="7" name="Text 5"/>
          <p:cNvSpPr txBox="1"/>
          <p:nvPr/>
        </p:nvSpPr>
        <p:spPr>
          <a:xfrm>
            <a:off x="841248"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The default instruction to a vehicle caught inside a new zone is to leave by the shortest lawful path without stopping. A vehicle that halts the instant a geofence turns on is a vehicle abandoned in a fire lane, which is the exact behavior NHTSA cited.</a:t>
            </a:r>
            <a:endParaRPr lang="en-US" sz="1300" dirty="0"/>
          </a:p>
        </p:txBody>
      </p:sp>
      <p:sp>
        <p:nvSpPr>
          <p:cNvPr id="8" name="Shape 6"/>
          <p:cNvSpPr/>
          <p:nvPr/>
        </p:nvSpPr>
        <p:spPr>
          <a:xfrm>
            <a:off x="4338218" y="1828800"/>
            <a:ext cx="3515258" cy="3401568"/>
          </a:xfrm>
          <a:prstGeom prst="roundRect">
            <a:avLst>
              <a:gd name="adj" fmla="val 2151"/>
            </a:avLst>
          </a:prstGeom>
          <a:solidFill>
            <a:srgbClr val="2A2622"/>
          </a:solidFill>
          <a:ln w="12700">
            <a:solidFill>
              <a:srgbClr val="3A342E"/>
            </a:solidFill>
            <a:prstDash val="solid"/>
          </a:ln>
        </p:spPr>
      </p:sp>
      <p:sp>
        <p:nvSpPr>
          <p:cNvPr id="9" name="Text 7"/>
          <p:cNvSpPr txBox="1"/>
          <p:nvPr/>
        </p:nvSpPr>
        <p:spPr>
          <a:xfrm>
            <a:off x="4612538"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EVERY NOTICE EXPIRES</a:t>
            </a:r>
            <a:endParaRPr lang="en-US" sz="1100" dirty="0"/>
          </a:p>
        </p:txBody>
      </p:sp>
      <p:sp>
        <p:nvSpPr>
          <p:cNvPr id="10" name="Text 8"/>
          <p:cNvSpPr txBox="1"/>
          <p:nvPr/>
        </p:nvSpPr>
        <p:spPr>
          <a:xfrm>
            <a:off x="4612538"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The restriction lifts on its own</a:t>
            </a:r>
            <a:endParaRPr lang="en-US" sz="1900" dirty="0"/>
          </a:p>
        </p:txBody>
      </p:sp>
      <p:sp>
        <p:nvSpPr>
          <p:cNvPr id="11" name="Text 9"/>
          <p:cNvSpPr txBox="1"/>
          <p:nvPr/>
        </p:nvSpPr>
        <p:spPr>
          <a:xfrm>
            <a:off x="4612538"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There is no open-ended form. A stuck geofence fails silently: nothing alarms, service just quietly stops being available in a neighborhood. Extending takes one click. Forgetting cannot happen.</a:t>
            </a:r>
            <a:endParaRPr lang="en-US" sz="1300" dirty="0"/>
          </a:p>
        </p:txBody>
      </p:sp>
      <p:sp>
        <p:nvSpPr>
          <p:cNvPr id="12" name="Shape 10"/>
          <p:cNvSpPr/>
          <p:nvPr/>
        </p:nvSpPr>
        <p:spPr>
          <a:xfrm>
            <a:off x="8109509" y="1828800"/>
            <a:ext cx="3515258" cy="3401568"/>
          </a:xfrm>
          <a:prstGeom prst="roundRect">
            <a:avLst>
              <a:gd name="adj" fmla="val 2151"/>
            </a:avLst>
          </a:prstGeom>
          <a:solidFill>
            <a:srgbClr val="2A2622"/>
          </a:solidFill>
          <a:ln w="12700">
            <a:solidFill>
              <a:srgbClr val="3A342E"/>
            </a:solidFill>
            <a:prstDash val="solid"/>
          </a:ln>
        </p:spPr>
      </p:sp>
      <p:sp>
        <p:nvSpPr>
          <p:cNvPr id="13" name="Text 11"/>
          <p:cNvSpPr txBox="1"/>
          <p:nvPr/>
        </p:nvSpPr>
        <p:spPr>
          <a:xfrm>
            <a:off x="8383829"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SAFETY OUTRANKS THE NOTICE</a:t>
            </a:r>
            <a:endParaRPr lang="en-US" sz="1100" dirty="0"/>
          </a:p>
        </p:txBody>
      </p:sp>
      <p:sp>
        <p:nvSpPr>
          <p:cNvPr id="14" name="Text 12"/>
          <p:cNvSpPr txBox="1"/>
          <p:nvPr/>
        </p:nvSpPr>
        <p:spPr>
          <a:xfrm>
            <a:off x="8383829"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It is a routing constraint, not a kill switch</a:t>
            </a:r>
            <a:endParaRPr lang="en-US" sz="1900" dirty="0"/>
          </a:p>
        </p:txBody>
      </p:sp>
      <p:sp>
        <p:nvSpPr>
          <p:cNvPr id="15" name="Text 13"/>
          <p:cNvSpPr txBox="1"/>
          <p:nvPr/>
        </p:nvSpPr>
        <p:spPr>
          <a:xfrm>
            <a:off x="8383829"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No notice can make a vehicle brake in a travel lane, reverse, make an illegal turn, or ignore an officer directing traffic. Your people on scene outrank the message. Nobody should ever sell this as remote control.</a:t>
            </a:r>
            <a:endParaRPr lang="en-US" sz="1300" dirty="0"/>
          </a:p>
        </p:txBody>
      </p:sp>
      <p:sp>
        <p:nvSpPr>
          <p:cNvPr id="16" name="Text 14"/>
          <p:cNvSpPr txBox="1"/>
          <p:nvPr/>
        </p:nvSpPr>
        <p:spPr>
          <a:xfrm>
            <a:off x="566928" y="5504688"/>
            <a:ext cx="11057839" cy="457200"/>
          </a:xfrm>
          <a:prstGeom prst="rect">
            <a:avLst/>
          </a:prstGeom>
          <a:noFill/>
          <a:ln/>
        </p:spPr>
        <p:txBody>
          <a:bodyPr wrap="square" lIns="0" tIns="0" rIns="0" bIns="0" rtlCol="0" anchor="t"/>
          <a:lstStyle/>
          <a:p>
            <a:pPr indent="0" marL="0">
              <a:buNone/>
            </a:pPr>
            <a:r>
              <a:rPr lang="en-US" sz="1400" i="1" dirty="0">
                <a:solidFill>
                  <a:srgbClr val="A79C90"/>
                </a:solidFill>
                <a:latin typeface="Calibri" pitchFamily="34" charset="0"/>
                <a:ea typeface="Calibri" pitchFamily="34" charset="-122"/>
                <a:cs typeface="Calibri" pitchFamily="34" charset="-120"/>
              </a:rPr>
              <a:t>Together with graduated restriction, these are the four decisions that make the format safe to hand to an incident commander at 04:00.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IN PRACTICE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A dispatcher draws the zone and issues it in under a minute</a:t>
            </a:r>
            <a:endParaRPr lang="en-US" sz="3400" dirty="0"/>
          </a:p>
        </p:txBody>
      </p:sp>
      <p:pic>
        <p:nvPicPr>
          <p:cNvPr id="4" name="Image 0" descr="/home/claude/gfn/brief/console-map.png">    </p:cNvPr>
          <p:cNvPicPr>
            <a:picLocks noChangeAspect="1"/>
          </p:cNvPicPr>
          <p:nvPr/>
        </p:nvPicPr>
        <p:blipFill>
          <a:blip r:embed="rId1"/>
          <a:srcRect l="0" r="0" t="0" b="0"/>
          <a:stretch/>
        </p:blipFill>
        <p:spPr>
          <a:xfrm>
            <a:off x="566928" y="1773936"/>
            <a:ext cx="7360920" cy="4041648"/>
          </a:xfrm>
          <a:prstGeom prst="rect">
            <a:avLst/>
          </a:prstGeom>
        </p:spPr>
      </p:pic>
      <p:sp>
        <p:nvSpPr>
          <p:cNvPr id="5" name="Text 2"/>
          <p:cNvSpPr txBox="1"/>
          <p:nvPr/>
        </p:nvSpPr>
        <p:spPr>
          <a:xfrm>
            <a:off x="8211312" y="1847088"/>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0:00</a:t>
            </a:r>
            <a:endParaRPr lang="en-US" sz="1200" dirty="0"/>
          </a:p>
        </p:txBody>
      </p:sp>
      <p:sp>
        <p:nvSpPr>
          <p:cNvPr id="6" name="Text 3"/>
          <p:cNvSpPr txBox="1"/>
          <p:nvPr/>
        </p:nvSpPr>
        <p:spPr>
          <a:xfrm>
            <a:off x="9162288" y="1828800"/>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Draw the zone on the map. The console will not let you issue one that breaks a duration or area limit.</a:t>
            </a:r>
            <a:endParaRPr lang="en-US" sz="1200" dirty="0"/>
          </a:p>
        </p:txBody>
      </p:sp>
      <p:sp>
        <p:nvSpPr>
          <p:cNvPr id="7" name="Text 4"/>
          <p:cNvSpPr txBox="1"/>
          <p:nvPr/>
        </p:nvSpPr>
        <p:spPr>
          <a:xfrm>
            <a:off x="8211312" y="2651760"/>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0:15</a:t>
            </a:r>
            <a:endParaRPr lang="en-US" sz="1200" dirty="0"/>
          </a:p>
        </p:txBody>
      </p:sp>
      <p:sp>
        <p:nvSpPr>
          <p:cNvPr id="8" name="Text 5"/>
          <p:cNvSpPr txBox="1"/>
          <p:nvPr/>
        </p:nvSpPr>
        <p:spPr>
          <a:xfrm>
            <a:off x="9162288" y="2633472"/>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Every operator acknowledges, and reports how many of their vehicles are inside.</a:t>
            </a:r>
            <a:endParaRPr lang="en-US" sz="1200" dirty="0"/>
          </a:p>
        </p:txBody>
      </p:sp>
      <p:sp>
        <p:nvSpPr>
          <p:cNvPr id="9" name="Text 6"/>
          <p:cNvSpPr txBox="1"/>
          <p:nvPr/>
        </p:nvSpPr>
        <p:spPr>
          <a:xfrm>
            <a:off x="8211312" y="3456432"/>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0:30</a:t>
            </a:r>
            <a:endParaRPr lang="en-US" sz="1200" dirty="0"/>
          </a:p>
        </p:txBody>
      </p:sp>
      <p:sp>
        <p:nvSpPr>
          <p:cNvPr id="10" name="Text 7"/>
          <p:cNvSpPr txBox="1"/>
          <p:nvPr/>
        </p:nvSpPr>
        <p:spPr>
          <a:xfrm>
            <a:off x="9162288" y="3438144"/>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Routing is updated. No new vehicles enter.</a:t>
            </a:r>
            <a:endParaRPr lang="en-US" sz="1200" dirty="0"/>
          </a:p>
        </p:txBody>
      </p:sp>
      <p:sp>
        <p:nvSpPr>
          <p:cNvPr id="11" name="Text 8"/>
          <p:cNvSpPr txBox="1"/>
          <p:nvPr/>
        </p:nvSpPr>
        <p:spPr>
          <a:xfrm>
            <a:off x="8211312" y="4261104"/>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5:00</a:t>
            </a:r>
            <a:endParaRPr lang="en-US" sz="1200" dirty="0"/>
          </a:p>
        </p:txBody>
      </p:sp>
      <p:sp>
        <p:nvSpPr>
          <p:cNvPr id="12" name="Text 9"/>
          <p:cNvSpPr txBox="1"/>
          <p:nvPr/>
        </p:nvSpPr>
        <p:spPr>
          <a:xfrm>
            <a:off x="9162288" y="4242816"/>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Vehicles already inside are out. Any that cannot move are reported by exception on the hotline.</a:t>
            </a:r>
            <a:endParaRPr lang="en-US" sz="1200" dirty="0"/>
          </a:p>
        </p:txBody>
      </p:sp>
      <p:sp>
        <p:nvSpPr>
          <p:cNvPr id="13" name="Text 10"/>
          <p:cNvSpPr txBox="1"/>
          <p:nvPr/>
        </p:nvSpPr>
        <p:spPr>
          <a:xfrm>
            <a:off x="8211312" y="5065776"/>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4:00:00</a:t>
            </a:r>
            <a:endParaRPr lang="en-US" sz="1200" dirty="0"/>
          </a:p>
        </p:txBody>
      </p:sp>
      <p:sp>
        <p:nvSpPr>
          <p:cNvPr id="14" name="Text 11"/>
          <p:cNvSpPr txBox="1"/>
          <p:nvPr/>
        </p:nvSpPr>
        <p:spPr>
          <a:xfrm>
            <a:off x="9162288" y="5047488"/>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The restriction expires by itself unless the incident commander extends it.</a:t>
            </a:r>
            <a:endParaRPr lang="en-US" sz="1200" dirty="0"/>
          </a:p>
        </p:txBody>
      </p:sp>
      <p:sp>
        <p:nvSpPr>
          <p:cNvPr id="15" name="Text 12"/>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6B625A"/>
                </a:solidFill>
                <a:latin typeface="Calibri" pitchFamily="34" charset="0"/>
                <a:ea typeface="Calibri" pitchFamily="34" charset="-122"/>
                <a:cs typeface="Calibri" pitchFamily="34" charset="-120"/>
              </a:rPr>
              <a:t>Working demonstration console. The fleet, the acknowledgements and the signature are simulated; the notice it produces is real and validates against the specification.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ADOPTION</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Four things a department needs</a:t>
            </a:r>
            <a:endParaRPr lang="en-US" sz="3400" dirty="0"/>
          </a:p>
        </p:txBody>
      </p:sp>
      <p:sp>
        <p:nvSpPr>
          <p:cNvPr id="4" name="Shape 2"/>
          <p:cNvSpPr/>
          <p:nvPr/>
        </p:nvSpPr>
        <p:spPr>
          <a:xfrm>
            <a:off x="566928" y="1810512"/>
            <a:ext cx="2586152" cy="3163824"/>
          </a:xfrm>
          <a:prstGeom prst="roundRect">
            <a:avLst>
              <a:gd name="adj" fmla="val 2475"/>
            </a:avLst>
          </a:prstGeom>
          <a:solidFill>
            <a:srgbClr val="FFFFFF"/>
          </a:solidFill>
          <a:ln w="25400">
            <a:solidFill>
              <a:srgbClr val="C1341C"/>
            </a:solidFill>
            <a:prstDash val="solid"/>
          </a:ln>
          <a:effectLst>
            <a:outerShdw sx="100000" sy="100000" kx="0" ky="0" algn="bl" rotWithShape="0" blurRad="88900" dist="12700" dir="5400000">
              <a:srgbClr val="9A9088">
                <a:alpha val="15000"/>
              </a:srgbClr>
            </a:outerShdw>
          </a:effectLst>
        </p:spPr>
      </p:sp>
      <p:sp>
        <p:nvSpPr>
          <p:cNvPr id="5" name="Shape 3"/>
          <p:cNvSpPr/>
          <p:nvPr/>
        </p:nvSpPr>
        <p:spPr>
          <a:xfrm>
            <a:off x="822960" y="2048256"/>
            <a:ext cx="457200" cy="457200"/>
          </a:xfrm>
          <a:prstGeom prst="ellipse">
            <a:avLst/>
          </a:prstGeom>
          <a:solidFill>
            <a:srgbClr val="C1341C"/>
          </a:solidFill>
          <a:ln w="12700">
            <a:solidFill>
              <a:srgbClr val="C1341C"/>
            </a:solidFill>
            <a:prstDash val="solid"/>
          </a:ln>
        </p:spPr>
      </p:sp>
      <p:sp>
        <p:nvSpPr>
          <p:cNvPr id="6" name="Text 4"/>
          <p:cNvSpPr txBox="1"/>
          <p:nvPr/>
        </p:nvSpPr>
        <p:spPr>
          <a:xfrm>
            <a:off x="822960"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822960"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A credential</a:t>
            </a:r>
            <a:endParaRPr lang="en-US" sz="1800" dirty="0"/>
          </a:p>
        </p:txBody>
      </p:sp>
      <p:sp>
        <p:nvSpPr>
          <p:cNvPr id="8" name="Text 6"/>
          <p:cNvSpPr txBox="1"/>
          <p:nvPr/>
        </p:nvSpPr>
        <p:spPr>
          <a:xfrm>
            <a:off x="822960"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 signing certificate, so a notice from your agency is provably yours and a forged one is not. Who runs that registry is the hardest unsolved question in the draft.</a:t>
            </a:r>
            <a:endParaRPr lang="en-US" sz="1250" dirty="0"/>
          </a:p>
        </p:txBody>
      </p:sp>
      <p:sp>
        <p:nvSpPr>
          <p:cNvPr id="9" name="Shape 7"/>
          <p:cNvSpPr/>
          <p:nvPr/>
        </p:nvSpPr>
        <p:spPr>
          <a:xfrm>
            <a:off x="3390824"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0" name="Shape 8"/>
          <p:cNvSpPr/>
          <p:nvPr/>
        </p:nvSpPr>
        <p:spPr>
          <a:xfrm>
            <a:off x="3646856" y="2048256"/>
            <a:ext cx="457200" cy="457200"/>
          </a:xfrm>
          <a:prstGeom prst="ellipse">
            <a:avLst/>
          </a:prstGeom>
          <a:solidFill>
            <a:srgbClr val="2E6E85"/>
          </a:solidFill>
          <a:ln w="12700">
            <a:solidFill>
              <a:srgbClr val="2E6E85"/>
            </a:solidFill>
            <a:prstDash val="solid"/>
          </a:ln>
        </p:spPr>
      </p:sp>
      <p:sp>
        <p:nvSpPr>
          <p:cNvPr id="11" name="Text 9"/>
          <p:cNvSpPr txBox="1"/>
          <p:nvPr/>
        </p:nvSpPr>
        <p:spPr>
          <a:xfrm>
            <a:off x="3646856"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3646856"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An authorized issuer</a:t>
            </a:r>
            <a:endParaRPr lang="en-US" sz="1800" dirty="0"/>
          </a:p>
        </p:txBody>
      </p:sp>
      <p:sp>
        <p:nvSpPr>
          <p:cNvPr id="13" name="Text 11"/>
          <p:cNvSpPr txBox="1"/>
          <p:nvPr/>
        </p:nvSpPr>
        <p:spPr>
          <a:xfrm>
            <a:off x="3646856"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Incident commander, watch commander or dispatch supervisor, per your policy. The format assumes an incident number and a staffed callback line. You already have both.</a:t>
            </a:r>
            <a:endParaRPr lang="en-US" sz="1250" dirty="0"/>
          </a:p>
        </p:txBody>
      </p:sp>
      <p:sp>
        <p:nvSpPr>
          <p:cNvPr id="14" name="Shape 12"/>
          <p:cNvSpPr/>
          <p:nvPr/>
        </p:nvSpPr>
        <p:spPr>
          <a:xfrm>
            <a:off x="6214720"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5" name="Shape 13"/>
          <p:cNvSpPr/>
          <p:nvPr/>
        </p:nvSpPr>
        <p:spPr>
          <a:xfrm>
            <a:off x="6470752" y="2048256"/>
            <a:ext cx="457200" cy="457200"/>
          </a:xfrm>
          <a:prstGeom prst="ellipse">
            <a:avLst/>
          </a:prstGeom>
          <a:solidFill>
            <a:srgbClr val="2E6E85"/>
          </a:solidFill>
          <a:ln w="12700">
            <a:solidFill>
              <a:srgbClr val="2E6E85"/>
            </a:solidFill>
            <a:prstDash val="solid"/>
          </a:ln>
        </p:spPr>
      </p:sp>
      <p:sp>
        <p:nvSpPr>
          <p:cNvPr id="16" name="Text 14"/>
          <p:cNvSpPr txBox="1"/>
          <p:nvPr/>
        </p:nvSpPr>
        <p:spPr>
          <a:xfrm>
            <a:off x="6470752"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6470752"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A way to draw the zone</a:t>
            </a:r>
            <a:endParaRPr lang="en-US" sz="1800" dirty="0"/>
          </a:p>
        </p:txBody>
      </p:sp>
      <p:sp>
        <p:nvSpPr>
          <p:cNvPr id="18" name="Text 16"/>
          <p:cNvSpPr txBox="1"/>
          <p:nvPr/>
        </p:nvSpPr>
        <p:spPr>
          <a:xfrm>
            <a:off x="6470752"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 CAD integration, or the standalone console. Nothing to install and no network dependency beyond reaching the operators.</a:t>
            </a:r>
            <a:endParaRPr lang="en-US" sz="1250" dirty="0"/>
          </a:p>
        </p:txBody>
      </p:sp>
      <p:sp>
        <p:nvSpPr>
          <p:cNvPr id="19" name="Shape 17"/>
          <p:cNvSpPr/>
          <p:nvPr/>
        </p:nvSpPr>
        <p:spPr>
          <a:xfrm>
            <a:off x="9038615"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0" name="Shape 18"/>
          <p:cNvSpPr/>
          <p:nvPr/>
        </p:nvSpPr>
        <p:spPr>
          <a:xfrm>
            <a:off x="9294647" y="2048256"/>
            <a:ext cx="457200" cy="457200"/>
          </a:xfrm>
          <a:prstGeom prst="ellipse">
            <a:avLst/>
          </a:prstGeom>
          <a:solidFill>
            <a:srgbClr val="2E6E85"/>
          </a:solidFill>
          <a:ln w="12700">
            <a:solidFill>
              <a:srgbClr val="2E6E85"/>
            </a:solidFill>
            <a:prstDash val="solid"/>
          </a:ln>
        </p:spPr>
      </p:sp>
      <p:sp>
        <p:nvSpPr>
          <p:cNvPr id="21" name="Text 19"/>
          <p:cNvSpPr txBox="1"/>
          <p:nvPr/>
        </p:nvSpPr>
        <p:spPr>
          <a:xfrm>
            <a:off x="9294647"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9294647"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Standing policy on levels</a:t>
            </a:r>
            <a:endParaRPr lang="en-US" sz="1800" dirty="0"/>
          </a:p>
        </p:txBody>
      </p:sp>
      <p:sp>
        <p:nvSpPr>
          <p:cNvPr id="23" name="Text 21"/>
          <p:cNvSpPr txBox="1"/>
          <p:nvPr/>
        </p:nvSpPr>
        <p:spPr>
          <a:xfrm>
            <a:off x="9294647"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The format supplies the vocabulary. Deciding that a working structure fire gets PROHIBITED and a fender bender gets AVOID is a local command decision, made before the incident.</a:t>
            </a:r>
            <a:endParaRPr lang="en-US" sz="1250" dirty="0"/>
          </a:p>
        </p:txBody>
      </p:sp>
      <p:sp>
        <p:nvSpPr>
          <p:cNvPr id="24" name="Shape 22"/>
          <p:cNvSpPr/>
          <p:nvPr/>
        </p:nvSpPr>
        <p:spPr>
          <a:xfrm>
            <a:off x="566928" y="5193792"/>
            <a:ext cx="11057839" cy="822960"/>
          </a:xfrm>
          <a:prstGeom prst="roundRect">
            <a:avLst>
              <a:gd name="adj" fmla="val 6667"/>
            </a:avLst>
          </a:prstGeom>
          <a:solidFill>
            <a:srgbClr val="F0DCD6"/>
          </a:solidFill>
          <a:ln w="12700">
            <a:solidFill>
              <a:srgbClr val="E2C4BB"/>
            </a:solidFill>
            <a:prstDash val="solid"/>
          </a:ln>
        </p:spPr>
      </p:sp>
      <p:sp>
        <p:nvSpPr>
          <p:cNvPr id="25" name="Text 23"/>
          <p:cNvSpPr txBox="1"/>
          <p:nvPr/>
        </p:nvSpPr>
        <p:spPr>
          <a:xfrm>
            <a:off x="877824" y="5358384"/>
            <a:ext cx="10436047" cy="512064"/>
          </a:xfrm>
          <a:prstGeom prst="rect">
            <a:avLst/>
          </a:prstGeom>
          <a:noFill/>
          <a:ln/>
        </p:spPr>
        <p:txBody>
          <a:bodyPr wrap="square" lIns="0" tIns="0" rIns="0" bIns="0" rtlCol="0" anchor="t"/>
          <a:lstStyle/>
          <a:p>
            <a:pPr indent="0" marL="0">
              <a:lnSpc>
                <a:spcPts val="2000"/>
              </a:lnSpc>
              <a:buNone/>
            </a:pPr>
            <a:r>
              <a:rPr lang="en-US" sz="1450" b="1" dirty="0">
                <a:solidFill>
                  <a:srgbClr val="22201D"/>
                </a:solidFill>
                <a:latin typeface="Calibri" pitchFamily="34" charset="0"/>
                <a:ea typeface="Calibri" pitchFamily="34" charset="-122"/>
                <a:cs typeface="Calibri" pitchFamily="34" charset="-120"/>
              </a:rPr>
              <a:t>Item 1 is not solved. </a:t>
            </a:r>
            <a:pPr indent="0" marL="0">
              <a:lnSpc>
                <a:spcPts val="2000"/>
              </a:lnSpc>
              <a:buNone/>
            </a:pPr>
            <a:r>
              <a:rPr lang="en-US" sz="1450" dirty="0">
                <a:solidFill>
                  <a:srgbClr val="22201D"/>
                </a:solidFill>
                <a:latin typeface="Calibri" pitchFamily="34" charset="0"/>
                <a:ea typeface="Calibri" pitchFamily="34" charset="-122"/>
                <a:cs typeface="Calibri" pitchFamily="34" charset="-120"/>
              </a:rPr>
              <a:t>If the fire service does not say who should issue these credentials, and how a twelve-person rural department gets one, that decision will be made without you.</a:t>
            </a:r>
            <a:endParaRPr lang="en-US" sz="1450" dirty="0"/>
          </a:p>
        </p:txBody>
      </p:sp>
      <p:sp>
        <p:nvSpPr>
          <p:cNvPr id="26" name="Text 24"/>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HONESTY SLIDE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Where this draft is tighter than the bill would allow</a:t>
            </a:r>
            <a:endParaRPr lang="en-US" sz="3400" dirty="0"/>
          </a:p>
        </p:txBody>
      </p:sp>
      <p:sp>
        <p:nvSpPr>
          <p:cNvPr id="4" name="Text 2"/>
          <p:cNvSpPr txBox="1"/>
          <p:nvPr/>
        </p:nvSpPr>
        <p:spPr>
          <a:xfrm>
            <a:off x="4224528" y="1847088"/>
            <a:ext cx="3310128" cy="274320"/>
          </a:xfrm>
          <a:prstGeom prst="rect">
            <a:avLst/>
          </a:prstGeom>
          <a:noFill/>
          <a:ln/>
        </p:spPr>
        <p:txBody>
          <a:bodyPr wrap="square" lIns="0" tIns="0" rIns="0" bIns="0" rtlCol="0" anchor="t"/>
          <a:lstStyle/>
          <a:p>
            <a:pPr indent="0" marL="0">
              <a:buNone/>
            </a:pPr>
            <a:r>
              <a:rPr lang="en-US" sz="1100" b="1" spc="130" kern="0" dirty="0">
                <a:solidFill>
                  <a:srgbClr val="2E6E85"/>
                </a:solidFill>
                <a:latin typeface="Courier New" pitchFamily="34" charset="0"/>
                <a:ea typeface="Courier New" pitchFamily="34" charset="-122"/>
                <a:cs typeface="Courier New" pitchFamily="34" charset="-120"/>
              </a:rPr>
              <a:t>H.R. 10033 would permit</a:t>
            </a:r>
            <a:endParaRPr lang="en-US" sz="1100" dirty="0"/>
          </a:p>
        </p:txBody>
      </p:sp>
      <p:sp>
        <p:nvSpPr>
          <p:cNvPr id="5" name="Text 3"/>
          <p:cNvSpPr txBox="1"/>
          <p:nvPr/>
        </p:nvSpPr>
        <p:spPr>
          <a:xfrm>
            <a:off x="8119872" y="1847088"/>
            <a:ext cx="3392424"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This draft sets</a:t>
            </a:r>
            <a:endParaRPr lang="en-US" sz="1100" dirty="0"/>
          </a:p>
        </p:txBody>
      </p:sp>
      <p:sp>
        <p:nvSpPr>
          <p:cNvPr id="6" name="Shape 4"/>
          <p:cNvSpPr/>
          <p:nvPr/>
        </p:nvSpPr>
        <p:spPr>
          <a:xfrm>
            <a:off x="566928" y="2231136"/>
            <a:ext cx="11057839" cy="969264"/>
          </a:xfrm>
          <a:prstGeom prst="roundRect">
            <a:avLst>
              <a:gd name="adj" fmla="val 4717"/>
            </a:avLst>
          </a:prstGeom>
          <a:solidFill>
            <a:srgbClr val="EDE9E4"/>
          </a:solidFill>
          <a:ln w="12700">
            <a:solidFill>
              <a:srgbClr val="EDE9E4"/>
            </a:solidFill>
            <a:prstDash val="solid"/>
          </a:ln>
        </p:spPr>
      </p:sp>
      <p:sp>
        <p:nvSpPr>
          <p:cNvPr id="7" name="Text 5"/>
          <p:cNvSpPr txBox="1"/>
          <p:nvPr/>
        </p:nvSpPr>
        <p:spPr>
          <a:xfrm>
            <a:off x="786384" y="2414016"/>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Maximum duration</a:t>
            </a:r>
            <a:endParaRPr lang="en-US" sz="1600" dirty="0"/>
          </a:p>
        </p:txBody>
      </p:sp>
      <p:sp>
        <p:nvSpPr>
          <p:cNvPr id="8" name="Text 6"/>
          <p:cNvSpPr txBox="1"/>
          <p:nvPr/>
        </p:nvSpPr>
        <p:spPr>
          <a:xfrm>
            <a:off x="4224528" y="2414016"/>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Up to 72 hours</a:t>
            </a:r>
            <a:endParaRPr lang="en-US" sz="1350" dirty="0"/>
          </a:p>
        </p:txBody>
      </p:sp>
      <p:sp>
        <p:nvSpPr>
          <p:cNvPr id="9" name="Text 7"/>
          <p:cNvSpPr txBox="1"/>
          <p:nvPr/>
        </p:nvSpPr>
        <p:spPr>
          <a:xfrm>
            <a:off x="8119872" y="2414016"/>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4 hours for a fire or police incident, 24 hours cumulative. 72 hours only for planned infrastructure work.</a:t>
            </a:r>
            <a:endParaRPr lang="en-US" sz="1350" dirty="0"/>
          </a:p>
        </p:txBody>
      </p:sp>
      <p:sp>
        <p:nvSpPr>
          <p:cNvPr id="10" name="Text 8"/>
          <p:cNvSpPr txBox="1"/>
          <p:nvPr/>
        </p:nvSpPr>
        <p:spPr>
          <a:xfrm>
            <a:off x="786384" y="3456432"/>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Compliance timing</a:t>
            </a:r>
            <a:endParaRPr lang="en-US" sz="1600" dirty="0"/>
          </a:p>
        </p:txBody>
      </p:sp>
      <p:sp>
        <p:nvSpPr>
          <p:cNvPr id="11" name="Text 9"/>
          <p:cNvSpPr txBox="1"/>
          <p:nvPr/>
        </p:nvSpPr>
        <p:spPr>
          <a:xfrm>
            <a:off x="4224528" y="3456432"/>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Within 2 minutes</a:t>
            </a:r>
            <a:endParaRPr lang="en-US" sz="1350" dirty="0"/>
          </a:p>
        </p:txBody>
      </p:sp>
      <p:sp>
        <p:nvSpPr>
          <p:cNvPr id="12" name="Text 10"/>
          <p:cNvSpPr txBox="1"/>
          <p:nvPr/>
        </p:nvSpPr>
        <p:spPr>
          <a:xfrm>
            <a:off x="8119872" y="3456432"/>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Acknowledge in 15 seconds, routing updated in 30 seconds, vehicles clear of the zone in 5 minutes.</a:t>
            </a:r>
            <a:endParaRPr lang="en-US" sz="1350" dirty="0"/>
          </a:p>
        </p:txBody>
      </p:sp>
      <p:sp>
        <p:nvSpPr>
          <p:cNvPr id="13" name="Shape 11"/>
          <p:cNvSpPr/>
          <p:nvPr/>
        </p:nvSpPr>
        <p:spPr>
          <a:xfrm>
            <a:off x="566928" y="4315968"/>
            <a:ext cx="11057839" cy="969264"/>
          </a:xfrm>
          <a:prstGeom prst="roundRect">
            <a:avLst>
              <a:gd name="adj" fmla="val 4717"/>
            </a:avLst>
          </a:prstGeom>
          <a:solidFill>
            <a:srgbClr val="EDE9E4"/>
          </a:solidFill>
          <a:ln w="12700">
            <a:solidFill>
              <a:srgbClr val="EDE9E4"/>
            </a:solidFill>
            <a:prstDash val="solid"/>
          </a:ln>
        </p:spPr>
      </p:sp>
      <p:sp>
        <p:nvSpPr>
          <p:cNvPr id="14" name="Text 12"/>
          <p:cNvSpPr txBox="1"/>
          <p:nvPr/>
        </p:nvSpPr>
        <p:spPr>
          <a:xfrm>
            <a:off x="786384" y="4498848"/>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Who may issue</a:t>
            </a:r>
            <a:endParaRPr lang="en-US" sz="1600" dirty="0"/>
          </a:p>
        </p:txBody>
      </p:sp>
      <p:sp>
        <p:nvSpPr>
          <p:cNvPr id="15" name="Text 13"/>
          <p:cNvSpPr txBox="1"/>
          <p:nvPr/>
        </p:nvSpPr>
        <p:spPr>
          <a:xfrm>
            <a:off x="4224528" y="4498848"/>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Any first responder or government agency</a:t>
            </a:r>
            <a:endParaRPr lang="en-US" sz="1350" dirty="0"/>
          </a:p>
        </p:txBody>
      </p:sp>
      <p:sp>
        <p:nvSpPr>
          <p:cNvPr id="16" name="Text 14"/>
          <p:cNvSpPr txBox="1"/>
          <p:nvPr/>
        </p:nvSpPr>
        <p:spPr>
          <a:xfrm>
            <a:off x="8119872" y="4498848"/>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Tiered by agency type, with duration and area ceilings that scale with the authority.</a:t>
            </a:r>
            <a:endParaRPr lang="en-US" sz="1350" dirty="0"/>
          </a:p>
        </p:txBody>
      </p:sp>
      <p:sp>
        <p:nvSpPr>
          <p:cNvPr id="17" name="Text 15"/>
          <p:cNvSpPr txBox="1"/>
          <p:nvPr/>
        </p:nvSpPr>
        <p:spPr>
          <a:xfrm>
            <a:off x="566928" y="5468112"/>
            <a:ext cx="7589520" cy="822960"/>
          </a:xfrm>
          <a:prstGeom prst="rect">
            <a:avLst/>
          </a:prstGeom>
          <a:noFill/>
          <a:ln/>
        </p:spPr>
        <p:txBody>
          <a:bodyPr wrap="square" lIns="0" tIns="0" rIns="0" bIns="0" rtlCol="0" anchor="t"/>
          <a:lstStyle/>
          <a:p>
            <a:pPr indent="0" marL="0">
              <a:lnSpc>
                <a:spcPts val="2000"/>
              </a:lnSpc>
              <a:buNone/>
            </a:pPr>
            <a:r>
              <a:rPr lang="en-US" sz="1400" b="1" dirty="0">
                <a:solidFill>
                  <a:srgbClr val="22201D"/>
                </a:solidFill>
                <a:latin typeface="Calibri" pitchFamily="34" charset="0"/>
                <a:ea typeface="Calibri" pitchFamily="34" charset="-122"/>
                <a:cs typeface="Calibri" pitchFamily="34" charset="-120"/>
              </a:rPr>
              <a:t>A four-hour ceiling is not a limit on your authority. </a:t>
            </a:r>
            <a:pPr indent="0" marL="0">
              <a:lnSpc>
                <a:spcPts val="2000"/>
              </a:lnSpc>
              <a:buNone/>
            </a:pPr>
            <a:r>
              <a:rPr lang="en-US" sz="1400" dirty="0">
                <a:solidFill>
                  <a:srgbClr val="22201D"/>
                </a:solidFill>
                <a:latin typeface="Calibri" pitchFamily="34" charset="0"/>
                <a:ea typeface="Calibri" pitchFamily="34" charset="-122"/>
                <a:cs typeface="Calibri" pitchFamily="34" charset="-120"/>
              </a:rPr>
              <a:t>It is a forcing function that makes someone look at the zone again while the incident is still live. Extending is one click. Forgetting is the failure the ceiling prevents.</a:t>
            </a:r>
            <a:endParaRPr lang="en-US" sz="1400" dirty="0"/>
          </a:p>
        </p:txBody>
      </p:sp>
      <p:sp>
        <p:nvSpPr>
          <p:cNvPr id="18" name="Shape 16"/>
          <p:cNvSpPr/>
          <p:nvPr/>
        </p:nvSpPr>
        <p:spPr>
          <a:xfrm>
            <a:off x="8321040" y="5394960"/>
            <a:ext cx="3310128" cy="914400"/>
          </a:xfrm>
          <a:prstGeom prst="roundRect">
            <a:avLst>
              <a:gd name="adj" fmla="val 6000"/>
            </a:avLst>
          </a:prstGeom>
          <a:solidFill>
            <a:srgbClr val="F0DCD6"/>
          </a:solidFill>
          <a:ln w="12700">
            <a:solidFill>
              <a:srgbClr val="E2C4BB"/>
            </a:solidFill>
            <a:prstDash val="solid"/>
          </a:ln>
        </p:spPr>
      </p:sp>
      <p:sp>
        <p:nvSpPr>
          <p:cNvPr id="19" name="Text 17"/>
          <p:cNvSpPr txBox="1"/>
          <p:nvPr/>
        </p:nvSpPr>
        <p:spPr>
          <a:xfrm>
            <a:off x="8540496" y="5541264"/>
            <a:ext cx="2871216" cy="640080"/>
          </a:xfrm>
          <a:prstGeom prst="rect">
            <a:avLst/>
          </a:prstGeom>
          <a:noFill/>
          <a:ln/>
        </p:spPr>
        <p:txBody>
          <a:bodyPr wrap="square" lIns="0" tIns="0" rIns="0" bIns="0" rtlCol="0" anchor="t"/>
          <a:lstStyle/>
          <a:p>
            <a:pPr indent="0" marL="0">
              <a:lnSpc>
                <a:spcPts val="1700"/>
              </a:lnSpc>
              <a:buNone/>
            </a:pPr>
            <a:r>
              <a:rPr lang="en-US" sz="1250" dirty="0">
                <a:solidFill>
                  <a:srgbClr val="22201D"/>
                </a:solidFill>
                <a:latin typeface="Calibri" pitchFamily="34" charset="0"/>
                <a:ea typeface="Calibri" pitchFamily="34" charset="-122"/>
                <a:cs typeface="Calibri" pitchFamily="34" charset="-120"/>
              </a:rPr>
              <a:t>Compliance timing is the one place this draft may need to move toward the bill.</a:t>
            </a:r>
            <a:endParaRPr lang="en-US" sz="1250" dirty="0"/>
          </a:p>
        </p:txBody>
      </p:sp>
      <p:sp>
        <p:nvSpPr>
          <p:cNvPr id="20" name="Text 18"/>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SCOPE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What this is, and what it is not</a:t>
            </a:r>
            <a:endParaRPr lang="en-US" sz="3400" dirty="0"/>
          </a:p>
        </p:txBody>
      </p:sp>
      <p:sp>
        <p:nvSpPr>
          <p:cNvPr id="4" name="Shape 2"/>
          <p:cNvSpPr/>
          <p:nvPr/>
        </p:nvSpPr>
        <p:spPr>
          <a:xfrm>
            <a:off x="566928" y="1883664"/>
            <a:ext cx="5440680" cy="3200400"/>
          </a:xfrm>
          <a:prstGeom prst="roundRect">
            <a:avLst>
              <a:gd name="adj" fmla="val 2286"/>
            </a:avLst>
          </a:prstGeom>
          <a:solidFill>
            <a:srgbClr val="2A2622"/>
          </a:solidFill>
          <a:ln w="25400">
            <a:solidFill>
              <a:srgbClr val="44724A"/>
            </a:solidFill>
            <a:prstDash val="solid"/>
          </a:ln>
        </p:spPr>
      </p:sp>
      <p:sp>
        <p:nvSpPr>
          <p:cNvPr id="5" name="Text 3"/>
          <p:cNvSpPr txBox="1"/>
          <p:nvPr/>
        </p:nvSpPr>
        <p:spPr>
          <a:xfrm>
            <a:off x="877824" y="2139696"/>
            <a:ext cx="4818888" cy="292608"/>
          </a:xfrm>
          <a:prstGeom prst="rect">
            <a:avLst/>
          </a:prstGeom>
          <a:noFill/>
          <a:ln/>
        </p:spPr>
        <p:txBody>
          <a:bodyPr wrap="square" lIns="0" tIns="0" rIns="0" bIns="0" rtlCol="0" anchor="t"/>
          <a:lstStyle/>
          <a:p>
            <a:pPr indent="0" marL="0">
              <a:buNone/>
            </a:pPr>
            <a:r>
              <a:rPr lang="en-US" sz="1200" b="1" spc="160" kern="0" dirty="0">
                <a:solidFill>
                  <a:srgbClr val="44724A"/>
                </a:solidFill>
                <a:latin typeface="Courier New" pitchFamily="34" charset="0"/>
                <a:ea typeface="Courier New" pitchFamily="34" charset="-122"/>
                <a:cs typeface="Courier New" pitchFamily="34" charset="-120"/>
              </a:rPr>
              <a:t>IT IS</a:t>
            </a:r>
            <a:endParaRPr lang="en-US" sz="1200" dirty="0"/>
          </a:p>
        </p:txBody>
      </p:sp>
      <p:sp>
        <p:nvSpPr>
          <p:cNvPr id="6" name="Text 4"/>
          <p:cNvSpPr txBox="1"/>
          <p:nvPr/>
        </p:nvSpPr>
        <p:spPr>
          <a:xfrm>
            <a:off x="877824" y="2560320"/>
            <a:ext cx="4818888" cy="22860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 draft technical specification, complete enough to implement.</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The message format, the rules, a working console, and a validator.</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Through one adversarial security and safety review, which found eighteen significant defects. All are fixed and covered by regression tests.</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Open for comment, and expected to change.</a:t>
            </a:r>
            <a:endParaRPr lang="en-US" sz="1400" dirty="0"/>
          </a:p>
        </p:txBody>
      </p:sp>
      <p:sp>
        <p:nvSpPr>
          <p:cNvPr id="7" name="Shape 5"/>
          <p:cNvSpPr/>
          <p:nvPr/>
        </p:nvSpPr>
        <p:spPr>
          <a:xfrm>
            <a:off x="6190488" y="1883664"/>
            <a:ext cx="5440680" cy="3200400"/>
          </a:xfrm>
          <a:prstGeom prst="roundRect">
            <a:avLst>
              <a:gd name="adj" fmla="val 2286"/>
            </a:avLst>
          </a:prstGeom>
          <a:solidFill>
            <a:srgbClr val="2A2622"/>
          </a:solidFill>
          <a:ln w="25400">
            <a:solidFill>
              <a:srgbClr val="C1341C"/>
            </a:solidFill>
            <a:prstDash val="solid"/>
          </a:ln>
        </p:spPr>
      </p:sp>
      <p:sp>
        <p:nvSpPr>
          <p:cNvPr id="8" name="Text 6"/>
          <p:cNvSpPr txBox="1"/>
          <p:nvPr/>
        </p:nvSpPr>
        <p:spPr>
          <a:xfrm>
            <a:off x="6501384" y="2139696"/>
            <a:ext cx="4818888" cy="292608"/>
          </a:xfrm>
          <a:prstGeom prst="rect">
            <a:avLst/>
          </a:prstGeom>
          <a:noFill/>
          <a:ln/>
        </p:spPr>
        <p:txBody>
          <a:bodyPr wrap="square" lIns="0" tIns="0" rIns="0" bIns="0" rtlCol="0" anchor="t"/>
          <a:lstStyle/>
          <a:p>
            <a:pPr indent="0" marL="0">
              <a:buNone/>
            </a:pPr>
            <a:r>
              <a:rPr lang="en-US" sz="1200" b="1" spc="160" kern="0" dirty="0">
                <a:solidFill>
                  <a:srgbClr val="C1341C"/>
                </a:solidFill>
                <a:latin typeface="Courier New" pitchFamily="34" charset="0"/>
                <a:ea typeface="Courier New" pitchFamily="34" charset="-122"/>
                <a:cs typeface="Courier New" pitchFamily="34" charset="-120"/>
              </a:rPr>
              <a:t>IT IS NOT</a:t>
            </a:r>
            <a:endParaRPr lang="en-US" sz="1200" dirty="0"/>
          </a:p>
        </p:txBody>
      </p:sp>
      <p:sp>
        <p:nvSpPr>
          <p:cNvPr id="9" name="Text 7"/>
          <p:cNvSpPr txBox="1"/>
          <p:nvPr/>
        </p:nvSpPr>
        <p:spPr>
          <a:xfrm>
            <a:off x="6501384" y="2560320"/>
            <a:ext cx="4818888" cy="22860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An adopted standard. No standards body has taken it up.</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 product. There is nothing to buy and nothing to install.</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Agreed by anyone. No AV operator has committed to accept these notices.</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Remote control. It cannot stop, steer or disable a vehicle, by design.</a:t>
            </a:r>
            <a:endParaRPr lang="en-US" sz="1400" dirty="0"/>
          </a:p>
        </p:txBody>
      </p:sp>
      <p:sp>
        <p:nvSpPr>
          <p:cNvPr id="10" name="Text 8"/>
          <p:cNvSpPr txBox="1"/>
          <p:nvPr/>
        </p:nvSpPr>
        <p:spPr>
          <a:xfrm>
            <a:off x="566928" y="5413248"/>
            <a:ext cx="11057839" cy="457200"/>
          </a:xfrm>
          <a:prstGeom prst="rect">
            <a:avLst/>
          </a:prstGeom>
          <a:noFill/>
          <a:ln/>
        </p:spPr>
        <p:txBody>
          <a:bodyPr wrap="square" lIns="0" tIns="0" rIns="0" bIns="0" rtlCol="0" anchor="t"/>
          <a:lstStyle/>
          <a:p>
            <a:pPr indent="0" marL="0">
              <a:buNone/>
            </a:pPr>
            <a:r>
              <a:rPr lang="en-US" sz="1700" i="1" dirty="0">
                <a:solidFill>
                  <a:srgbClr val="A79C90"/>
                </a:solidFill>
                <a:latin typeface="Cambria" pitchFamily="34" charset="0"/>
                <a:ea typeface="Cambria" pitchFamily="34" charset="-122"/>
                <a:cs typeface="Cambria" pitchFamily="34" charset="-120"/>
              </a:rPr>
              <a:t>The credential registry, which everything else depends on, does not exist yet.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74320"/>
          </a:xfrm>
          <a:prstGeom prst="rect">
            <a:avLst/>
          </a:prstGeom>
          <a:noFill/>
          <a:ln/>
        </p:spPr>
        <p:txBody>
          <a:bodyPr wrap="square" lIns="0" tIns="0" rIns="0" bIns="0" rtlCol="0" anchor="t"/>
          <a:lstStyle/>
          <a:p>
            <a:pPr indent="0" marL="0">
              <a:buNone/>
            </a:pPr>
            <a:r>
              <a:rPr lang="en-US" sz="1200" b="1" spc="220" kern="0" dirty="0">
                <a:solidFill>
                  <a:srgbClr val="C1341C"/>
                </a:solidFill>
                <a:latin typeface="Courier New" pitchFamily="34" charset="0"/>
                <a:ea typeface="Courier New" pitchFamily="34" charset="-122"/>
                <a:cs typeface="Courier New" pitchFamily="34" charset="-120"/>
              </a:rPr>
              <a:t>THE ASK</a:t>
            </a:r>
            <a:endParaRPr lang="en-US" sz="1200" dirty="0"/>
          </a:p>
        </p:txBody>
      </p:sp>
      <p:sp>
        <p:nvSpPr>
          <p:cNvPr id="3" name="Text 1"/>
          <p:cNvSpPr txBox="1"/>
          <p:nvPr/>
        </p:nvSpPr>
        <p:spPr>
          <a:xfrm>
            <a:off x="566928" y="713232"/>
            <a:ext cx="11057839" cy="640080"/>
          </a:xfrm>
          <a:prstGeom prst="rect">
            <a:avLst/>
          </a:prstGeom>
          <a:noFill/>
          <a:ln/>
        </p:spPr>
        <p:txBody>
          <a:bodyPr wrap="square" lIns="0" tIns="0" rIns="0" bIns="0" rtlCol="0" anchor="t"/>
          <a:lstStyle/>
          <a:p>
            <a:pPr indent="0" marL="0">
              <a:buNone/>
            </a:pPr>
            <a:r>
              <a:rPr lang="en-US" sz="3600" b="1" dirty="0">
                <a:solidFill>
                  <a:srgbClr val="F2EEE9"/>
                </a:solidFill>
                <a:latin typeface="Cambria" pitchFamily="34" charset="0"/>
                <a:ea typeface="Cambria" pitchFamily="34" charset="-122"/>
                <a:cs typeface="Cambria" pitchFamily="34" charset="-120"/>
              </a:rPr>
              <a:t>Four things, none of which cost money</a:t>
            </a:r>
            <a:endParaRPr lang="en-US" sz="3600" dirty="0"/>
          </a:p>
        </p:txBody>
      </p:sp>
      <p:sp>
        <p:nvSpPr>
          <p:cNvPr id="4" name="Text 2"/>
          <p:cNvSpPr txBox="1"/>
          <p:nvPr/>
        </p:nvSpPr>
        <p:spPr>
          <a:xfrm>
            <a:off x="566928" y="1810512"/>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01</a:t>
            </a:r>
            <a:endParaRPr lang="en-US" sz="1700" dirty="0"/>
          </a:p>
        </p:txBody>
      </p:sp>
      <p:sp>
        <p:nvSpPr>
          <p:cNvPr id="5" name="Text 3"/>
          <p:cNvSpPr txBox="1"/>
          <p:nvPr/>
        </p:nvSpPr>
        <p:spPr>
          <a:xfrm>
            <a:off x="1463040" y="1773936"/>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Read it and push back</a:t>
            </a:r>
            <a:endParaRPr lang="en-US" sz="2000" dirty="0"/>
          </a:p>
        </p:txBody>
      </p:sp>
      <p:sp>
        <p:nvSpPr>
          <p:cNvPr id="6" name="Text 4"/>
          <p:cNvSpPr txBox="1"/>
          <p:nvPr/>
        </p:nvSpPr>
        <p:spPr>
          <a:xfrm>
            <a:off x="5230368" y="1792224"/>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Particularly the duration and area ceilings. Those numbers were set by reasoning about failure modes, not by anyone who has run a fire ground.</a:t>
            </a:r>
            <a:endParaRPr lang="en-US" sz="1350" dirty="0"/>
          </a:p>
        </p:txBody>
      </p:sp>
      <p:sp>
        <p:nvSpPr>
          <p:cNvPr id="7" name="Text 5"/>
          <p:cNvSpPr txBox="1"/>
          <p:nvPr/>
        </p:nvSpPr>
        <p:spPr>
          <a:xfrm>
            <a:off x="566928" y="2779776"/>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02</a:t>
            </a:r>
            <a:endParaRPr lang="en-US" sz="1700" dirty="0"/>
          </a:p>
        </p:txBody>
      </p:sp>
      <p:sp>
        <p:nvSpPr>
          <p:cNvPr id="8" name="Text 6"/>
          <p:cNvSpPr txBox="1"/>
          <p:nvPr/>
        </p:nvSpPr>
        <p:spPr>
          <a:xfrm>
            <a:off x="1463040" y="2743200"/>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Run a tabletop</a:t>
            </a:r>
            <a:endParaRPr lang="en-US" sz="2000" dirty="0"/>
          </a:p>
        </p:txBody>
      </p:sp>
      <p:sp>
        <p:nvSpPr>
          <p:cNvPr id="9" name="Text 7"/>
          <p:cNvSpPr txBox="1"/>
          <p:nvPr/>
        </p:nvSpPr>
        <p:spPr>
          <a:xfrm>
            <a:off x="5230368" y="2761488"/>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Take a real incident from your records, draw the zone in the console, and tell us where the format gets in the way.</a:t>
            </a:r>
            <a:endParaRPr lang="en-US" sz="1350" dirty="0"/>
          </a:p>
        </p:txBody>
      </p:sp>
      <p:sp>
        <p:nvSpPr>
          <p:cNvPr id="10" name="Text 8"/>
          <p:cNvSpPr txBox="1"/>
          <p:nvPr/>
        </p:nvSpPr>
        <p:spPr>
          <a:xfrm>
            <a:off x="566928" y="3749040"/>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03</a:t>
            </a:r>
            <a:endParaRPr lang="en-US" sz="1700" dirty="0"/>
          </a:p>
        </p:txBody>
      </p:sp>
      <p:sp>
        <p:nvSpPr>
          <p:cNvPr id="11" name="Text 9"/>
          <p:cNvSpPr txBox="1"/>
          <p:nvPr/>
        </p:nvSpPr>
        <p:spPr>
          <a:xfrm>
            <a:off x="1463040" y="3712464"/>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Take a position on the registry</a:t>
            </a:r>
            <a:endParaRPr lang="en-US" sz="2000" dirty="0"/>
          </a:p>
        </p:txBody>
      </p:sp>
      <p:sp>
        <p:nvSpPr>
          <p:cNvPr id="12" name="Text 10"/>
          <p:cNvSpPr txBox="1"/>
          <p:nvPr/>
        </p:nvSpPr>
        <p:spPr>
          <a:xfrm>
            <a:off x="5230368" y="3730752"/>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Who issues the credentials, and how a small department gets one. This is the decision most likely to be made without you.</a:t>
            </a:r>
            <a:endParaRPr lang="en-US" sz="1350" dirty="0"/>
          </a:p>
        </p:txBody>
      </p:sp>
      <p:sp>
        <p:nvSpPr>
          <p:cNvPr id="13" name="Text 11"/>
          <p:cNvSpPr txBox="1"/>
          <p:nvPr/>
        </p:nvSpPr>
        <p:spPr>
          <a:xfrm>
            <a:off x="566928" y="4718304"/>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04</a:t>
            </a:r>
            <a:endParaRPr lang="en-US" sz="1700" dirty="0"/>
          </a:p>
        </p:txBody>
      </p:sp>
      <p:sp>
        <p:nvSpPr>
          <p:cNvPr id="14" name="Text 12"/>
          <p:cNvSpPr txBox="1"/>
          <p:nvPr/>
        </p:nvSpPr>
        <p:spPr>
          <a:xfrm>
            <a:off x="1463040" y="4681728"/>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Back a common format</a:t>
            </a:r>
            <a:endParaRPr lang="en-US" sz="2000" dirty="0"/>
          </a:p>
        </p:txBody>
      </p:sp>
      <p:sp>
        <p:nvSpPr>
          <p:cNvPr id="15" name="Text 13"/>
          <p:cNvSpPr txBox="1"/>
          <p:nvPr/>
        </p:nvSpPr>
        <p:spPr>
          <a:xfrm>
            <a:off x="5230368" y="4700016"/>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The alternative is a separate bespoke arrangement with every operator, renegotiated each time a new one enters your city.</a:t>
            </a:r>
            <a:endParaRPr lang="en-US" sz="1350" dirty="0"/>
          </a:p>
        </p:txBody>
      </p:sp>
      <p:sp>
        <p:nvSpPr>
          <p:cNvPr id="16" name="Shape 14"/>
          <p:cNvSpPr/>
          <p:nvPr/>
        </p:nvSpPr>
        <p:spPr>
          <a:xfrm>
            <a:off x="566928" y="5705856"/>
            <a:ext cx="11057839" cy="621792"/>
          </a:xfrm>
          <a:prstGeom prst="roundRect">
            <a:avLst>
              <a:gd name="adj" fmla="val 8824"/>
            </a:avLst>
          </a:prstGeom>
          <a:solidFill>
            <a:srgbClr val="2A2622"/>
          </a:solidFill>
          <a:ln w="12700">
            <a:solidFill>
              <a:srgbClr val="3A342E"/>
            </a:solidFill>
            <a:prstDash val="solid"/>
          </a:ln>
        </p:spPr>
      </p:sp>
      <p:sp>
        <p:nvSpPr>
          <p:cNvPr id="17" name="Text 15"/>
          <p:cNvSpPr txBox="1"/>
          <p:nvPr/>
        </p:nvSpPr>
        <p:spPr>
          <a:xfrm>
            <a:off x="877824" y="5852160"/>
            <a:ext cx="10436047" cy="420624"/>
          </a:xfrm>
          <a:prstGeom prst="rect">
            <a:avLst/>
          </a:prstGeom>
          <a:noFill/>
          <a:ln/>
        </p:spPr>
        <p:txBody>
          <a:bodyPr wrap="square" lIns="0" tIns="0" rIns="0" bIns="0" rtlCol="0" anchor="t"/>
          <a:lstStyle/>
          <a:p>
            <a:pPr indent="0" marL="0">
              <a:buNone/>
            </a:pPr>
            <a:r>
              <a:rPr lang="en-US" sz="1450" dirty="0">
                <a:solidFill>
                  <a:srgbClr val="F2EEE9"/>
                </a:solidFill>
                <a:latin typeface="Calibri" pitchFamily="34" charset="0"/>
                <a:ea typeface="Calibri" pitchFamily="34" charset="-122"/>
                <a:cs typeface="Calibri" pitchFamily="34" charset="-120"/>
              </a:rPr>
              <a:t>Federal rules are at least two years away, and only if the bill passes. The window to shape what a geofence notice means is open now.</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REFERENCE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The acronyms, in plain words</a:t>
            </a:r>
            <a:endParaRPr lang="en-US" sz="3400" dirty="0"/>
          </a:p>
        </p:txBody>
      </p:sp>
      <p:sp>
        <p:nvSpPr>
          <p:cNvPr id="4" name="Text 2"/>
          <p:cNvSpPr txBox="1"/>
          <p:nvPr/>
        </p:nvSpPr>
        <p:spPr>
          <a:xfrm>
            <a:off x="566928" y="173736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ADS</a:t>
            </a:r>
            <a:endParaRPr lang="en-US" sz="1150" dirty="0"/>
          </a:p>
        </p:txBody>
      </p:sp>
      <p:sp>
        <p:nvSpPr>
          <p:cNvPr id="5" name="Text 3"/>
          <p:cNvSpPr txBox="1"/>
          <p:nvPr/>
        </p:nvSpPr>
        <p:spPr>
          <a:xfrm>
            <a:off x="2212848" y="171907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Automated Driving System. The driving automation itself. “AV” is the everyday word for a vehicle that has one.</a:t>
            </a:r>
            <a:endParaRPr lang="en-US" sz="1150" dirty="0"/>
          </a:p>
        </p:txBody>
      </p:sp>
      <p:sp>
        <p:nvSpPr>
          <p:cNvPr id="6" name="Text 4"/>
          <p:cNvSpPr txBox="1"/>
          <p:nvPr/>
        </p:nvSpPr>
        <p:spPr>
          <a:xfrm>
            <a:off x="6324448" y="173736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CAD</a:t>
            </a:r>
            <a:endParaRPr lang="en-US" sz="1150" dirty="0"/>
          </a:p>
        </p:txBody>
      </p:sp>
      <p:sp>
        <p:nvSpPr>
          <p:cNvPr id="7" name="Text 5"/>
          <p:cNvSpPr txBox="1"/>
          <p:nvPr/>
        </p:nvSpPr>
        <p:spPr>
          <a:xfrm>
            <a:off x="7970368" y="171907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Computer-Aided Dispatch. Your incident system, and where the incident number comes from.</a:t>
            </a:r>
            <a:endParaRPr lang="en-US" sz="1150" dirty="0"/>
          </a:p>
        </p:txBody>
      </p:sp>
      <p:sp>
        <p:nvSpPr>
          <p:cNvPr id="8" name="Text 6"/>
          <p:cNvSpPr txBox="1"/>
          <p:nvPr/>
        </p:nvSpPr>
        <p:spPr>
          <a:xfrm>
            <a:off x="566928" y="2459736"/>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CAP</a:t>
            </a:r>
            <a:endParaRPr lang="en-US" sz="1150" dirty="0"/>
          </a:p>
        </p:txBody>
      </p:sp>
      <p:sp>
        <p:nvSpPr>
          <p:cNvPr id="9" name="Text 7"/>
          <p:cNvSpPr txBox="1"/>
          <p:nvPr/>
        </p:nvSpPr>
        <p:spPr>
          <a:xfrm>
            <a:off x="2212848" y="2441448"/>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Common Alerting Protocol. The standard format emergency alerts already travel in.</a:t>
            </a:r>
            <a:endParaRPr lang="en-US" sz="1150" dirty="0"/>
          </a:p>
        </p:txBody>
      </p:sp>
      <p:sp>
        <p:nvSpPr>
          <p:cNvPr id="10" name="Text 8"/>
          <p:cNvSpPr txBox="1"/>
          <p:nvPr/>
        </p:nvSpPr>
        <p:spPr>
          <a:xfrm>
            <a:off x="6324448" y="2459736"/>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Covered entity</a:t>
            </a:r>
            <a:endParaRPr lang="en-US" sz="1150" dirty="0"/>
          </a:p>
        </p:txBody>
      </p:sp>
      <p:sp>
        <p:nvSpPr>
          <p:cNvPr id="11" name="Text 9"/>
          <p:cNvSpPr txBox="1"/>
          <p:nvPr/>
        </p:nvSpPr>
        <p:spPr>
          <a:xfrm>
            <a:off x="7970368" y="2441448"/>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H.R. 10033's term for who carries the duty: the company operating the vehicles, or the manufacturer that sold them.</a:t>
            </a:r>
            <a:endParaRPr lang="en-US" sz="1150" dirty="0"/>
          </a:p>
        </p:txBody>
      </p:sp>
      <p:sp>
        <p:nvSpPr>
          <p:cNvPr id="12" name="Text 10"/>
          <p:cNvSpPr txBox="1"/>
          <p:nvPr/>
        </p:nvSpPr>
        <p:spPr>
          <a:xfrm>
            <a:off x="566928" y="3182112"/>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Geofence notice</a:t>
            </a:r>
            <a:endParaRPr lang="en-US" sz="1150" dirty="0"/>
          </a:p>
        </p:txBody>
      </p:sp>
      <p:sp>
        <p:nvSpPr>
          <p:cNvPr id="13" name="Text 11"/>
          <p:cNvSpPr txBox="1"/>
          <p:nvPr/>
        </p:nvSpPr>
        <p:spPr>
          <a:xfrm>
            <a:off x="2212848" y="3163824"/>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A signed message telling automated vehicles to restrict operation in a defined area for a defined time.</a:t>
            </a:r>
            <a:endParaRPr lang="en-US" sz="1150" dirty="0"/>
          </a:p>
        </p:txBody>
      </p:sp>
      <p:sp>
        <p:nvSpPr>
          <p:cNvPr id="14" name="Text 12"/>
          <p:cNvSpPr txBox="1"/>
          <p:nvPr/>
        </p:nvSpPr>
        <p:spPr>
          <a:xfrm>
            <a:off x="6324448" y="3182112"/>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H.R. 10033</a:t>
            </a:r>
            <a:endParaRPr lang="en-US" sz="1150" dirty="0"/>
          </a:p>
        </p:txBody>
      </p:sp>
      <p:sp>
        <p:nvSpPr>
          <p:cNvPr id="15" name="Text 13"/>
          <p:cNvSpPr txBox="1"/>
          <p:nvPr/>
        </p:nvSpPr>
        <p:spPr>
          <a:xfrm>
            <a:off x="7970368" y="3163824"/>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AV Emergency Response Coordination Act, introduced 3 August 2026. Not passed.</a:t>
            </a:r>
            <a:endParaRPr lang="en-US" sz="1150" dirty="0"/>
          </a:p>
        </p:txBody>
      </p:sp>
      <p:sp>
        <p:nvSpPr>
          <p:cNvPr id="16" name="Text 14"/>
          <p:cNvSpPr txBox="1"/>
          <p:nvPr/>
        </p:nvSpPr>
        <p:spPr>
          <a:xfrm>
            <a:off x="566928" y="3904488"/>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IPAWS</a:t>
            </a:r>
            <a:endParaRPr lang="en-US" sz="1150" dirty="0"/>
          </a:p>
        </p:txBody>
      </p:sp>
      <p:sp>
        <p:nvSpPr>
          <p:cNvPr id="17" name="Text 15"/>
          <p:cNvSpPr txBox="1"/>
          <p:nvPr/>
        </p:nvSpPr>
        <p:spPr>
          <a:xfrm>
            <a:off x="2212848" y="3886200"/>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FEMA's national alert system. What your emergency manager sends alerts through.</a:t>
            </a:r>
            <a:endParaRPr lang="en-US" sz="1150" dirty="0"/>
          </a:p>
        </p:txBody>
      </p:sp>
      <p:sp>
        <p:nvSpPr>
          <p:cNvPr id="18" name="Text 16"/>
          <p:cNvSpPr txBox="1"/>
          <p:nvPr/>
        </p:nvSpPr>
        <p:spPr>
          <a:xfrm>
            <a:off x="6324448" y="3904488"/>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NHTSA</a:t>
            </a:r>
            <a:endParaRPr lang="en-US" sz="1150" dirty="0"/>
          </a:p>
        </p:txBody>
      </p:sp>
      <p:sp>
        <p:nvSpPr>
          <p:cNvPr id="19" name="Text 17"/>
          <p:cNvSpPr txBox="1"/>
          <p:nvPr/>
        </p:nvSpPr>
        <p:spPr>
          <a:xfrm>
            <a:off x="7970368" y="3886200"/>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National Highway Traffic Safety Administration. The federal vehicle safety regulator.</a:t>
            </a:r>
            <a:endParaRPr lang="en-US" sz="1150" dirty="0"/>
          </a:p>
        </p:txBody>
      </p:sp>
      <p:sp>
        <p:nvSpPr>
          <p:cNvPr id="20" name="Text 18"/>
          <p:cNvSpPr txBox="1"/>
          <p:nvPr/>
        </p:nvSpPr>
        <p:spPr>
          <a:xfrm>
            <a:off x="566928" y="4626864"/>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Registry</a:t>
            </a:r>
            <a:endParaRPr lang="en-US" sz="1150" dirty="0"/>
          </a:p>
        </p:txBody>
      </p:sp>
      <p:sp>
        <p:nvSpPr>
          <p:cNvPr id="21" name="Text 19"/>
          <p:cNvSpPr txBox="1"/>
          <p:nvPr/>
        </p:nvSpPr>
        <p:spPr>
          <a:xfrm>
            <a:off x="2212848" y="4608576"/>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credential authority that would issue signing certificates to agencies. Does not exist yet.</a:t>
            </a:r>
            <a:endParaRPr lang="en-US" sz="1150" dirty="0"/>
          </a:p>
        </p:txBody>
      </p:sp>
      <p:sp>
        <p:nvSpPr>
          <p:cNvPr id="22" name="Text 20"/>
          <p:cNvSpPr txBox="1"/>
          <p:nvPr/>
        </p:nvSpPr>
        <p:spPr>
          <a:xfrm>
            <a:off x="6324448" y="4626864"/>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Tier</a:t>
            </a:r>
            <a:endParaRPr lang="en-US" sz="1150" dirty="0"/>
          </a:p>
        </p:txBody>
      </p:sp>
      <p:sp>
        <p:nvSpPr>
          <p:cNvPr id="23" name="Text 21"/>
          <p:cNvSpPr txBox="1"/>
          <p:nvPr/>
        </p:nvSpPr>
        <p:spPr>
          <a:xfrm>
            <a:off x="7970368" y="4608576"/>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authority class of the issuing agency, setting how long and how large a restriction it may impose.</a:t>
            </a:r>
            <a:endParaRPr lang="en-US" sz="1150" dirty="0"/>
          </a:p>
        </p:txBody>
      </p:sp>
      <p:sp>
        <p:nvSpPr>
          <p:cNvPr id="24" name="Text 22"/>
          <p:cNvSpPr txBox="1"/>
          <p:nvPr/>
        </p:nvSpPr>
        <p:spPr>
          <a:xfrm>
            <a:off x="566928" y="534924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WEA / EAS</a:t>
            </a:r>
            <a:endParaRPr lang="en-US" sz="1150" dirty="0"/>
          </a:p>
        </p:txBody>
      </p:sp>
      <p:sp>
        <p:nvSpPr>
          <p:cNvPr id="25" name="Text 23"/>
          <p:cNvSpPr txBox="1"/>
          <p:nvPr/>
        </p:nvSpPr>
        <p:spPr>
          <a:xfrm>
            <a:off x="2212848" y="533095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Wireless Emergency Alerts to phones, and the Emergency Alert System on broadcast.</a:t>
            </a:r>
            <a:endParaRPr lang="en-US" sz="1150" dirty="0"/>
          </a:p>
        </p:txBody>
      </p:sp>
      <p:sp>
        <p:nvSpPr>
          <p:cNvPr id="26" name="Text 24"/>
          <p:cNvSpPr txBox="1"/>
          <p:nvPr/>
        </p:nvSpPr>
        <p:spPr>
          <a:xfrm>
            <a:off x="6324448" y="534924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WZDx</a:t>
            </a:r>
            <a:endParaRPr lang="en-US" sz="1150" dirty="0"/>
          </a:p>
        </p:txBody>
      </p:sp>
      <p:sp>
        <p:nvSpPr>
          <p:cNvPr id="27" name="Text 25"/>
          <p:cNvSpPr txBox="1"/>
          <p:nvPr/>
        </p:nvSpPr>
        <p:spPr>
          <a:xfrm>
            <a:off x="7970368" y="533095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Work Zone Data Exchange. How agencies already publish closures to Google Maps, Waze and Apple Maps.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the Street to a Robotaxi</dc:title>
  <dc:subject>PptxGenJS Presentation</dc:subject>
  <dc:creator>Geofence Notice Specification working draft</dc:creator>
  <cp:lastModifiedBy>Geofence Notice Specification working draft</cp:lastModifiedBy>
  <cp:revision>1</cp:revision>
  <dcterms:created xsi:type="dcterms:W3CDTF">2026-09-03T16:21:42Z</dcterms:created>
  <dcterms:modified xsi:type="dcterms:W3CDTF">2026-09-03T16:21:42Z</dcterms:modified>
</cp:coreProperties>
</file>