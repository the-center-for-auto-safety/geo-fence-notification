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number, not the technology.
31 reports since April 2025, from one city's fire department. That is not a technology forecast, it is a filed record.
This briefing is about a proposed message format, not a product and not an adopted standard. Say that up front so nobody thinks they are being sold something.
Ask the room before you go on: how many of you have had an AV in the way of an apparatus placement in the last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cards, three failure modes: the vehicle blocks and the remote fix does not work; the vehicle blocks and it takes police plus a tow; the vehicle drives itself into the hazard.
The bottom line is the one that should land. The same officer, the same complaint, eleven months apart. There was no mechanism to make the second one not happen.
If someone asks whether this is one city or one company: the NHTSA letter on the next slide calls it an industry-wide functional insufficiency, not a company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 July line is the one that changed this briefing. Slow down on it. This is not a proposal any more, it is California law, and the duty is on the manufacturer.
Read the number out loud: two minutes. Then say the part that matters to this room, which is that the law does not say how the manufacturer knows the message came from you.
H.R. 10033 was introduced 28 July 2026 and has not passed. Do not overstate it. If asked when federal rules land: the bill gives NHTSA 180 days after enactment, and NHTSA rulemaking averages about five years. Do not wait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the whole briefing turns on. Slow down here.
The law gives you authority. Authority without a defined message means every operator implements it differently, and the burden of reconciling that lands on the incident commander.
If someone asks about the street address clause: yes, an address is a legal way to identify the area, and no, it is not a boundary. Somebody has to decide how big a circle that means, and right now that somebody is the manufacturer.
The footnote is worth reading aloud. The fire service's own guidance today is informational. Nobody has handed departments a mechanism.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questions, in the order a dispatcher would ask them. Nothing here is exotic. It is the information you already put in a CAD entry.
The IPAWS point matters for small agencies. If your county already has an alert origination tool and a COG ID, you can issue one of these without any new credentialing process.
Do not get drawn into the data format on this slide. If someone asks, the answer is: it is JSON, and it also renders as CAP 1.2.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bar widths encode severity. That is the whole visual.
The argument for a chief: a blanket no-vehicles rule is right for a fire ground and wrong for a parade route. If the only tool is total closure, people will either over-close, or stop using it.
NO DRIVERLESS is the interesting one for a signals-dark intersection where an officer is hand-directing traffic. A human in the vehicle can read a hand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have time for one card, use the first. Exit, never freeze.
The second card is the one that protects the public and your relationship with the city. A geofence nobody canceled is a neighborhood quietly losing service, and nobody finds out for a week.
The third card is what you say when someone in the room asks whether this lets you shut down cars remotely. It does not, deliberately, and that is a feature. An advisory that never causes an unsafe maneuver is a thing an operator can accept immediately.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do not describe. If you have a laptop, open the console and draw a zone live instead of using this slide. It takes about twenty seconds.
The timings on the right come from the specification's latency budget for a life-safety notice.
Point at the red vehicle in the map if it is visible: that is one that got boxed in by apparatus and could not leave. The format has a way to report that by exception rather than pretending the zone is clear.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changed. It used to say the first thing a department needs is a credential nobody can issue yet. In California that is no longer true: the authority to send is already yours, and the operator carries the duty to respond.
Card 1 is outlined in red because it is the action item, not because it is the obstacle. The letter is one page. We have a draft.
The red band is the remaining real gap. Signing is what makes a notice provably yours. There is a proposal now, which means the room has something to react to rather than a blank.
If someone asks who pays: nobody has costed this. Say 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in deliberately. A room of chiefs will assume anything technical is overselling itself, and the fastest way past that is to volunteer where the draft disagrees with the law.
The duration row is the one people will push on. The answer: the law sets no ceiling at all, the draft sets working limits, and the limits are a proposal you can argue with. Extending is one click. Forgetting is the failure the ceiling prevents.
Row two: issue fleet direction in 2 minutes and have every vehicle clear in 5 are not the same claim, and the law only requires the first. Say that plainly.
Row three is the newest finding and the one worth dwelling on. Under the regulation, saying Valencia and 19th is a legally sufficient location. Somebody then decides whether that means a hundred meters or half a mile, and today that somebody works for the operator. The draft takes that decision back and bounds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slide plainly and do not soften it. A command audience has been pitched vaporware before and will be listening for it.
The eighteen defects line is a credibility point, not a confession. A draft that has been attacked and repaired is worth more than one that has not.
If the room's takeaway is only that geofence notices need a common format and public safety should shape it, the briefing has done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timing, and close hard. The old version of this slide said federal rules were two years out. The real figure is about five years on average, and the bill has not passed. None of that matters, because the California duty is already in force and the letter in ask 01 works today.
Ask 01 is the whole point of the briefing now. It is one page, it needs no legislature, no regulator, and no credential, and it starts a clock the operator has to answer.
Concrete second step: a one-hour tabletop with a real incident from their own records. Smallest useful commitment, and it produces the feedback the draft actually needs.
Leave behind: the executive summary, the California profile, the draft specification, and the console.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leave-behind, not a slide to read out. Skip it in the room.
Useful if someone takes the deck away and circulates it, which is the most likely thing to happen to it.
The two worth saying aloud if they come up: covered entity is the bill's term and it covers manufacturers as well as fleet operators, which is what makes privately owned vehicles work. And the registry is the piece that does not exist.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A18"/>
        </a:solidFill>
      </p:bgPr>
    </p:bg>
    <p:spTree>
      <p:nvGrpSpPr>
        <p:cNvPr id="1" name=""/>
        <p:cNvGrpSpPr/>
        <p:nvPr/>
      </p:nvGrpSpPr>
      <p:grpSpPr>
        <a:xfrm>
          <a:off x="0" y="0"/>
          <a:ext cx="0" cy="0"/>
          <a:chOff x="0" y="0"/>
          <a:chExt cx="0" cy="0"/>
        </a:xfrm>
      </p:grpSpPr>
      <p:sp>
        <p:nvSpPr>
          <p:cNvPr id="2" name="Text 0"/>
          <p:cNvSpPr txBox="1"/>
          <p:nvPr/>
        </p:nvSpPr>
        <p:spPr>
          <a:xfrm>
            <a:off x="566928" y="1572768"/>
            <a:ext cx="7223760" cy="2103120"/>
          </a:xfrm>
          <a:prstGeom prst="rect">
            <a:avLst/>
          </a:prstGeom>
          <a:noFill/>
          <a:ln/>
        </p:spPr>
        <p:txBody>
          <a:bodyPr wrap="square" lIns="0" tIns="0" rIns="0" bIns="0" rtlCol="0" anchor="t"/>
          <a:lstStyle/>
          <a:p>
            <a:pPr indent="0" marL="0">
              <a:lnSpc>
                <a:spcPts val="5800"/>
              </a:lnSpc>
              <a:buNone/>
            </a:pPr>
            <a:r>
              <a:rPr lang="en-US" sz="5200" b="1" dirty="0">
                <a:solidFill>
                  <a:srgbClr val="F2EEE9"/>
                </a:solidFill>
                <a:latin typeface="Cambria" pitchFamily="34" charset="0"/>
                <a:ea typeface="Cambria" pitchFamily="34" charset="-122"/>
                <a:cs typeface="Cambria" pitchFamily="34" charset="-120"/>
              </a:rPr>
              <a:t>Closing the street</a:t>
            </a:r>
            <a:endParaRPr lang="en-US" sz="5200" dirty="0"/>
          </a:p>
          <a:p>
            <a:pPr indent="0" marL="0">
              <a:lnSpc>
                <a:spcPts val="5800"/>
              </a:lnSpc>
              <a:buNone/>
            </a:pPr>
            <a:r>
              <a:rPr lang="en-US" sz="5200" b="1" dirty="0">
                <a:solidFill>
                  <a:srgbClr val="F2EEE9"/>
                </a:solidFill>
                <a:latin typeface="Cambria" pitchFamily="34" charset="0"/>
                <a:ea typeface="Cambria" pitchFamily="34" charset="-122"/>
                <a:cs typeface="Cambria" pitchFamily="34" charset="-120"/>
              </a:rPr>
              <a:t>to a robotaxi</a:t>
            </a:r>
            <a:endParaRPr lang="en-US" sz="5200" dirty="0"/>
          </a:p>
        </p:txBody>
      </p:sp>
      <p:sp>
        <p:nvSpPr>
          <p:cNvPr id="3" name="Text 1"/>
          <p:cNvSpPr txBox="1"/>
          <p:nvPr/>
        </p:nvSpPr>
        <p:spPr>
          <a:xfrm>
            <a:off x="566928" y="3822192"/>
            <a:ext cx="6858000" cy="914400"/>
          </a:xfrm>
          <a:prstGeom prst="rect">
            <a:avLst/>
          </a:prstGeom>
          <a:noFill/>
          <a:ln/>
        </p:spPr>
        <p:txBody>
          <a:bodyPr wrap="square" lIns="0" tIns="0" rIns="0" bIns="0" rtlCol="0" anchor="t"/>
          <a:lstStyle/>
          <a:p>
            <a:pPr indent="0" marL="0">
              <a:lnSpc>
                <a:spcPts val="2600"/>
              </a:lnSpc>
              <a:buNone/>
            </a:pPr>
            <a:r>
              <a:rPr lang="en-US" sz="1700" dirty="0">
                <a:solidFill>
                  <a:srgbClr val="A79C90"/>
                </a:solidFill>
                <a:latin typeface="Calibri" pitchFamily="34" charset="0"/>
                <a:ea typeface="Calibri" pitchFamily="34" charset="-122"/>
                <a:cs typeface="Calibri" pitchFamily="34" charset="-120"/>
              </a:rPr>
              <a:t>A common format for geofence notices, so one message from your dispatcher reaches every automated vehicle operating in your jurisdiction.</a:t>
            </a:r>
            <a:endParaRPr lang="en-US" sz="1700" dirty="0"/>
          </a:p>
        </p:txBody>
      </p:sp>
      <p:sp>
        <p:nvSpPr>
          <p:cNvPr id="4" name="Text 2"/>
          <p:cNvSpPr txBox="1"/>
          <p:nvPr/>
        </p:nvSpPr>
        <p:spPr>
          <a:xfrm>
            <a:off x="566928" y="4956048"/>
            <a:ext cx="7223760" cy="274320"/>
          </a:xfrm>
          <a:prstGeom prst="rect">
            <a:avLst/>
          </a:prstGeom>
          <a:noFill/>
          <a:ln/>
        </p:spPr>
        <p:txBody>
          <a:bodyPr wrap="square" lIns="0" tIns="0" rIns="0" bIns="0" rtlCol="0" anchor="t"/>
          <a:lstStyle/>
          <a:p>
            <a:pPr indent="0" marL="0">
              <a:buNone/>
            </a:pPr>
            <a:r>
              <a:rPr lang="en-US" sz="1300" dirty="0">
                <a:solidFill>
                  <a:srgbClr val="F2EEE9"/>
                </a:solidFill>
                <a:latin typeface="Calibri" pitchFamily="34" charset="0"/>
                <a:ea typeface="Calibri" pitchFamily="34" charset="-122"/>
                <a:cs typeface="Calibri" pitchFamily="34" charset="-120"/>
              </a:rPr>
              <a:t>Briefing for fire, law enforcement, EMS and emergency management command</a:t>
            </a:r>
            <a:endParaRPr lang="en-US" sz="1300" dirty="0"/>
          </a:p>
        </p:txBody>
      </p:sp>
      <p:sp>
        <p:nvSpPr>
          <p:cNvPr id="5" name="Text 3"/>
          <p:cNvSpPr txBox="1"/>
          <p:nvPr/>
        </p:nvSpPr>
        <p:spPr>
          <a:xfrm>
            <a:off x="566928" y="5266944"/>
            <a:ext cx="7223760" cy="274320"/>
          </a:xfrm>
          <a:prstGeom prst="rect">
            <a:avLst/>
          </a:prstGeom>
          <a:noFill/>
          <a:ln/>
        </p:spPr>
        <p:txBody>
          <a:bodyPr wrap="square" lIns="0" tIns="0" rIns="0" bIns="0" rtlCol="0" anchor="t"/>
          <a:lstStyle/>
          <a:p>
            <a:pPr indent="0" marL="0">
              <a:buNone/>
            </a:pPr>
            <a:r>
              <a:rPr lang="en-US" sz="1150" dirty="0">
                <a:solidFill>
                  <a:srgbClr val="A79C90"/>
                </a:solidFill>
                <a:latin typeface="Courier New" pitchFamily="34" charset="0"/>
                <a:ea typeface="Courier New" pitchFamily="34" charset="-122"/>
                <a:cs typeface="Courier New" pitchFamily="34" charset="-120"/>
              </a:rPr>
              <a:t>Draft for comment  ·  3 September 2026  ·  GFN v0.1</a:t>
            </a:r>
            <a:endParaRPr lang="en-US" sz="1150" dirty="0"/>
          </a:p>
        </p:txBody>
      </p:sp>
      <p:sp>
        <p:nvSpPr>
          <p:cNvPr id="6" name="Shape 4"/>
          <p:cNvSpPr/>
          <p:nvPr/>
        </p:nvSpPr>
        <p:spPr>
          <a:xfrm>
            <a:off x="8275320" y="1572768"/>
            <a:ext cx="3364992" cy="3163824"/>
          </a:xfrm>
          <a:prstGeom prst="roundRect">
            <a:avLst>
              <a:gd name="adj" fmla="val 2312"/>
            </a:avLst>
          </a:prstGeom>
          <a:solidFill>
            <a:srgbClr val="C1341C"/>
          </a:solidFill>
          <a:ln w="12700">
            <a:solidFill>
              <a:srgbClr val="C1341C"/>
            </a:solidFill>
            <a:prstDash val="solid"/>
          </a:ln>
        </p:spPr>
      </p:sp>
      <p:sp>
        <p:nvSpPr>
          <p:cNvPr id="7" name="Text 5"/>
          <p:cNvSpPr txBox="1"/>
          <p:nvPr/>
        </p:nvSpPr>
        <p:spPr>
          <a:xfrm>
            <a:off x="8275320" y="1883664"/>
            <a:ext cx="3364992" cy="1371600"/>
          </a:xfrm>
          <a:prstGeom prst="rect">
            <a:avLst/>
          </a:prstGeom>
          <a:noFill/>
          <a:ln/>
        </p:spPr>
        <p:txBody>
          <a:bodyPr wrap="square" lIns="0" tIns="0" rIns="0" bIns="0" rtlCol="0" anchor="t"/>
          <a:lstStyle/>
          <a:p>
            <a:pPr algn="ctr" indent="0" marL="0">
              <a:buNone/>
            </a:pPr>
            <a:r>
              <a:rPr lang="en-US" sz="9600" b="1" dirty="0">
                <a:solidFill>
                  <a:srgbClr val="FFFFFF"/>
                </a:solidFill>
                <a:latin typeface="Cambria" pitchFamily="34" charset="0"/>
                <a:ea typeface="Cambria" pitchFamily="34" charset="-122"/>
                <a:cs typeface="Cambria" pitchFamily="34" charset="-120"/>
              </a:rPr>
              <a:t>31</a:t>
            </a:r>
            <a:endParaRPr lang="en-US" sz="9600" dirty="0"/>
          </a:p>
        </p:txBody>
      </p:sp>
      <p:sp>
        <p:nvSpPr>
          <p:cNvPr id="8" name="Text 6"/>
          <p:cNvSpPr txBox="1"/>
          <p:nvPr/>
        </p:nvSpPr>
        <p:spPr>
          <a:xfrm>
            <a:off x="8549640" y="3310128"/>
            <a:ext cx="2816352" cy="1188720"/>
          </a:xfrm>
          <a:prstGeom prst="rect">
            <a:avLst/>
          </a:prstGeom>
          <a:noFill/>
          <a:ln/>
        </p:spPr>
        <p:txBody>
          <a:bodyPr wrap="square" lIns="0" tIns="0" rIns="0" bIns="0" rtlCol="0" anchor="t"/>
          <a:lstStyle/>
          <a:p>
            <a:pPr algn="ctr" indent="0" marL="0">
              <a:lnSpc>
                <a:spcPts val="1700"/>
              </a:lnSpc>
              <a:buNone/>
            </a:pPr>
            <a:r>
              <a:rPr lang="en-US" sz="1250" dirty="0">
                <a:solidFill>
                  <a:srgbClr val="FFE7E1"/>
                </a:solidFill>
                <a:latin typeface="Calibri" pitchFamily="34" charset="0"/>
                <a:ea typeface="Calibri" pitchFamily="34" charset="-122"/>
                <a:cs typeface="Calibri" pitchFamily="34" charset="-120"/>
              </a:rPr>
              <a:t>reports filed by San Francisco</a:t>
            </a:r>
            <a:endParaRPr lang="en-US" sz="1250" dirty="0"/>
          </a:p>
          <a:p>
            <a:pPr algn="ctr" indent="0" marL="0">
              <a:lnSpc>
                <a:spcPts val="1700"/>
              </a:lnSpc>
              <a:buNone/>
            </a:pPr>
            <a:r>
              <a:rPr lang="en-US" sz="1250" dirty="0">
                <a:solidFill>
                  <a:srgbClr val="FFE7E1"/>
                </a:solidFill>
                <a:latin typeface="Calibri" pitchFamily="34" charset="0"/>
                <a:ea typeface="Calibri" pitchFamily="34" charset="-122"/>
                <a:cs typeface="Calibri" pitchFamily="34" charset="-120"/>
              </a:rPr>
              <a:t>firefighters since April 2025,</a:t>
            </a:r>
            <a:endParaRPr lang="en-US" sz="1250" dirty="0"/>
          </a:p>
          <a:p>
            <a:pPr algn="ctr" indent="0" marL="0">
              <a:lnSpc>
                <a:spcPts val="1700"/>
              </a:lnSpc>
              <a:buNone/>
            </a:pPr>
            <a:r>
              <a:rPr lang="en-US" sz="1250" dirty="0">
                <a:solidFill>
                  <a:srgbClr val="FFE7E1"/>
                </a:solidFill>
                <a:latin typeface="Calibri" pitchFamily="34" charset="0"/>
                <a:ea typeface="Calibri" pitchFamily="34" charset="-122"/>
                <a:cs typeface="Calibri" pitchFamily="34" charset="-120"/>
              </a:rPr>
              <a:t>documenting robotaxis obstructing</a:t>
            </a:r>
            <a:endParaRPr lang="en-US" sz="1250" dirty="0"/>
          </a:p>
          <a:p>
            <a:pPr algn="ctr" indent="0" marL="0">
              <a:lnSpc>
                <a:spcPts val="1700"/>
              </a:lnSpc>
              <a:buNone/>
            </a:pPr>
            <a:r>
              <a:rPr lang="en-US" sz="1250" dirty="0">
                <a:solidFill>
                  <a:srgbClr val="FFE7E1"/>
                </a:solidFill>
                <a:latin typeface="Calibri" pitchFamily="34" charset="0"/>
                <a:ea typeface="Calibri" pitchFamily="34" charset="-122"/>
                <a:cs typeface="Calibri" pitchFamily="34" charset="-120"/>
              </a:rPr>
              <a:t>emergency operations</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THE PROBLEM</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It is already happening, and the workaround is manual</a:t>
            </a:r>
            <a:endParaRPr lang="en-US" sz="3400" dirty="0"/>
          </a:p>
        </p:txBody>
      </p:sp>
      <p:sp>
        <p:nvSpPr>
          <p:cNvPr id="4" name="Shape 2"/>
          <p:cNvSpPr/>
          <p:nvPr/>
        </p:nvSpPr>
        <p:spPr>
          <a:xfrm>
            <a:off x="566928" y="1773936"/>
            <a:ext cx="3584448" cy="2212848"/>
          </a:xfrm>
          <a:prstGeom prst="roundRect">
            <a:avLst>
              <a:gd name="adj" fmla="val 2479"/>
            </a:avLst>
          </a:prstGeom>
          <a:solidFill>
            <a:srgbClr val="FFFFFF"/>
          </a:solidFill>
          <a:ln w="12700">
            <a:solidFill>
              <a:srgbClr val="EDE9E4"/>
            </a:solidFill>
            <a:prstDash val="solid"/>
          </a:ln>
          <a:effectLst>
            <a:outerShdw sx="100000" sy="100000" kx="0" ky="0" algn="bl" rotWithShape="0" blurRad="88900" dist="12700" dir="5400000">
              <a:srgbClr val="9A9088">
                <a:alpha val="16000"/>
              </a:srgbClr>
            </a:outerShdw>
          </a:effectLst>
        </p:spPr>
      </p:sp>
      <p:sp>
        <p:nvSpPr>
          <p:cNvPr id="5" name="Text 3"/>
          <p:cNvSpPr txBox="1"/>
          <p:nvPr/>
        </p:nvSpPr>
        <p:spPr>
          <a:xfrm>
            <a:off x="822960" y="1956816"/>
            <a:ext cx="3072384" cy="219456"/>
          </a:xfrm>
          <a:prstGeom prst="rect">
            <a:avLst/>
          </a:prstGeom>
          <a:noFill/>
          <a:ln/>
        </p:spPr>
        <p:txBody>
          <a:bodyPr wrap="square" lIns="0" tIns="0" rIns="0" bIns="0" rtlCol="0" anchor="t"/>
          <a:lstStyle/>
          <a:p>
            <a:pPr indent="0" marL="0">
              <a:buNone/>
            </a:pPr>
            <a:r>
              <a:rPr lang="en-US" sz="1050" b="1" spc="100" kern="0" dirty="0">
                <a:solidFill>
                  <a:srgbClr val="C1341C"/>
                </a:solidFill>
                <a:latin typeface="Courier New" pitchFamily="34" charset="0"/>
                <a:ea typeface="Courier New" pitchFamily="34" charset="-122"/>
                <a:cs typeface="Courier New" pitchFamily="34" charset="-120"/>
              </a:rPr>
              <a:t>2025-12  ·  15TH STREET</a:t>
            </a:r>
            <a:endParaRPr lang="en-US" sz="1050" dirty="0"/>
          </a:p>
        </p:txBody>
      </p:sp>
      <p:sp>
        <p:nvSpPr>
          <p:cNvPr id="6" name="Text 4"/>
          <p:cNvSpPr txBox="1"/>
          <p:nvPr/>
        </p:nvSpPr>
        <p:spPr>
          <a:xfrm>
            <a:off x="822960" y="2194560"/>
            <a:ext cx="3072384" cy="384048"/>
          </a:xfrm>
          <a:prstGeom prst="rect">
            <a:avLst/>
          </a:prstGeom>
          <a:noFill/>
          <a:ln/>
        </p:spPr>
        <p:txBody>
          <a:bodyPr wrap="square" lIns="0" tIns="0" rIns="0" bIns="0" rtlCol="0" anchor="t"/>
          <a:lstStyle/>
          <a:p>
            <a:pPr indent="0" marL="0">
              <a:buNone/>
            </a:pPr>
            <a:r>
              <a:rPr lang="en-US" sz="1500" b="1" dirty="0">
                <a:solidFill>
                  <a:srgbClr val="22201D"/>
                </a:solidFill>
                <a:latin typeface="Cambria" pitchFamily="34" charset="0"/>
                <a:ea typeface="Cambria" pitchFamily="34" charset="-122"/>
                <a:cs typeface="Cambria" pitchFamily="34" charset="-120"/>
              </a:rPr>
              <a:t>Engine blocked, stabbing call</a:t>
            </a:r>
            <a:endParaRPr lang="en-US" sz="1500" dirty="0"/>
          </a:p>
        </p:txBody>
      </p:sp>
      <p:sp>
        <p:nvSpPr>
          <p:cNvPr id="7" name="Text 5"/>
          <p:cNvSpPr txBox="1"/>
          <p:nvPr/>
        </p:nvSpPr>
        <p:spPr>
          <a:xfrm>
            <a:off x="822960" y="2615184"/>
            <a:ext cx="3072384" cy="117043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Crews knocked on the window for customer service. Remote repositioning failed. Firefighters operated the vehicle themselves and it malfunctioned in reverse. Fifteen minutes. Another crew arrived first.</a:t>
            </a:r>
            <a:endParaRPr lang="en-US" sz="1250" dirty="0"/>
          </a:p>
        </p:txBody>
      </p:sp>
      <p:sp>
        <p:nvSpPr>
          <p:cNvPr id="8" name="Shape 6"/>
          <p:cNvSpPr/>
          <p:nvPr/>
        </p:nvSpPr>
        <p:spPr>
          <a:xfrm>
            <a:off x="4379976" y="1773936"/>
            <a:ext cx="3584448" cy="2212848"/>
          </a:xfrm>
          <a:prstGeom prst="roundRect">
            <a:avLst>
              <a:gd name="adj" fmla="val 2479"/>
            </a:avLst>
          </a:prstGeom>
          <a:solidFill>
            <a:srgbClr val="FFFFFF"/>
          </a:solidFill>
          <a:ln w="12700">
            <a:solidFill>
              <a:srgbClr val="EDE9E4"/>
            </a:solidFill>
            <a:prstDash val="solid"/>
          </a:ln>
          <a:effectLst>
            <a:outerShdw sx="100000" sy="100000" kx="0" ky="0" algn="bl" rotWithShape="0" blurRad="88900" dist="12700" dir="5400000">
              <a:srgbClr val="9A9088">
                <a:alpha val="16000"/>
              </a:srgbClr>
            </a:outerShdw>
          </a:effectLst>
        </p:spPr>
      </p:sp>
      <p:sp>
        <p:nvSpPr>
          <p:cNvPr id="9" name="Text 7"/>
          <p:cNvSpPr txBox="1"/>
          <p:nvPr/>
        </p:nvSpPr>
        <p:spPr>
          <a:xfrm>
            <a:off x="4636008" y="1956816"/>
            <a:ext cx="3072384" cy="219456"/>
          </a:xfrm>
          <a:prstGeom prst="rect">
            <a:avLst/>
          </a:prstGeom>
          <a:noFill/>
          <a:ln/>
        </p:spPr>
        <p:txBody>
          <a:bodyPr wrap="square" lIns="0" tIns="0" rIns="0" bIns="0" rtlCol="0" anchor="t"/>
          <a:lstStyle/>
          <a:p>
            <a:pPr indent="0" marL="0">
              <a:buNone/>
            </a:pPr>
            <a:r>
              <a:rPr lang="en-US" sz="1050" b="1" spc="100" kern="0" dirty="0">
                <a:solidFill>
                  <a:srgbClr val="C1341C"/>
                </a:solidFill>
                <a:latin typeface="Courier New" pitchFamily="34" charset="0"/>
                <a:ea typeface="Courier New" pitchFamily="34" charset="-122"/>
                <a:cs typeface="Courier New" pitchFamily="34" charset="-120"/>
              </a:rPr>
              <a:t>2026-02-21  ·  SANCHEZ ST</a:t>
            </a:r>
            <a:endParaRPr lang="en-US" sz="1050" dirty="0"/>
          </a:p>
        </p:txBody>
      </p:sp>
      <p:sp>
        <p:nvSpPr>
          <p:cNvPr id="10" name="Text 8"/>
          <p:cNvSpPr txBox="1"/>
          <p:nvPr/>
        </p:nvSpPr>
        <p:spPr>
          <a:xfrm>
            <a:off x="4636008" y="2194560"/>
            <a:ext cx="3072384" cy="384048"/>
          </a:xfrm>
          <a:prstGeom prst="rect">
            <a:avLst/>
          </a:prstGeom>
          <a:noFill/>
          <a:ln/>
        </p:spPr>
        <p:txBody>
          <a:bodyPr wrap="square" lIns="0" tIns="0" rIns="0" bIns="0" rtlCol="0" anchor="t"/>
          <a:lstStyle/>
          <a:p>
            <a:pPr indent="0" marL="0">
              <a:buNone/>
            </a:pPr>
            <a:r>
              <a:rPr lang="en-US" sz="1500" b="1" dirty="0">
                <a:solidFill>
                  <a:srgbClr val="22201D"/>
                </a:solidFill>
                <a:latin typeface="Cambria" pitchFamily="34" charset="0"/>
                <a:ea typeface="Cambria" pitchFamily="34" charset="-122"/>
                <a:cs typeface="Cambria" pitchFamily="34" charset="-120"/>
              </a:rPr>
              <a:t>Engine blocked, respiratory call</a:t>
            </a:r>
            <a:endParaRPr lang="en-US" sz="1500" dirty="0"/>
          </a:p>
        </p:txBody>
      </p:sp>
      <p:sp>
        <p:nvSpPr>
          <p:cNvPr id="11" name="Text 9"/>
          <p:cNvSpPr txBox="1"/>
          <p:nvPr/>
        </p:nvSpPr>
        <p:spPr>
          <a:xfrm>
            <a:off x="4636008" y="2615184"/>
            <a:ext cx="3072384" cy="117043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A three-point turn put the vehicle across the engine's path. Clearing it took SFPD and a tow truck.</a:t>
            </a:r>
            <a:endParaRPr lang="en-US" sz="1250" dirty="0"/>
          </a:p>
        </p:txBody>
      </p:sp>
      <p:sp>
        <p:nvSpPr>
          <p:cNvPr id="12" name="Shape 10"/>
          <p:cNvSpPr/>
          <p:nvPr/>
        </p:nvSpPr>
        <p:spPr>
          <a:xfrm>
            <a:off x="8193024" y="1773936"/>
            <a:ext cx="3584448" cy="2212848"/>
          </a:xfrm>
          <a:prstGeom prst="roundRect">
            <a:avLst>
              <a:gd name="adj" fmla="val 2479"/>
            </a:avLst>
          </a:prstGeom>
          <a:solidFill>
            <a:srgbClr val="FFFFFF"/>
          </a:solidFill>
          <a:ln w="12700">
            <a:solidFill>
              <a:srgbClr val="EDE9E4"/>
            </a:solidFill>
            <a:prstDash val="solid"/>
          </a:ln>
          <a:effectLst>
            <a:outerShdw sx="100000" sy="100000" kx="0" ky="0" algn="bl" rotWithShape="0" blurRad="88900" dist="12700" dir="5400000">
              <a:srgbClr val="9A9088">
                <a:alpha val="16000"/>
              </a:srgbClr>
            </a:outerShdw>
          </a:effectLst>
        </p:spPr>
      </p:sp>
      <p:sp>
        <p:nvSpPr>
          <p:cNvPr id="13" name="Text 11"/>
          <p:cNvSpPr txBox="1"/>
          <p:nvPr/>
        </p:nvSpPr>
        <p:spPr>
          <a:xfrm>
            <a:off x="8449056" y="1956816"/>
            <a:ext cx="3072384" cy="219456"/>
          </a:xfrm>
          <a:prstGeom prst="rect">
            <a:avLst/>
          </a:prstGeom>
          <a:noFill/>
          <a:ln/>
        </p:spPr>
        <p:txBody>
          <a:bodyPr wrap="square" lIns="0" tIns="0" rIns="0" bIns="0" rtlCol="0" anchor="t"/>
          <a:lstStyle/>
          <a:p>
            <a:pPr indent="0" marL="0">
              <a:buNone/>
            </a:pPr>
            <a:r>
              <a:rPr lang="en-US" sz="1050" b="1" spc="100" kern="0" dirty="0">
                <a:solidFill>
                  <a:srgbClr val="C1341C"/>
                </a:solidFill>
                <a:latin typeface="Courier New" pitchFamily="34" charset="0"/>
                <a:ea typeface="Courier New" pitchFamily="34" charset="-122"/>
                <a:cs typeface="Courier New" pitchFamily="34" charset="-120"/>
              </a:rPr>
              <a:t>2026-06-20  ·  FIRE GROUND</a:t>
            </a:r>
            <a:endParaRPr lang="en-US" sz="1050" dirty="0"/>
          </a:p>
        </p:txBody>
      </p:sp>
      <p:sp>
        <p:nvSpPr>
          <p:cNvPr id="14" name="Text 12"/>
          <p:cNvSpPr txBox="1"/>
          <p:nvPr/>
        </p:nvSpPr>
        <p:spPr>
          <a:xfrm>
            <a:off x="8449056" y="2194560"/>
            <a:ext cx="3072384" cy="384048"/>
          </a:xfrm>
          <a:prstGeom prst="rect">
            <a:avLst/>
          </a:prstGeom>
          <a:noFill/>
          <a:ln/>
        </p:spPr>
        <p:txBody>
          <a:bodyPr wrap="square" lIns="0" tIns="0" rIns="0" bIns="0" rtlCol="0" anchor="t"/>
          <a:lstStyle/>
          <a:p>
            <a:pPr indent="0" marL="0">
              <a:buNone/>
            </a:pPr>
            <a:r>
              <a:rPr lang="en-US" sz="1500" b="1" dirty="0">
                <a:solidFill>
                  <a:srgbClr val="22201D"/>
                </a:solidFill>
                <a:latin typeface="Cambria" pitchFamily="34" charset="0"/>
                <a:ea typeface="Cambria" pitchFamily="34" charset="-122"/>
                <a:cs typeface="Cambria" pitchFamily="34" charset="-120"/>
              </a:rPr>
              <a:t>Vehicle drove into heavy smoke</a:t>
            </a:r>
            <a:endParaRPr lang="en-US" sz="1500" dirty="0"/>
          </a:p>
        </p:txBody>
      </p:sp>
      <p:sp>
        <p:nvSpPr>
          <p:cNvPr id="15" name="Text 13"/>
          <p:cNvSpPr txBox="1"/>
          <p:nvPr/>
        </p:nvSpPr>
        <p:spPr>
          <a:xfrm>
            <a:off x="8449056" y="2615184"/>
            <a:ext cx="3072384" cy="117043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An unoccupied vehicle entered an active fire scene obscured by smoke, braked hard, and stopped. It produced a 105-vehicle recall.</a:t>
            </a:r>
            <a:endParaRPr lang="en-US" sz="1250" dirty="0"/>
          </a:p>
        </p:txBody>
      </p:sp>
      <p:sp>
        <p:nvSpPr>
          <p:cNvPr id="16" name="Shape 14"/>
          <p:cNvSpPr/>
          <p:nvPr/>
        </p:nvSpPr>
        <p:spPr>
          <a:xfrm>
            <a:off x="566928" y="4261104"/>
            <a:ext cx="11057839" cy="1298448"/>
          </a:xfrm>
          <a:prstGeom prst="roundRect">
            <a:avLst>
              <a:gd name="adj" fmla="val 4930"/>
            </a:avLst>
          </a:prstGeom>
          <a:solidFill>
            <a:srgbClr val="F0DCD6"/>
          </a:solidFill>
          <a:ln w="12700">
            <a:solidFill>
              <a:srgbClr val="E2C4BB"/>
            </a:solidFill>
            <a:prstDash val="solid"/>
          </a:ln>
        </p:spPr>
      </p:sp>
      <p:sp>
        <p:nvSpPr>
          <p:cNvPr id="17" name="Text 15"/>
          <p:cNvSpPr txBox="1"/>
          <p:nvPr/>
        </p:nvSpPr>
        <p:spPr>
          <a:xfrm>
            <a:off x="877824" y="4462272"/>
            <a:ext cx="10436047" cy="914400"/>
          </a:xfrm>
          <a:prstGeom prst="rect">
            <a:avLst/>
          </a:prstGeom>
          <a:noFill/>
          <a:ln/>
        </p:spPr>
        <p:txBody>
          <a:bodyPr wrap="square" lIns="0" tIns="0" rIns="0" bIns="0" rtlCol="0" anchor="t"/>
          <a:lstStyle/>
          <a:p>
            <a:pPr indent="0" marL="0">
              <a:lnSpc>
                <a:spcPts val="2100"/>
              </a:lnSpc>
              <a:buNone/>
            </a:pPr>
            <a:r>
              <a:rPr lang="en-US" sz="1450" b="1" dirty="0">
                <a:solidFill>
                  <a:srgbClr val="22201D"/>
                </a:solidFill>
                <a:latin typeface="Calibri" pitchFamily="34" charset="0"/>
                <a:ea typeface="Calibri" pitchFamily="34" charset="-122"/>
                <a:cs typeface="Calibri" pitchFamily="34" charset="-120"/>
              </a:rPr>
              <a:t>The same lieutenant filed the same complaint about a vehicle blocking aerial positioning eleven months apart.</a:t>
            </a:r>
            <a:pPr indent="0" marL="0">
              <a:lnSpc>
                <a:spcPts val="2100"/>
              </a:lnSpc>
              <a:buNone/>
            </a:pPr>
            <a:r>
              <a:rPr lang="en-US" sz="1450" dirty="0">
                <a:solidFill>
                  <a:srgbClr val="6B625A"/>
                </a:solidFill>
                <a:latin typeface="Calibri" pitchFamily="34" charset="0"/>
                <a:ea typeface="Calibri" pitchFamily="34" charset="-122"/>
                <a:cs typeface="Calibri" pitchFamily="34" charset="-120"/>
              </a:rPr>
              <a:t>  Nothing between those two reports changed the outcome. Separately, the department has responded to over 100 vehicle-initiated 911 calls to wake sleeping passengers.</a:t>
            </a:r>
            <a:endParaRPr lang="en-US" sz="1450" dirty="0"/>
          </a:p>
        </p:txBody>
      </p:sp>
      <p:sp>
        <p:nvSpPr>
          <p:cNvPr id="18" name="Text 16"/>
          <p:cNvSpPr txBox="1"/>
          <p:nvPr/>
        </p:nvSpPr>
        <p:spPr>
          <a:xfrm>
            <a:off x="566928" y="6291072"/>
            <a:ext cx="11057839" cy="274320"/>
          </a:xfrm>
          <a:prstGeom prst="rect">
            <a:avLst/>
          </a:prstGeom>
          <a:noFill/>
          <a:ln/>
        </p:spPr>
        <p:txBody>
          <a:bodyPr wrap="square" lIns="0" tIns="0" rIns="0" bIns="0" rtlCol="0" anchor="t"/>
          <a:lstStyle/>
          <a:p>
            <a:pPr indent="0" marL="0">
              <a:buNone/>
            </a:pPr>
            <a:r>
              <a:rPr lang="en-US" sz="1000" dirty="0">
                <a:solidFill>
                  <a:srgbClr val="6B625A"/>
                </a:solidFill>
                <a:latin typeface="Calibri" pitchFamily="34" charset="0"/>
                <a:ea typeface="Calibri" pitchFamily="34" charset="-122"/>
                <a:cs typeface="Calibri" pitchFamily="34" charset="-120"/>
              </a:rPr>
              <a:t>Source: San Francisco Standard, 10 July 2026, reviewing SFFD incident reports. Recall figure: NHTSA via Al Jazeera, 17 July 2026.</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WHERE THINGS STAND</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California already requires it. Nobody has written what it is.</a:t>
            </a:r>
            <a:endParaRPr lang="en-US" sz="3400" dirty="0"/>
          </a:p>
        </p:txBody>
      </p:sp>
      <p:sp>
        <p:nvSpPr>
          <p:cNvPr id="4" name="Shape 2"/>
          <p:cNvSpPr/>
          <p:nvPr/>
        </p:nvSpPr>
        <p:spPr>
          <a:xfrm>
            <a:off x="585216" y="1901952"/>
            <a:ext cx="274320" cy="274320"/>
          </a:xfrm>
          <a:prstGeom prst="ellipse">
            <a:avLst/>
          </a:prstGeom>
          <a:solidFill>
            <a:srgbClr val="2E6E85"/>
          </a:solidFill>
          <a:ln w="12700">
            <a:solidFill>
              <a:srgbClr val="2E6E85"/>
            </a:solidFill>
            <a:prstDash val="solid"/>
          </a:ln>
        </p:spPr>
      </p:sp>
      <p:sp>
        <p:nvSpPr>
          <p:cNvPr id="5" name="Text 3"/>
          <p:cNvSpPr txBox="1"/>
          <p:nvPr/>
        </p:nvSpPr>
        <p:spPr>
          <a:xfrm>
            <a:off x="1042416" y="1874520"/>
            <a:ext cx="1481328" cy="256032"/>
          </a:xfrm>
          <a:prstGeom prst="rect">
            <a:avLst/>
          </a:prstGeom>
          <a:noFill/>
          <a:ln/>
        </p:spPr>
        <p:txBody>
          <a:bodyPr wrap="square" lIns="0" tIns="0" rIns="0" bIns="0" rtlCol="0" anchor="t"/>
          <a:lstStyle/>
          <a:p>
            <a:pPr indent="0" marL="0">
              <a:buNone/>
            </a:pPr>
            <a:r>
              <a:rPr lang="en-US" sz="1150" b="1" dirty="0">
                <a:solidFill>
                  <a:srgbClr val="2E6E85"/>
                </a:solidFill>
                <a:latin typeface="Courier New" pitchFamily="34" charset="0"/>
                <a:ea typeface="Courier New" pitchFamily="34" charset="-122"/>
                <a:cs typeface="Courier New" pitchFamily="34" charset="-120"/>
              </a:rPr>
              <a:t>28 APR 2026</a:t>
            </a:r>
            <a:endParaRPr lang="en-US" sz="1150" dirty="0"/>
          </a:p>
        </p:txBody>
      </p:sp>
      <p:sp>
        <p:nvSpPr>
          <p:cNvPr id="6" name="Text 4"/>
          <p:cNvSpPr txBox="1"/>
          <p:nvPr/>
        </p:nvSpPr>
        <p:spPr>
          <a:xfrm>
            <a:off x="2651760" y="1810512"/>
            <a:ext cx="9052560" cy="384048"/>
          </a:xfrm>
          <a:prstGeom prst="rect">
            <a:avLst/>
          </a:prstGeom>
          <a:noFill/>
          <a:ln/>
        </p:spPr>
        <p:txBody>
          <a:bodyPr wrap="square" lIns="0" tIns="0" rIns="0" bIns="0" rtlCol="0" anchor="t"/>
          <a:lstStyle/>
          <a:p>
            <a:pPr indent="0" marL="0">
              <a:buNone/>
            </a:pPr>
            <a:r>
              <a:rPr lang="en-US" sz="1900" b="1" dirty="0">
                <a:solidFill>
                  <a:srgbClr val="22201D"/>
                </a:solidFill>
                <a:latin typeface="Cambria" pitchFamily="34" charset="0"/>
                <a:ea typeface="Cambria" pitchFamily="34" charset="-122"/>
                <a:cs typeface="Cambria" pitchFamily="34" charset="-120"/>
              </a:rPr>
              <a:t>California DMV rules take effect</a:t>
            </a:r>
            <a:endParaRPr lang="en-US" sz="1900" dirty="0"/>
          </a:p>
        </p:txBody>
      </p:sp>
      <p:sp>
        <p:nvSpPr>
          <p:cNvPr id="7" name="Text 5"/>
          <p:cNvSpPr txBox="1"/>
          <p:nvPr/>
        </p:nvSpPr>
        <p:spPr>
          <a:xfrm>
            <a:off x="2651760" y="2212848"/>
            <a:ext cx="9052560" cy="694944"/>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New testing and deployment regulations. First responder interaction plans reviewed annually, remote support reachable in 30 seconds.</a:t>
            </a:r>
            <a:endParaRPr lang="en-US" sz="1250" dirty="0"/>
          </a:p>
        </p:txBody>
      </p:sp>
      <p:sp>
        <p:nvSpPr>
          <p:cNvPr id="8" name="Shape 6"/>
          <p:cNvSpPr/>
          <p:nvPr/>
        </p:nvSpPr>
        <p:spPr>
          <a:xfrm>
            <a:off x="585216" y="2871216"/>
            <a:ext cx="274320" cy="274320"/>
          </a:xfrm>
          <a:prstGeom prst="ellipse">
            <a:avLst/>
          </a:prstGeom>
          <a:solidFill>
            <a:srgbClr val="C1341C"/>
          </a:solidFill>
          <a:ln w="12700">
            <a:solidFill>
              <a:srgbClr val="C1341C"/>
            </a:solidFill>
            <a:prstDash val="solid"/>
          </a:ln>
        </p:spPr>
      </p:sp>
      <p:sp>
        <p:nvSpPr>
          <p:cNvPr id="9" name="Text 7"/>
          <p:cNvSpPr txBox="1"/>
          <p:nvPr/>
        </p:nvSpPr>
        <p:spPr>
          <a:xfrm>
            <a:off x="1042416" y="2843784"/>
            <a:ext cx="1481328" cy="256032"/>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1 JUL 2026</a:t>
            </a:r>
            <a:endParaRPr lang="en-US" sz="1150" dirty="0"/>
          </a:p>
        </p:txBody>
      </p:sp>
      <p:sp>
        <p:nvSpPr>
          <p:cNvPr id="10" name="Text 8"/>
          <p:cNvSpPr txBox="1"/>
          <p:nvPr/>
        </p:nvSpPr>
        <p:spPr>
          <a:xfrm>
            <a:off x="2651760" y="2779776"/>
            <a:ext cx="9052560" cy="384048"/>
          </a:xfrm>
          <a:prstGeom prst="rect">
            <a:avLst/>
          </a:prstGeom>
          <a:noFill/>
          <a:ln/>
        </p:spPr>
        <p:txBody>
          <a:bodyPr wrap="square" lIns="0" tIns="0" rIns="0" bIns="0" rtlCol="0" anchor="t"/>
          <a:lstStyle/>
          <a:p>
            <a:pPr indent="0" marL="0">
              <a:buNone/>
            </a:pPr>
            <a:r>
              <a:rPr lang="en-US" sz="1900" b="1" dirty="0">
                <a:solidFill>
                  <a:srgbClr val="22201D"/>
                </a:solidFill>
                <a:latin typeface="Cambria" pitchFamily="34" charset="0"/>
                <a:ea typeface="Cambria" pitchFamily="34" charset="-122"/>
                <a:cs typeface="Cambria" pitchFamily="34" charset="-120"/>
              </a:rPr>
              <a:t>A two-minute duty becomes law</a:t>
            </a:r>
            <a:endParaRPr lang="en-US" sz="1900" dirty="0"/>
          </a:p>
        </p:txBody>
      </p:sp>
      <p:sp>
        <p:nvSpPr>
          <p:cNvPr id="11" name="Text 9"/>
          <p:cNvSpPr txBox="1"/>
          <p:nvPr/>
        </p:nvSpPr>
        <p:spPr>
          <a:xfrm>
            <a:off x="2651760" y="3182112"/>
            <a:ext cx="9052560" cy="694944"/>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Vehicle Code 38751: an emergency response official may issue an emergency geofencing message, and the manufacturer must direct its fleet to leave or avoid the area within two minutes. In force today.</a:t>
            </a:r>
            <a:endParaRPr lang="en-US" sz="1250" dirty="0"/>
          </a:p>
        </p:txBody>
      </p:sp>
      <p:sp>
        <p:nvSpPr>
          <p:cNvPr id="12" name="Shape 10"/>
          <p:cNvSpPr/>
          <p:nvPr/>
        </p:nvSpPr>
        <p:spPr>
          <a:xfrm>
            <a:off x="585216" y="3840480"/>
            <a:ext cx="274320" cy="274320"/>
          </a:xfrm>
          <a:prstGeom prst="ellipse">
            <a:avLst/>
          </a:prstGeom>
          <a:solidFill>
            <a:srgbClr val="B07818"/>
          </a:solidFill>
          <a:ln w="12700">
            <a:solidFill>
              <a:srgbClr val="B07818"/>
            </a:solidFill>
            <a:prstDash val="solid"/>
          </a:ln>
        </p:spPr>
      </p:sp>
      <p:sp>
        <p:nvSpPr>
          <p:cNvPr id="13" name="Text 11"/>
          <p:cNvSpPr txBox="1"/>
          <p:nvPr/>
        </p:nvSpPr>
        <p:spPr>
          <a:xfrm>
            <a:off x="1042416" y="3813048"/>
            <a:ext cx="1481328" cy="256032"/>
          </a:xfrm>
          <a:prstGeom prst="rect">
            <a:avLst/>
          </a:prstGeom>
          <a:noFill/>
          <a:ln/>
        </p:spPr>
        <p:txBody>
          <a:bodyPr wrap="square" lIns="0" tIns="0" rIns="0" bIns="0" rtlCol="0" anchor="t"/>
          <a:lstStyle/>
          <a:p>
            <a:pPr indent="0" marL="0">
              <a:buNone/>
            </a:pPr>
            <a:r>
              <a:rPr lang="en-US" sz="1150" b="1" dirty="0">
                <a:solidFill>
                  <a:srgbClr val="B07818"/>
                </a:solidFill>
                <a:latin typeface="Courier New" pitchFamily="34" charset="0"/>
                <a:ea typeface="Courier New" pitchFamily="34" charset="-122"/>
                <a:cs typeface="Courier New" pitchFamily="34" charset="-120"/>
              </a:rPr>
              <a:t>8 JUL 2026</a:t>
            </a:r>
            <a:endParaRPr lang="en-US" sz="1150" dirty="0"/>
          </a:p>
        </p:txBody>
      </p:sp>
      <p:sp>
        <p:nvSpPr>
          <p:cNvPr id="14" name="Text 12"/>
          <p:cNvSpPr txBox="1"/>
          <p:nvPr/>
        </p:nvSpPr>
        <p:spPr>
          <a:xfrm>
            <a:off x="2651760" y="3749040"/>
            <a:ext cx="9052560" cy="384048"/>
          </a:xfrm>
          <a:prstGeom prst="rect">
            <a:avLst/>
          </a:prstGeom>
          <a:noFill/>
          <a:ln/>
        </p:spPr>
        <p:txBody>
          <a:bodyPr wrap="square" lIns="0" tIns="0" rIns="0" bIns="0" rtlCol="0" anchor="t"/>
          <a:lstStyle/>
          <a:p>
            <a:pPr indent="0" marL="0">
              <a:buNone/>
            </a:pPr>
            <a:r>
              <a:rPr lang="en-US" sz="1900" b="1" dirty="0">
                <a:solidFill>
                  <a:srgbClr val="22201D"/>
                </a:solidFill>
                <a:latin typeface="Cambria" pitchFamily="34" charset="0"/>
                <a:ea typeface="Cambria" pitchFamily="34" charset="-122"/>
                <a:cs typeface="Cambria" pitchFamily="34" charset="-120"/>
              </a:rPr>
              <a:t>NHTSA calls it a functional insufficiency</a:t>
            </a:r>
            <a:endParaRPr lang="en-US" sz="1900" dirty="0"/>
          </a:p>
        </p:txBody>
      </p:sp>
      <p:sp>
        <p:nvSpPr>
          <p:cNvPr id="15" name="Text 13"/>
          <p:cNvSpPr txBox="1"/>
          <p:nvPr/>
        </p:nvSpPr>
        <p:spPr>
          <a:xfrm>
            <a:off x="2651760" y="4151376"/>
            <a:ext cx="9052560" cy="694944"/>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To AV developers: a vehicle that cannot safely interact with first responders is a danger to the general public. Remediation plans due in three weeks.</a:t>
            </a:r>
            <a:endParaRPr lang="en-US" sz="1250" dirty="0"/>
          </a:p>
        </p:txBody>
      </p:sp>
      <p:sp>
        <p:nvSpPr>
          <p:cNvPr id="16" name="Shape 14"/>
          <p:cNvSpPr/>
          <p:nvPr/>
        </p:nvSpPr>
        <p:spPr>
          <a:xfrm>
            <a:off x="585216" y="4809744"/>
            <a:ext cx="274320" cy="274320"/>
          </a:xfrm>
          <a:prstGeom prst="ellipse">
            <a:avLst/>
          </a:prstGeom>
          <a:solidFill>
            <a:srgbClr val="2E6E85"/>
          </a:solidFill>
          <a:ln w="12700">
            <a:solidFill>
              <a:srgbClr val="2E6E85"/>
            </a:solidFill>
            <a:prstDash val="solid"/>
          </a:ln>
        </p:spPr>
      </p:sp>
      <p:sp>
        <p:nvSpPr>
          <p:cNvPr id="17" name="Text 15"/>
          <p:cNvSpPr txBox="1"/>
          <p:nvPr/>
        </p:nvSpPr>
        <p:spPr>
          <a:xfrm>
            <a:off x="1042416" y="4782312"/>
            <a:ext cx="1481328" cy="256032"/>
          </a:xfrm>
          <a:prstGeom prst="rect">
            <a:avLst/>
          </a:prstGeom>
          <a:noFill/>
          <a:ln/>
        </p:spPr>
        <p:txBody>
          <a:bodyPr wrap="square" lIns="0" tIns="0" rIns="0" bIns="0" rtlCol="0" anchor="t"/>
          <a:lstStyle/>
          <a:p>
            <a:pPr indent="0" marL="0">
              <a:buNone/>
            </a:pPr>
            <a:r>
              <a:rPr lang="en-US" sz="1150" b="1" dirty="0">
                <a:solidFill>
                  <a:srgbClr val="2E6E85"/>
                </a:solidFill>
                <a:latin typeface="Courier New" pitchFamily="34" charset="0"/>
                <a:ea typeface="Courier New" pitchFamily="34" charset="-122"/>
                <a:cs typeface="Courier New" pitchFamily="34" charset="-120"/>
              </a:rPr>
              <a:t>28 JUL 2026</a:t>
            </a:r>
            <a:endParaRPr lang="en-US" sz="1150" dirty="0"/>
          </a:p>
        </p:txBody>
      </p:sp>
      <p:sp>
        <p:nvSpPr>
          <p:cNvPr id="18" name="Text 16"/>
          <p:cNvSpPr txBox="1"/>
          <p:nvPr/>
        </p:nvSpPr>
        <p:spPr>
          <a:xfrm>
            <a:off x="2651760" y="4718304"/>
            <a:ext cx="9052560" cy="384048"/>
          </a:xfrm>
          <a:prstGeom prst="rect">
            <a:avLst/>
          </a:prstGeom>
          <a:noFill/>
          <a:ln/>
        </p:spPr>
        <p:txBody>
          <a:bodyPr wrap="square" lIns="0" tIns="0" rIns="0" bIns="0" rtlCol="0" anchor="t"/>
          <a:lstStyle/>
          <a:p>
            <a:pPr indent="0" marL="0">
              <a:buNone/>
            </a:pPr>
            <a:r>
              <a:rPr lang="en-US" sz="1900" b="1" dirty="0">
                <a:solidFill>
                  <a:srgbClr val="22201D"/>
                </a:solidFill>
                <a:latin typeface="Cambria" pitchFamily="34" charset="0"/>
                <a:ea typeface="Cambria" pitchFamily="34" charset="-122"/>
                <a:cs typeface="Cambria" pitchFamily="34" charset="-120"/>
              </a:rPr>
              <a:t>H.R. 10033 introduced</a:t>
            </a:r>
            <a:endParaRPr lang="en-US" sz="1900" dirty="0"/>
          </a:p>
        </p:txBody>
      </p:sp>
      <p:sp>
        <p:nvSpPr>
          <p:cNvPr id="19" name="Text 17"/>
          <p:cNvSpPr txBox="1"/>
          <p:nvPr/>
        </p:nvSpPr>
        <p:spPr>
          <a:xfrm>
            <a:off x="2651760" y="5120640"/>
            <a:ext cx="9052560" cy="694944"/>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The AV Emergency Response Coordination Act would take the same idea national. Introduced, not passed.</a:t>
            </a:r>
            <a:endParaRPr lang="en-US" sz="1250" dirty="0"/>
          </a:p>
        </p:txBody>
      </p:sp>
      <p:sp>
        <p:nvSpPr>
          <p:cNvPr id="20" name="Shape 18"/>
          <p:cNvSpPr/>
          <p:nvPr/>
        </p:nvSpPr>
        <p:spPr>
          <a:xfrm>
            <a:off x="566928" y="5705856"/>
            <a:ext cx="11057839" cy="585216"/>
          </a:xfrm>
          <a:prstGeom prst="roundRect">
            <a:avLst>
              <a:gd name="adj" fmla="val 9375"/>
            </a:avLst>
          </a:prstGeom>
          <a:solidFill>
            <a:srgbClr val="EDE9E4"/>
          </a:solidFill>
          <a:ln w="12700">
            <a:solidFill>
              <a:srgbClr val="DED8D1"/>
            </a:solidFill>
            <a:prstDash val="solid"/>
          </a:ln>
        </p:spPr>
      </p:sp>
      <p:sp>
        <p:nvSpPr>
          <p:cNvPr id="21" name="Text 19"/>
          <p:cNvSpPr txBox="1"/>
          <p:nvPr/>
        </p:nvSpPr>
        <p:spPr>
          <a:xfrm>
            <a:off x="841248" y="5833872"/>
            <a:ext cx="10509199" cy="384048"/>
          </a:xfrm>
          <a:prstGeom prst="rect">
            <a:avLst/>
          </a:prstGeom>
          <a:noFill/>
          <a:ln/>
        </p:spPr>
        <p:txBody>
          <a:bodyPr wrap="square" lIns="0" tIns="0" rIns="0" bIns="0" rtlCol="0" anchor="t"/>
          <a:lstStyle/>
          <a:p>
            <a:pPr indent="0" marL="0">
              <a:buNone/>
            </a:pPr>
            <a:r>
              <a:rPr lang="en-US" sz="1400" i="1" dirty="0">
                <a:solidFill>
                  <a:srgbClr val="22201D"/>
                </a:solidFill>
                <a:latin typeface="Calibri" pitchFamily="34" charset="0"/>
                <a:ea typeface="Calibri" pitchFamily="34" charset="-122"/>
                <a:cs typeface="Calibri" pitchFamily="34" charset="-120"/>
              </a:rPr>
              <a:t>This is no longer a question of whether the authority arrives. In California it arrived on 1 July. What a geofencing message actually is remains undefined, and that is what is being decided now.</a:t>
            </a:r>
            <a:endParaRPr lang="en-US" sz="1400" dirty="0"/>
          </a:p>
        </p:txBody>
      </p:sp>
      <p:sp>
        <p:nvSpPr>
          <p:cNvPr id="22" name="Text 20"/>
          <p:cNvSpPr txBox="1"/>
          <p:nvPr/>
        </p:nvSpPr>
        <p:spPr>
          <a:xfrm>
            <a:off x="566928" y="6291072"/>
            <a:ext cx="11057839" cy="274320"/>
          </a:xfrm>
          <a:prstGeom prst="rect">
            <a:avLst/>
          </a:prstGeom>
          <a:noFill/>
          <a:ln/>
        </p:spPr>
        <p:txBody>
          <a:bodyPr wrap="square" lIns="0" tIns="0" rIns="0" bIns="0" rtlCol="0" anchor="t"/>
          <a:lstStyle/>
          <a:p>
            <a:pP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1A18"/>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THE GAP</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F2EEE9"/>
                </a:solidFill>
                <a:latin typeface="Cambria" pitchFamily="34" charset="0"/>
                <a:ea typeface="Cambria" pitchFamily="34" charset="-122"/>
                <a:cs typeface="Cambria" pitchFamily="34" charset="-120"/>
              </a:rPr>
              <a:t>The law grants the authority. It does not say what a notice is.</a:t>
            </a:r>
            <a:endParaRPr lang="en-US" sz="3400" dirty="0"/>
          </a:p>
        </p:txBody>
      </p:sp>
      <p:sp>
        <p:nvSpPr>
          <p:cNvPr id="4" name="Text 2"/>
          <p:cNvSpPr txBox="1"/>
          <p:nvPr/>
        </p:nvSpPr>
        <p:spPr>
          <a:xfrm>
            <a:off x="566928" y="1847088"/>
            <a:ext cx="6858000" cy="1371600"/>
          </a:xfrm>
          <a:prstGeom prst="rect">
            <a:avLst/>
          </a:prstGeom>
          <a:noFill/>
          <a:ln/>
        </p:spPr>
        <p:txBody>
          <a:bodyPr wrap="square" lIns="0" tIns="0" rIns="0" bIns="0" rtlCol="0" anchor="t"/>
          <a:lstStyle/>
          <a:p>
            <a:pPr indent="0" marL="0">
              <a:lnSpc>
                <a:spcPts val="2800"/>
              </a:lnSpc>
              <a:buNone/>
            </a:pPr>
            <a:r>
              <a:rPr lang="en-US" sz="1900" i="1" dirty="0">
                <a:solidFill>
                  <a:srgbClr val="F2EEE9"/>
                </a:solidFill>
                <a:latin typeface="Cambria" pitchFamily="34" charset="0"/>
                <a:ea typeface="Cambria" pitchFamily="34" charset="-122"/>
                <a:cs typeface="Cambria" pitchFamily="34" charset="-120"/>
              </a:rPr>
              <a:t>“a message using commonly available communication methods to identify a location using a street address, intersection, coordinates, or any other reasonable and customary way of identifying a location, that directs an autonomous vehicle to leave or avoid an area because of an emergency”</a:t>
            </a:r>
            <a:endParaRPr lang="en-US" sz="1900" dirty="0"/>
          </a:p>
        </p:txBody>
      </p:sp>
      <p:sp>
        <p:nvSpPr>
          <p:cNvPr id="5" name="Text 3"/>
          <p:cNvSpPr txBox="1"/>
          <p:nvPr/>
        </p:nvSpPr>
        <p:spPr>
          <a:xfrm>
            <a:off x="566928" y="3291840"/>
            <a:ext cx="6858000" cy="274320"/>
          </a:xfrm>
          <a:prstGeom prst="rect">
            <a:avLst/>
          </a:prstGeom>
          <a:noFill/>
          <a:ln/>
        </p:spPr>
        <p:txBody>
          <a:bodyPr wrap="square" lIns="0" tIns="0" rIns="0" bIns="0" rtlCol="0" anchor="t"/>
          <a:lstStyle/>
          <a:p>
            <a:pPr indent="0" marL="0">
              <a:buNone/>
            </a:pPr>
            <a:r>
              <a:rPr lang="en-US" sz="1100" dirty="0">
                <a:solidFill>
                  <a:srgbClr val="A79C90"/>
                </a:solidFill>
                <a:latin typeface="Courier New" pitchFamily="34" charset="0"/>
                <a:ea typeface="Courier New" pitchFamily="34" charset="-122"/>
                <a:cs typeface="Courier New" pitchFamily="34" charset="-120"/>
              </a:rPr>
              <a:t>13 CCR 227.02(cc). The federal bill's definition is no more specific.</a:t>
            </a:r>
            <a:endParaRPr lang="en-US" sz="1100" dirty="0"/>
          </a:p>
        </p:txBody>
      </p:sp>
      <p:sp>
        <p:nvSpPr>
          <p:cNvPr id="6" name="Text 4"/>
          <p:cNvSpPr txBox="1"/>
          <p:nvPr/>
        </p:nvSpPr>
        <p:spPr>
          <a:xfrm>
            <a:off x="566928" y="3858768"/>
            <a:ext cx="6858000" cy="1828800"/>
          </a:xfrm>
          <a:prstGeom prst="rect">
            <a:avLst/>
          </a:prstGeom>
          <a:noFill/>
          <a:ln/>
        </p:spPr>
        <p:txBody>
          <a:bodyPr wrap="square" lIns="0" tIns="0" rIns="0" bIns="0" rtlCol="0" anchor="t"/>
          <a:lstStyle/>
          <a:p>
            <a:pPr indent="0" marL="0">
              <a:lnSpc>
                <a:spcPts val="2300"/>
              </a:lnSpc>
              <a:buNone/>
            </a:pPr>
            <a:r>
              <a:rPr lang="en-US" sz="1550" dirty="0">
                <a:solidFill>
                  <a:srgbClr val="A79C90"/>
                </a:solidFill>
                <a:latin typeface="Calibri" pitchFamily="34" charset="0"/>
                <a:ea typeface="Calibri" pitchFamily="34" charset="-122"/>
                <a:cs typeface="Calibri" pitchFamily="34" charset="-120"/>
              </a:rPr>
              <a:t>That is the entire definition, and a two-minute mandatory action hangs off it. It does not say how an operator knows the message is really from you, what “avoid” requires a vehicle to do, what happens to the vehicles already inside, or how big an area “Valencia and 19th” is.</a:t>
            </a:r>
            <a:endParaRPr lang="en-US" sz="1550" dirty="0"/>
          </a:p>
          <a:p>
            <a:pPr indent="0" marL="0">
              <a:lnSpc>
                <a:spcPts val="2300"/>
              </a:lnSpc>
              <a:buNone/>
            </a:pPr>
            <a:endParaRPr lang="en-US" sz="1550" dirty="0"/>
          </a:p>
          <a:p>
            <a:pPr indent="0" marL="0">
              <a:lnSpc>
                <a:spcPts val="2300"/>
              </a:lnSpc>
              <a:buNone/>
            </a:pPr>
            <a:r>
              <a:rPr lang="en-US" sz="1550" dirty="0">
                <a:solidFill>
                  <a:srgbClr val="A79C90"/>
                </a:solidFill>
                <a:latin typeface="Calibri" pitchFamily="34" charset="0"/>
                <a:ea typeface="Calibri" pitchFamily="34" charset="-122"/>
                <a:cs typeface="Calibri" pitchFamily="34" charset="-120"/>
              </a:rPr>
              <a:t>Every one of those is a question your incident commander will have to settle on scene, once per operator, unless somebody writes it down first.</a:t>
            </a:r>
            <a:endParaRPr lang="en-US" sz="1550" dirty="0"/>
          </a:p>
        </p:txBody>
      </p:sp>
      <p:sp>
        <p:nvSpPr>
          <p:cNvPr id="7" name="Shape 5"/>
          <p:cNvSpPr/>
          <p:nvPr/>
        </p:nvSpPr>
        <p:spPr>
          <a:xfrm>
            <a:off x="7772400" y="1847088"/>
            <a:ext cx="3858768" cy="3200400"/>
          </a:xfrm>
          <a:prstGeom prst="roundRect">
            <a:avLst>
              <a:gd name="adj" fmla="val 2286"/>
            </a:avLst>
          </a:prstGeom>
          <a:solidFill>
            <a:srgbClr val="2A2622"/>
          </a:solidFill>
          <a:ln w="12700">
            <a:solidFill>
              <a:srgbClr val="3A342E"/>
            </a:solidFill>
            <a:prstDash val="solid"/>
          </a:ln>
        </p:spPr>
      </p:sp>
      <p:sp>
        <p:nvSpPr>
          <p:cNvPr id="8" name="Text 6"/>
          <p:cNvSpPr txBox="1"/>
          <p:nvPr/>
        </p:nvSpPr>
        <p:spPr>
          <a:xfrm>
            <a:off x="8046720" y="2066544"/>
            <a:ext cx="3310128" cy="310896"/>
          </a:xfrm>
          <a:prstGeom prst="rect">
            <a:avLst/>
          </a:prstGeom>
          <a:noFill/>
          <a:ln/>
        </p:spPr>
        <p:txBody>
          <a:bodyPr wrap="square" lIns="0" tIns="0" rIns="0" bIns="0" rtlCol="0" anchor="t"/>
          <a:lstStyle/>
          <a:p>
            <a:pPr indent="0" marL="0">
              <a:buNone/>
            </a:pPr>
            <a:r>
              <a:rPr lang="en-US" sz="1100" b="1" spc="140" kern="0" dirty="0">
                <a:solidFill>
                  <a:srgbClr val="C1341C"/>
                </a:solidFill>
                <a:latin typeface="Courier New" pitchFamily="34" charset="0"/>
                <a:ea typeface="Courier New" pitchFamily="34" charset="-122"/>
                <a:cs typeface="Courier New" pitchFamily="34" charset="-120"/>
              </a:rPr>
              <a:t>Without a defined message</a:t>
            </a:r>
            <a:endParaRPr lang="en-US" sz="1100" dirty="0"/>
          </a:p>
        </p:txBody>
      </p:sp>
      <p:sp>
        <p:nvSpPr>
          <p:cNvPr id="9" name="Text 7"/>
          <p:cNvSpPr txBox="1"/>
          <p:nvPr/>
        </p:nvSpPr>
        <p:spPr>
          <a:xfrm>
            <a:off x="8046720" y="2487168"/>
            <a:ext cx="3310128" cy="2377440"/>
          </a:xfrm>
          <a:prstGeom prst="rect">
            <a:avLst/>
          </a:prstGeom>
          <a:noFill/>
          <a:ln/>
        </p:spPr>
        <p:txBody>
          <a:bodyPr wrap="square" lIns="0" tIns="0" rIns="0" bIns="0" rtlCol="0" anchor="t"/>
          <a:lstStyle/>
          <a:p>
            <a:pPr marL="342900" indent="-342900">
              <a:lnSpc>
                <a:spcPts val="1900"/>
              </a:lnSpc>
              <a:spcAft>
                <a:spcPts val="900"/>
              </a:spcAft>
              <a:buSzPct val="100000"/>
              <a:buChar char="•"/>
            </a:pPr>
            <a:r>
              <a:rPr lang="en-US" sz="1350" dirty="0">
                <a:solidFill>
                  <a:srgbClr val="F2EEE9"/>
                </a:solidFill>
                <a:latin typeface="Calibri" pitchFamily="34" charset="0"/>
                <a:ea typeface="Calibri" pitchFamily="34" charset="-122"/>
                <a:cs typeface="Calibri" pitchFamily="34" charset="-120"/>
              </a:rPr>
              <a:t>Every operator builds its own intake form.</a:t>
            </a:r>
            <a:endParaRPr lang="en-US" sz="1350" dirty="0"/>
          </a:p>
          <a:p>
            <a:pPr marL="342900" indent="-342900">
              <a:lnSpc>
                <a:spcPts val="1900"/>
              </a:lnSpc>
              <a:spcAft>
                <a:spcPts val="900"/>
              </a:spcAft>
              <a:buSzPct val="100000"/>
              <a:buChar char="•"/>
            </a:pPr>
            <a:r>
              <a:rPr lang="en-US" sz="1350" dirty="0">
                <a:solidFill>
                  <a:srgbClr val="F2EEE9"/>
                </a:solidFill>
                <a:latin typeface="Calibri" pitchFamily="34" charset="0"/>
                <a:ea typeface="Calibri" pitchFamily="34" charset="-122"/>
                <a:cs typeface="Calibri" pitchFamily="34" charset="-120"/>
              </a:rPr>
              <a:t>A battalion chief negotiates separately with every company running vehicles in the city.</a:t>
            </a:r>
            <a:endParaRPr lang="en-US" sz="1350" dirty="0"/>
          </a:p>
          <a:p>
            <a:pPr marL="342900" indent="-342900">
              <a:lnSpc>
                <a:spcPts val="1900"/>
              </a:lnSpc>
              <a:spcAft>
                <a:spcPts val="900"/>
              </a:spcAft>
              <a:buSzPct val="100000"/>
              <a:buChar char="•"/>
            </a:pPr>
            <a:r>
              <a:rPr lang="en-US" sz="1350" dirty="0">
                <a:solidFill>
                  <a:srgbClr val="F2EEE9"/>
                </a:solidFill>
                <a:latin typeface="Calibri" pitchFamily="34" charset="0"/>
                <a:ea typeface="Calibri" pitchFamily="34" charset="-122"/>
                <a:cs typeface="Calibri" pitchFamily="34" charset="-120"/>
              </a:rPr>
              <a:t>Each arrangement has a different contact, a different form, a different idea of what “avoid” means.</a:t>
            </a:r>
            <a:endParaRPr lang="en-US" sz="1350" dirty="0"/>
          </a:p>
          <a:p>
            <a:pPr marL="342900" indent="-342900">
              <a:lnSpc>
                <a:spcPts val="1900"/>
              </a:lnSpc>
              <a:spcAft>
                <a:spcPts val="900"/>
              </a:spcAft>
              <a:buSzPct val="100000"/>
              <a:buChar char="•"/>
            </a:pPr>
            <a:r>
              <a:rPr lang="en-US" sz="1350" b="1" dirty="0">
                <a:solidFill>
                  <a:srgbClr val="F2EEE9"/>
                </a:solidFill>
                <a:latin typeface="Calibri" pitchFamily="34" charset="0"/>
                <a:ea typeface="Calibri" pitchFamily="34" charset="-122"/>
                <a:cs typeface="Calibri" pitchFamily="34" charset="-120"/>
              </a:rPr>
              <a:t>At 04:00 on a working fire, that is a phone tree.</a:t>
            </a:r>
            <a:endParaRPr lang="en-US" sz="1350" dirty="0"/>
          </a:p>
        </p:txBody>
      </p:sp>
      <p:sp>
        <p:nvSpPr>
          <p:cNvPr id="10" name="Text 8"/>
          <p:cNvSpPr txBox="1"/>
          <p:nvPr/>
        </p:nvSpPr>
        <p:spPr>
          <a:xfrm>
            <a:off x="566928" y="6291072"/>
            <a:ext cx="11057839" cy="274320"/>
          </a:xfrm>
          <a:prstGeom prst="rect">
            <a:avLst/>
          </a:prstGeom>
          <a:noFill/>
          <a:ln/>
        </p:spPr>
        <p:txBody>
          <a:bodyPr wrap="square" lIns="0" tIns="0" rIns="0" bIns="0" rtlCol="0" anchor="t"/>
          <a:lstStyle/>
          <a:p>
            <a:pPr indent="0" marL="0">
              <a:buNone/>
            </a:pPr>
            <a:r>
              <a:rPr lang="en-US" sz="1000" dirty="0">
                <a:solidFill>
                  <a:srgbClr val="A79C90"/>
                </a:solidFill>
                <a:latin typeface="Calibri" pitchFamily="34" charset="0"/>
                <a:ea typeface="Calibri" pitchFamily="34" charset="-122"/>
                <a:cs typeface="Calibri" pitchFamily="34" charset="-120"/>
              </a:rPr>
              <a:t>The IAFC's current guidance to chiefs is to study the federal strategy and read manufacturer response guides. Useful background. Not a mechanism.</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THE PROPOSAL</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One signed message. Five questions. Every operator.</a:t>
            </a:r>
            <a:endParaRPr lang="en-US" sz="3400" dirty="0"/>
          </a:p>
        </p:txBody>
      </p:sp>
      <p:sp>
        <p:nvSpPr>
          <p:cNvPr id="4" name="Shape 2"/>
          <p:cNvSpPr/>
          <p:nvPr/>
        </p:nvSpPr>
        <p:spPr>
          <a:xfrm>
            <a:off x="566928" y="1810512"/>
            <a:ext cx="2050633" cy="2743200"/>
          </a:xfrm>
          <a:prstGeom prst="roundRect">
            <a:avLst>
              <a:gd name="adj" fmla="val 3121"/>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5" name="Shape 3"/>
          <p:cNvSpPr/>
          <p:nvPr/>
        </p:nvSpPr>
        <p:spPr>
          <a:xfrm>
            <a:off x="786384" y="2048256"/>
            <a:ext cx="420624" cy="420624"/>
          </a:xfrm>
          <a:prstGeom prst="ellipse">
            <a:avLst/>
          </a:prstGeom>
          <a:solidFill>
            <a:srgbClr val="DCE7EB"/>
          </a:solidFill>
          <a:ln w="12700">
            <a:solidFill>
              <a:srgbClr val="DCE7EB"/>
            </a:solidFill>
            <a:prstDash val="solid"/>
          </a:ln>
        </p:spPr>
      </p:sp>
      <p:sp>
        <p:nvSpPr>
          <p:cNvPr id="6" name="Text 4"/>
          <p:cNvSpPr txBox="1"/>
          <p:nvPr/>
        </p:nvSpPr>
        <p:spPr>
          <a:xfrm>
            <a:off x="786384" y="2093976"/>
            <a:ext cx="420624" cy="329184"/>
          </a:xfrm>
          <a:prstGeom prst="rect">
            <a:avLst/>
          </a:prstGeom>
          <a:noFill/>
          <a:ln/>
        </p:spPr>
        <p:txBody>
          <a:bodyPr wrap="square" lIns="0" tIns="0" rIns="0" bIns="0" rtlCol="0" anchor="t"/>
          <a:lstStyle/>
          <a:p>
            <a:pPr algn="ctr" indent="0" marL="0">
              <a:buNone/>
            </a:pPr>
            <a:r>
              <a:rPr lang="en-US" sz="1600" b="1" dirty="0">
                <a:solidFill>
                  <a:srgbClr val="2E6E85"/>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786384" y="2615184"/>
            <a:ext cx="1611721" cy="256032"/>
          </a:xfrm>
          <a:prstGeom prst="rect">
            <a:avLst/>
          </a:prstGeom>
          <a:noFill/>
          <a:ln/>
        </p:spPr>
        <p:txBody>
          <a:bodyPr wrap="square" lIns="0" tIns="0" rIns="0" bIns="0" rtlCol="0" anchor="t"/>
          <a:lstStyle/>
          <a:p>
            <a:pPr indent="0" marL="0">
              <a:buNone/>
            </a:pPr>
            <a:r>
              <a:rPr lang="en-US" sz="1100" b="1" spc="160" kern="0" dirty="0">
                <a:solidFill>
                  <a:srgbClr val="C1341C"/>
                </a:solidFill>
                <a:latin typeface="Courier New" pitchFamily="34" charset="0"/>
                <a:ea typeface="Courier New" pitchFamily="34" charset="-122"/>
                <a:cs typeface="Courier New" pitchFamily="34" charset="-120"/>
              </a:rPr>
              <a:t>WHEN</a:t>
            </a:r>
            <a:endParaRPr lang="en-US" sz="1100" dirty="0"/>
          </a:p>
        </p:txBody>
      </p:sp>
      <p:sp>
        <p:nvSpPr>
          <p:cNvPr id="8" name="Text 6"/>
          <p:cNvSpPr txBox="1"/>
          <p:nvPr/>
        </p:nvSpPr>
        <p:spPr>
          <a:xfrm>
            <a:off x="786384" y="2871216"/>
            <a:ext cx="1611721" cy="548640"/>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Start and end</a:t>
            </a:r>
            <a:endParaRPr lang="en-US" sz="1600" dirty="0"/>
          </a:p>
        </p:txBody>
      </p:sp>
      <p:sp>
        <p:nvSpPr>
          <p:cNvPr id="9" name="Text 7"/>
          <p:cNvSpPr txBox="1"/>
          <p:nvPr/>
        </p:nvSpPr>
        <p:spPr>
          <a:xfrm>
            <a:off x="786384" y="3438144"/>
            <a:ext cx="1611721" cy="914400"/>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Every notice carries an end time. There is no open-ended form.</a:t>
            </a:r>
            <a:endParaRPr lang="en-US" sz="1200" dirty="0"/>
          </a:p>
        </p:txBody>
      </p:sp>
      <p:sp>
        <p:nvSpPr>
          <p:cNvPr id="10" name="Shape 8"/>
          <p:cNvSpPr/>
          <p:nvPr/>
        </p:nvSpPr>
        <p:spPr>
          <a:xfrm>
            <a:off x="2818729" y="1810512"/>
            <a:ext cx="2050633" cy="2743200"/>
          </a:xfrm>
          <a:prstGeom prst="roundRect">
            <a:avLst>
              <a:gd name="adj" fmla="val 3121"/>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11" name="Shape 9"/>
          <p:cNvSpPr/>
          <p:nvPr/>
        </p:nvSpPr>
        <p:spPr>
          <a:xfrm>
            <a:off x="3038185" y="2048256"/>
            <a:ext cx="420624" cy="420624"/>
          </a:xfrm>
          <a:prstGeom prst="ellipse">
            <a:avLst/>
          </a:prstGeom>
          <a:solidFill>
            <a:srgbClr val="DCE7EB"/>
          </a:solidFill>
          <a:ln w="12700">
            <a:solidFill>
              <a:srgbClr val="DCE7EB"/>
            </a:solidFill>
            <a:prstDash val="solid"/>
          </a:ln>
        </p:spPr>
      </p:sp>
      <p:sp>
        <p:nvSpPr>
          <p:cNvPr id="12" name="Text 10"/>
          <p:cNvSpPr txBox="1"/>
          <p:nvPr/>
        </p:nvSpPr>
        <p:spPr>
          <a:xfrm>
            <a:off x="3038185" y="2093976"/>
            <a:ext cx="420624" cy="329184"/>
          </a:xfrm>
          <a:prstGeom prst="rect">
            <a:avLst/>
          </a:prstGeom>
          <a:noFill/>
          <a:ln/>
        </p:spPr>
        <p:txBody>
          <a:bodyPr wrap="square" lIns="0" tIns="0" rIns="0" bIns="0" rtlCol="0" anchor="t"/>
          <a:lstStyle/>
          <a:p>
            <a:pPr algn="ctr" indent="0" marL="0">
              <a:buNone/>
            </a:pPr>
            <a:r>
              <a:rPr lang="en-US" sz="1600" b="1" dirty="0">
                <a:solidFill>
                  <a:srgbClr val="2E6E85"/>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3038185" y="2615184"/>
            <a:ext cx="1611721" cy="256032"/>
          </a:xfrm>
          <a:prstGeom prst="rect">
            <a:avLst/>
          </a:prstGeom>
          <a:noFill/>
          <a:ln/>
        </p:spPr>
        <p:txBody>
          <a:bodyPr wrap="square" lIns="0" tIns="0" rIns="0" bIns="0" rtlCol="0" anchor="t"/>
          <a:lstStyle/>
          <a:p>
            <a:pPr indent="0" marL="0">
              <a:buNone/>
            </a:pPr>
            <a:r>
              <a:rPr lang="en-US" sz="1100" b="1" spc="160" kern="0" dirty="0">
                <a:solidFill>
                  <a:srgbClr val="C1341C"/>
                </a:solidFill>
                <a:latin typeface="Courier New" pitchFamily="34" charset="0"/>
                <a:ea typeface="Courier New" pitchFamily="34" charset="-122"/>
                <a:cs typeface="Courier New" pitchFamily="34" charset="-120"/>
              </a:rPr>
              <a:t>WHO</a:t>
            </a:r>
            <a:endParaRPr lang="en-US" sz="1100" dirty="0"/>
          </a:p>
        </p:txBody>
      </p:sp>
      <p:sp>
        <p:nvSpPr>
          <p:cNvPr id="14" name="Text 12"/>
          <p:cNvSpPr txBox="1"/>
          <p:nvPr/>
        </p:nvSpPr>
        <p:spPr>
          <a:xfrm>
            <a:off x="3038185" y="2871216"/>
            <a:ext cx="1611721" cy="548640"/>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Agency and authority</a:t>
            </a:r>
            <a:endParaRPr lang="en-US" sz="1600" dirty="0"/>
          </a:p>
        </p:txBody>
      </p:sp>
      <p:sp>
        <p:nvSpPr>
          <p:cNvPr id="15" name="Text 13"/>
          <p:cNvSpPr txBox="1"/>
          <p:nvPr/>
        </p:nvSpPr>
        <p:spPr>
          <a:xfrm>
            <a:off x="3038185" y="3438144"/>
            <a:ext cx="1611721" cy="914400"/>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Your agency, your incident number, your callback line. Signed, so it cannot be forged.</a:t>
            </a:r>
            <a:endParaRPr lang="en-US" sz="1200" dirty="0"/>
          </a:p>
        </p:txBody>
      </p:sp>
      <p:sp>
        <p:nvSpPr>
          <p:cNvPr id="16" name="Shape 14"/>
          <p:cNvSpPr/>
          <p:nvPr/>
        </p:nvSpPr>
        <p:spPr>
          <a:xfrm>
            <a:off x="5070531" y="1810512"/>
            <a:ext cx="2050633" cy="2743200"/>
          </a:xfrm>
          <a:prstGeom prst="roundRect">
            <a:avLst>
              <a:gd name="adj" fmla="val 3121"/>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17" name="Shape 15"/>
          <p:cNvSpPr/>
          <p:nvPr/>
        </p:nvSpPr>
        <p:spPr>
          <a:xfrm>
            <a:off x="5289987" y="2048256"/>
            <a:ext cx="420624" cy="420624"/>
          </a:xfrm>
          <a:prstGeom prst="ellipse">
            <a:avLst/>
          </a:prstGeom>
          <a:solidFill>
            <a:srgbClr val="DCE7EB"/>
          </a:solidFill>
          <a:ln w="12700">
            <a:solidFill>
              <a:srgbClr val="DCE7EB"/>
            </a:solidFill>
            <a:prstDash val="solid"/>
          </a:ln>
        </p:spPr>
      </p:sp>
      <p:sp>
        <p:nvSpPr>
          <p:cNvPr id="18" name="Text 16"/>
          <p:cNvSpPr txBox="1"/>
          <p:nvPr/>
        </p:nvSpPr>
        <p:spPr>
          <a:xfrm>
            <a:off x="5289987" y="2093976"/>
            <a:ext cx="420624" cy="329184"/>
          </a:xfrm>
          <a:prstGeom prst="rect">
            <a:avLst/>
          </a:prstGeom>
          <a:noFill/>
          <a:ln/>
        </p:spPr>
        <p:txBody>
          <a:bodyPr wrap="square" lIns="0" tIns="0" rIns="0" bIns="0" rtlCol="0" anchor="t"/>
          <a:lstStyle/>
          <a:p>
            <a:pPr algn="ctr" indent="0" marL="0">
              <a:buNone/>
            </a:pPr>
            <a:r>
              <a:rPr lang="en-US" sz="1600" b="1" dirty="0">
                <a:solidFill>
                  <a:srgbClr val="2E6E85"/>
                </a:solidFill>
                <a:latin typeface="Cambria" pitchFamily="34" charset="0"/>
                <a:ea typeface="Cambria" pitchFamily="34" charset="-122"/>
                <a:cs typeface="Cambria" pitchFamily="34" charset="-120"/>
              </a:rPr>
              <a:t>3</a:t>
            </a:r>
            <a:endParaRPr lang="en-US" sz="1600" dirty="0"/>
          </a:p>
        </p:txBody>
      </p:sp>
      <p:sp>
        <p:nvSpPr>
          <p:cNvPr id="19" name="Text 17"/>
          <p:cNvSpPr txBox="1"/>
          <p:nvPr/>
        </p:nvSpPr>
        <p:spPr>
          <a:xfrm>
            <a:off x="5289987" y="2615184"/>
            <a:ext cx="1611721" cy="256032"/>
          </a:xfrm>
          <a:prstGeom prst="rect">
            <a:avLst/>
          </a:prstGeom>
          <a:noFill/>
          <a:ln/>
        </p:spPr>
        <p:txBody>
          <a:bodyPr wrap="square" lIns="0" tIns="0" rIns="0" bIns="0" rtlCol="0" anchor="t"/>
          <a:lstStyle/>
          <a:p>
            <a:pPr indent="0" marL="0">
              <a:buNone/>
            </a:pPr>
            <a:r>
              <a:rPr lang="en-US" sz="1100" b="1" spc="160" kern="0" dirty="0">
                <a:solidFill>
                  <a:srgbClr val="C1341C"/>
                </a:solidFill>
                <a:latin typeface="Courier New" pitchFamily="34" charset="0"/>
                <a:ea typeface="Courier New" pitchFamily="34" charset="-122"/>
                <a:cs typeface="Courier New" pitchFamily="34" charset="-120"/>
              </a:rPr>
              <a:t>WHY</a:t>
            </a:r>
            <a:endParaRPr lang="en-US" sz="1100" dirty="0"/>
          </a:p>
        </p:txBody>
      </p:sp>
      <p:sp>
        <p:nvSpPr>
          <p:cNvPr id="20" name="Text 18"/>
          <p:cNvSpPr txBox="1"/>
          <p:nvPr/>
        </p:nvSpPr>
        <p:spPr>
          <a:xfrm>
            <a:off x="5289987" y="2871216"/>
            <a:ext cx="1611721" cy="548640"/>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Reason code</a:t>
            </a:r>
            <a:endParaRPr lang="en-US" sz="1600" dirty="0"/>
          </a:p>
        </p:txBody>
      </p:sp>
      <p:sp>
        <p:nvSpPr>
          <p:cNvPr id="21" name="Text 19"/>
          <p:cNvSpPr txBox="1"/>
          <p:nvPr/>
        </p:nvSpPr>
        <p:spPr>
          <a:xfrm>
            <a:off x="5289987" y="3438144"/>
            <a:ext cx="1611721" cy="914400"/>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Fire, crime scene, flooding, outage, evacuation, protective movement.</a:t>
            </a:r>
            <a:endParaRPr lang="en-US" sz="1200" dirty="0"/>
          </a:p>
        </p:txBody>
      </p:sp>
      <p:sp>
        <p:nvSpPr>
          <p:cNvPr id="22" name="Shape 20"/>
          <p:cNvSpPr/>
          <p:nvPr/>
        </p:nvSpPr>
        <p:spPr>
          <a:xfrm>
            <a:off x="7322332" y="1810512"/>
            <a:ext cx="2050633" cy="2743200"/>
          </a:xfrm>
          <a:prstGeom prst="roundRect">
            <a:avLst>
              <a:gd name="adj" fmla="val 3121"/>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23" name="Shape 21"/>
          <p:cNvSpPr/>
          <p:nvPr/>
        </p:nvSpPr>
        <p:spPr>
          <a:xfrm>
            <a:off x="7541788" y="2048256"/>
            <a:ext cx="420624" cy="420624"/>
          </a:xfrm>
          <a:prstGeom prst="ellipse">
            <a:avLst/>
          </a:prstGeom>
          <a:solidFill>
            <a:srgbClr val="DCE7EB"/>
          </a:solidFill>
          <a:ln w="12700">
            <a:solidFill>
              <a:srgbClr val="DCE7EB"/>
            </a:solidFill>
            <a:prstDash val="solid"/>
          </a:ln>
        </p:spPr>
      </p:sp>
      <p:sp>
        <p:nvSpPr>
          <p:cNvPr id="24" name="Text 22"/>
          <p:cNvSpPr txBox="1"/>
          <p:nvPr/>
        </p:nvSpPr>
        <p:spPr>
          <a:xfrm>
            <a:off x="7541788" y="2093976"/>
            <a:ext cx="420624" cy="329184"/>
          </a:xfrm>
          <a:prstGeom prst="rect">
            <a:avLst/>
          </a:prstGeom>
          <a:noFill/>
          <a:ln/>
        </p:spPr>
        <p:txBody>
          <a:bodyPr wrap="square" lIns="0" tIns="0" rIns="0" bIns="0" rtlCol="0" anchor="t"/>
          <a:lstStyle/>
          <a:p>
            <a:pPr algn="ctr" indent="0" marL="0">
              <a:buNone/>
            </a:pPr>
            <a:r>
              <a:rPr lang="en-US" sz="1600" b="1" dirty="0">
                <a:solidFill>
                  <a:srgbClr val="2E6E85"/>
                </a:solidFill>
                <a:latin typeface="Cambria" pitchFamily="34" charset="0"/>
                <a:ea typeface="Cambria" pitchFamily="34" charset="-122"/>
                <a:cs typeface="Cambria" pitchFamily="34" charset="-120"/>
              </a:rPr>
              <a:t>4</a:t>
            </a:r>
            <a:endParaRPr lang="en-US" sz="1600" dirty="0"/>
          </a:p>
        </p:txBody>
      </p:sp>
      <p:sp>
        <p:nvSpPr>
          <p:cNvPr id="25" name="Text 23"/>
          <p:cNvSpPr txBox="1"/>
          <p:nvPr/>
        </p:nvSpPr>
        <p:spPr>
          <a:xfrm>
            <a:off x="7541788" y="2615184"/>
            <a:ext cx="1611721" cy="256032"/>
          </a:xfrm>
          <a:prstGeom prst="rect">
            <a:avLst/>
          </a:prstGeom>
          <a:noFill/>
          <a:ln/>
        </p:spPr>
        <p:txBody>
          <a:bodyPr wrap="square" lIns="0" tIns="0" rIns="0" bIns="0" rtlCol="0" anchor="t"/>
          <a:lstStyle/>
          <a:p>
            <a:pPr indent="0" marL="0">
              <a:buNone/>
            </a:pPr>
            <a:r>
              <a:rPr lang="en-US" sz="1100" b="1" spc="160" kern="0" dirty="0">
                <a:solidFill>
                  <a:srgbClr val="C1341C"/>
                </a:solidFill>
                <a:latin typeface="Courier New" pitchFamily="34" charset="0"/>
                <a:ea typeface="Courier New" pitchFamily="34" charset="-122"/>
                <a:cs typeface="Courier New" pitchFamily="34" charset="-120"/>
              </a:rPr>
              <a:t>WHERE</a:t>
            </a:r>
            <a:endParaRPr lang="en-US" sz="1100" dirty="0"/>
          </a:p>
        </p:txBody>
      </p:sp>
      <p:sp>
        <p:nvSpPr>
          <p:cNvPr id="26" name="Text 24"/>
          <p:cNvSpPr txBox="1"/>
          <p:nvPr/>
        </p:nvSpPr>
        <p:spPr>
          <a:xfrm>
            <a:off x="7541788" y="2871216"/>
            <a:ext cx="1611721" cy="548640"/>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The boundary</a:t>
            </a:r>
            <a:endParaRPr lang="en-US" sz="1600" dirty="0"/>
          </a:p>
        </p:txBody>
      </p:sp>
      <p:sp>
        <p:nvSpPr>
          <p:cNvPr id="27" name="Text 25"/>
          <p:cNvSpPr txBox="1"/>
          <p:nvPr/>
        </p:nvSpPr>
        <p:spPr>
          <a:xfrm>
            <a:off x="7541788" y="3438144"/>
            <a:ext cx="1611721" cy="914400"/>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A polygon, a radius, or a corridor along a street. Drawn on a map, not described in words.</a:t>
            </a:r>
            <a:endParaRPr lang="en-US" sz="1200" dirty="0"/>
          </a:p>
        </p:txBody>
      </p:sp>
      <p:sp>
        <p:nvSpPr>
          <p:cNvPr id="28" name="Shape 26"/>
          <p:cNvSpPr/>
          <p:nvPr/>
        </p:nvSpPr>
        <p:spPr>
          <a:xfrm>
            <a:off x="9574134" y="1810512"/>
            <a:ext cx="2050633" cy="2743200"/>
          </a:xfrm>
          <a:prstGeom prst="roundRect">
            <a:avLst>
              <a:gd name="adj" fmla="val 3121"/>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29" name="Shape 27"/>
          <p:cNvSpPr/>
          <p:nvPr/>
        </p:nvSpPr>
        <p:spPr>
          <a:xfrm>
            <a:off x="9793590" y="2048256"/>
            <a:ext cx="420624" cy="420624"/>
          </a:xfrm>
          <a:prstGeom prst="ellipse">
            <a:avLst/>
          </a:prstGeom>
          <a:solidFill>
            <a:srgbClr val="DCE7EB"/>
          </a:solidFill>
          <a:ln w="12700">
            <a:solidFill>
              <a:srgbClr val="DCE7EB"/>
            </a:solidFill>
            <a:prstDash val="solid"/>
          </a:ln>
        </p:spPr>
      </p:sp>
      <p:sp>
        <p:nvSpPr>
          <p:cNvPr id="30" name="Text 28"/>
          <p:cNvSpPr txBox="1"/>
          <p:nvPr/>
        </p:nvSpPr>
        <p:spPr>
          <a:xfrm>
            <a:off x="9793590" y="2093976"/>
            <a:ext cx="420624" cy="329184"/>
          </a:xfrm>
          <a:prstGeom prst="rect">
            <a:avLst/>
          </a:prstGeom>
          <a:noFill/>
          <a:ln/>
        </p:spPr>
        <p:txBody>
          <a:bodyPr wrap="square" lIns="0" tIns="0" rIns="0" bIns="0" rtlCol="0" anchor="t"/>
          <a:lstStyle/>
          <a:p>
            <a:pPr algn="ctr" indent="0" marL="0">
              <a:buNone/>
            </a:pPr>
            <a:r>
              <a:rPr lang="en-US" sz="1600" b="1" dirty="0">
                <a:solidFill>
                  <a:srgbClr val="2E6E85"/>
                </a:solidFill>
                <a:latin typeface="Cambria" pitchFamily="34" charset="0"/>
                <a:ea typeface="Cambria" pitchFamily="34" charset="-122"/>
                <a:cs typeface="Cambria" pitchFamily="34" charset="-120"/>
              </a:rPr>
              <a:t>5</a:t>
            </a:r>
            <a:endParaRPr lang="en-US" sz="1600" dirty="0"/>
          </a:p>
        </p:txBody>
      </p:sp>
      <p:sp>
        <p:nvSpPr>
          <p:cNvPr id="31" name="Text 29"/>
          <p:cNvSpPr txBox="1"/>
          <p:nvPr/>
        </p:nvSpPr>
        <p:spPr>
          <a:xfrm>
            <a:off x="9793590" y="2615184"/>
            <a:ext cx="1611721" cy="256032"/>
          </a:xfrm>
          <a:prstGeom prst="rect">
            <a:avLst/>
          </a:prstGeom>
          <a:noFill/>
          <a:ln/>
        </p:spPr>
        <p:txBody>
          <a:bodyPr wrap="square" lIns="0" tIns="0" rIns="0" bIns="0" rtlCol="0" anchor="t"/>
          <a:lstStyle/>
          <a:p>
            <a:pPr indent="0" marL="0">
              <a:buNone/>
            </a:pPr>
            <a:r>
              <a:rPr lang="en-US" sz="1100" b="1" spc="160" kern="0" dirty="0">
                <a:solidFill>
                  <a:srgbClr val="C1341C"/>
                </a:solidFill>
                <a:latin typeface="Courier New" pitchFamily="34" charset="0"/>
                <a:ea typeface="Courier New" pitchFamily="34" charset="-122"/>
                <a:cs typeface="Courier New" pitchFamily="34" charset="-120"/>
              </a:rPr>
              <a:t>WHAT</a:t>
            </a:r>
            <a:endParaRPr lang="en-US" sz="1100" dirty="0"/>
          </a:p>
        </p:txBody>
      </p:sp>
      <p:sp>
        <p:nvSpPr>
          <p:cNvPr id="32" name="Text 30"/>
          <p:cNvSpPr txBox="1"/>
          <p:nvPr/>
        </p:nvSpPr>
        <p:spPr>
          <a:xfrm>
            <a:off x="9793590" y="2871216"/>
            <a:ext cx="1611721" cy="548640"/>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Required behavior</a:t>
            </a:r>
            <a:endParaRPr lang="en-US" sz="1600" dirty="0"/>
          </a:p>
        </p:txBody>
      </p:sp>
      <p:sp>
        <p:nvSpPr>
          <p:cNvPr id="33" name="Text 31"/>
          <p:cNvSpPr txBox="1"/>
          <p:nvPr/>
        </p:nvSpPr>
        <p:spPr>
          <a:xfrm>
            <a:off x="9793590" y="3438144"/>
            <a:ext cx="1611721" cy="914400"/>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Which restriction applies, and what a vehicle already inside must do.</a:t>
            </a:r>
            <a:endParaRPr lang="en-US" sz="1200" dirty="0"/>
          </a:p>
        </p:txBody>
      </p:sp>
      <p:sp>
        <p:nvSpPr>
          <p:cNvPr id="34" name="Shape 32"/>
          <p:cNvSpPr/>
          <p:nvPr/>
        </p:nvSpPr>
        <p:spPr>
          <a:xfrm>
            <a:off x="566928" y="4791456"/>
            <a:ext cx="11057839" cy="914400"/>
          </a:xfrm>
          <a:prstGeom prst="roundRect">
            <a:avLst>
              <a:gd name="adj" fmla="val 6000"/>
            </a:avLst>
          </a:prstGeom>
          <a:solidFill>
            <a:srgbClr val="DCE7EB"/>
          </a:solidFill>
          <a:ln w="12700">
            <a:solidFill>
              <a:srgbClr val="C6D8DE"/>
            </a:solidFill>
            <a:prstDash val="solid"/>
          </a:ln>
        </p:spPr>
      </p:sp>
      <p:sp>
        <p:nvSpPr>
          <p:cNvPr id="35" name="Text 33"/>
          <p:cNvSpPr txBox="1"/>
          <p:nvPr/>
        </p:nvSpPr>
        <p:spPr>
          <a:xfrm>
            <a:off x="877824" y="4974336"/>
            <a:ext cx="10436047" cy="566928"/>
          </a:xfrm>
          <a:prstGeom prst="rect">
            <a:avLst/>
          </a:prstGeom>
          <a:noFill/>
          <a:ln/>
        </p:spPr>
        <p:txBody>
          <a:bodyPr wrap="square" lIns="0" tIns="0" rIns="0" bIns="0" rtlCol="0" anchor="t"/>
          <a:lstStyle/>
          <a:p>
            <a:pPr indent="0" marL="0">
              <a:lnSpc>
                <a:spcPts val="2000"/>
              </a:lnSpc>
              <a:buNone/>
            </a:pPr>
            <a:r>
              <a:rPr lang="en-US" sz="1400" dirty="0">
                <a:solidFill>
                  <a:srgbClr val="22201D"/>
                </a:solidFill>
                <a:latin typeface="Calibri" pitchFamily="34" charset="0"/>
                <a:ea typeface="Calibri" pitchFamily="34" charset="-122"/>
                <a:cs typeface="Calibri" pitchFamily="34" charset="-120"/>
              </a:rPr>
              <a:t>The same notice travels two ways: straight to operators over a direct connection, or through IPAWS as a CAP message, using the alerting tool your emergency manager already has.</a:t>
            </a:r>
            <a:endParaRPr lang="en-US" sz="1400" dirty="0"/>
          </a:p>
        </p:txBody>
      </p:sp>
      <p:sp>
        <p:nvSpPr>
          <p:cNvPr id="36" name="Text 34"/>
          <p:cNvSpPr txBox="1"/>
          <p:nvPr/>
        </p:nvSpPr>
        <p:spPr>
          <a:xfrm>
            <a:off x="566928" y="6291072"/>
            <a:ext cx="11057839" cy="274320"/>
          </a:xfrm>
          <a:prstGeom prst="rect">
            <a:avLst/>
          </a:prstGeom>
          <a:noFill/>
          <a:ln/>
        </p:spPr>
        <p:txBody>
          <a:bodyPr wrap="square" lIns="0" tIns="0" rIns="0" bIns="0" rtlCol="0" anchor="t"/>
          <a:lstStyle/>
          <a:p>
            <a:pP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DESIGN DECISION 1 OF 4</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The restriction is graduated, not a switch</a:t>
            </a:r>
            <a:endParaRPr lang="en-US" sz="3400" dirty="0"/>
          </a:p>
        </p:txBody>
      </p:sp>
      <p:sp>
        <p:nvSpPr>
          <p:cNvPr id="4" name="Text 2"/>
          <p:cNvSpPr txBox="1"/>
          <p:nvPr/>
        </p:nvSpPr>
        <p:spPr>
          <a:xfrm>
            <a:off x="566928" y="1700784"/>
            <a:ext cx="4224528" cy="219456"/>
          </a:xfrm>
          <a:prstGeom prst="rect">
            <a:avLst/>
          </a:prstGeom>
          <a:noFill/>
          <a:ln/>
        </p:spPr>
        <p:txBody>
          <a:bodyPr wrap="square" lIns="0" tIns="0" rIns="0" bIns="0" rtlCol="0" anchor="t"/>
          <a:lstStyle/>
          <a:p>
            <a:pPr indent="0" marL="0">
              <a:buNone/>
            </a:pPr>
            <a:r>
              <a:rPr lang="en-US" sz="950" b="1" spc="120" kern="0" dirty="0">
                <a:solidFill>
                  <a:srgbClr val="6B625A"/>
                </a:solidFill>
                <a:latin typeface="Courier New" pitchFamily="34" charset="0"/>
                <a:ea typeface="Courier New" pitchFamily="34" charset="-122"/>
                <a:cs typeface="Courier New" pitchFamily="34" charset="-120"/>
              </a:rPr>
              <a:t>HOW MUCH STREET IT TAKES</a:t>
            </a:r>
            <a:endParaRPr lang="en-US" sz="950" dirty="0"/>
          </a:p>
        </p:txBody>
      </p:sp>
      <p:sp>
        <p:nvSpPr>
          <p:cNvPr id="5" name="Text 3"/>
          <p:cNvSpPr txBox="1"/>
          <p:nvPr/>
        </p:nvSpPr>
        <p:spPr>
          <a:xfrm>
            <a:off x="5138928" y="1700784"/>
            <a:ext cx="3200400" cy="219456"/>
          </a:xfrm>
          <a:prstGeom prst="rect">
            <a:avLst/>
          </a:prstGeom>
          <a:noFill/>
          <a:ln/>
        </p:spPr>
        <p:txBody>
          <a:bodyPr wrap="square" lIns="0" tIns="0" rIns="0" bIns="0" rtlCol="0" anchor="t"/>
          <a:lstStyle/>
          <a:p>
            <a:pPr indent="0" marL="0">
              <a:buNone/>
            </a:pPr>
            <a:r>
              <a:rPr lang="en-US" sz="950" b="1" spc="120" kern="0" dirty="0">
                <a:solidFill>
                  <a:srgbClr val="6B625A"/>
                </a:solidFill>
                <a:latin typeface="Courier New" pitchFamily="34" charset="0"/>
                <a:ea typeface="Courier New" pitchFamily="34" charset="-122"/>
                <a:cs typeface="Courier New" pitchFamily="34" charset="-120"/>
              </a:rPr>
              <a:t>WHAT THE VEHICLE MUST DO</a:t>
            </a:r>
            <a:endParaRPr lang="en-US" sz="950" dirty="0"/>
          </a:p>
        </p:txBody>
      </p:sp>
      <p:sp>
        <p:nvSpPr>
          <p:cNvPr id="6" name="Text 4"/>
          <p:cNvSpPr txBox="1"/>
          <p:nvPr/>
        </p:nvSpPr>
        <p:spPr>
          <a:xfrm>
            <a:off x="8540496" y="1700784"/>
            <a:ext cx="3108960" cy="219456"/>
          </a:xfrm>
          <a:prstGeom prst="rect">
            <a:avLst/>
          </a:prstGeom>
          <a:noFill/>
          <a:ln/>
        </p:spPr>
        <p:txBody>
          <a:bodyPr wrap="square" lIns="0" tIns="0" rIns="0" bIns="0" rtlCol="0" anchor="t"/>
          <a:lstStyle/>
          <a:p>
            <a:pPr indent="0" marL="0">
              <a:buNone/>
            </a:pPr>
            <a:r>
              <a:rPr lang="en-US" sz="950" b="1" spc="120" kern="0" dirty="0">
                <a:solidFill>
                  <a:srgbClr val="6B625A"/>
                </a:solidFill>
                <a:latin typeface="Courier New" pitchFamily="34" charset="0"/>
                <a:ea typeface="Courier New" pitchFamily="34" charset="-122"/>
                <a:cs typeface="Courier New" pitchFamily="34" charset="-120"/>
              </a:rPr>
              <a:t>TYPICAL USE</a:t>
            </a:r>
            <a:endParaRPr lang="en-US" sz="950" dirty="0"/>
          </a:p>
        </p:txBody>
      </p:sp>
      <p:sp>
        <p:nvSpPr>
          <p:cNvPr id="7" name="Shape 5"/>
          <p:cNvSpPr/>
          <p:nvPr/>
        </p:nvSpPr>
        <p:spPr>
          <a:xfrm>
            <a:off x="566928" y="2048256"/>
            <a:ext cx="4224528" cy="457200"/>
          </a:xfrm>
          <a:prstGeom prst="roundRect">
            <a:avLst>
              <a:gd name="adj" fmla="val 10000"/>
            </a:avLst>
          </a:prstGeom>
          <a:solidFill>
            <a:srgbClr val="C1341C"/>
          </a:solidFill>
          <a:ln w="12700">
            <a:solidFill>
              <a:srgbClr val="C1341C"/>
            </a:solidFill>
            <a:prstDash val="solid"/>
          </a:ln>
        </p:spPr>
      </p:sp>
      <p:sp>
        <p:nvSpPr>
          <p:cNvPr id="8" name="Text 6"/>
          <p:cNvSpPr txBox="1"/>
          <p:nvPr/>
        </p:nvSpPr>
        <p:spPr>
          <a:xfrm>
            <a:off x="749808" y="2157984"/>
            <a:ext cx="3931920" cy="274320"/>
          </a:xfrm>
          <a:prstGeom prst="rect">
            <a:avLst/>
          </a:prstGeom>
          <a:noFill/>
          <a:ln/>
        </p:spPr>
        <p:txBody>
          <a:bodyPr wrap="square" lIns="0" tIns="0" rIns="0" bIns="0" rtlCol="0" anchor="t"/>
          <a:lstStyle/>
          <a:p>
            <a:pPr indent="0" marL="0">
              <a:buNone/>
            </a:pPr>
            <a:r>
              <a:rPr lang="en-US" sz="1100" b="1" spc="60" kern="0" dirty="0">
                <a:solidFill>
                  <a:srgbClr val="FFFFFF"/>
                </a:solidFill>
                <a:latin typeface="Courier New" pitchFamily="34" charset="0"/>
                <a:ea typeface="Courier New" pitchFamily="34" charset="-122"/>
                <a:cs typeface="Courier New" pitchFamily="34" charset="-120"/>
              </a:rPr>
              <a:t>PROHIBITED</a:t>
            </a:r>
            <a:endParaRPr lang="en-US" sz="1100" dirty="0"/>
          </a:p>
        </p:txBody>
      </p:sp>
      <p:sp>
        <p:nvSpPr>
          <p:cNvPr id="9" name="Text 7"/>
          <p:cNvSpPr txBox="1"/>
          <p:nvPr/>
        </p:nvSpPr>
        <p:spPr>
          <a:xfrm>
            <a:off x="5138928" y="2157984"/>
            <a:ext cx="3200400" cy="292608"/>
          </a:xfrm>
          <a:prstGeom prst="rect">
            <a:avLst/>
          </a:prstGeom>
          <a:noFill/>
          <a:ln/>
        </p:spPr>
        <p:txBody>
          <a:bodyPr wrap="square" lIns="0" tIns="0" rIns="0" bIns="0" rtlCol="0" anchor="t"/>
          <a:lstStyle/>
          <a:p>
            <a:pPr indent="0" marL="0">
              <a:buNone/>
            </a:pPr>
            <a:r>
              <a:rPr lang="en-US" sz="1300" dirty="0">
                <a:solidFill>
                  <a:srgbClr val="22201D"/>
                </a:solidFill>
                <a:latin typeface="Calibri" pitchFamily="34" charset="0"/>
                <a:ea typeface="Calibri" pitchFamily="34" charset="-122"/>
                <a:cs typeface="Calibri" pitchFamily="34" charset="-120"/>
              </a:rPr>
              <a:t>Do not enter, do not route through</a:t>
            </a:r>
            <a:endParaRPr lang="en-US" sz="1300" dirty="0"/>
          </a:p>
        </p:txBody>
      </p:sp>
      <p:sp>
        <p:nvSpPr>
          <p:cNvPr id="10" name="Text 8"/>
          <p:cNvSpPr txBox="1"/>
          <p:nvPr/>
        </p:nvSpPr>
        <p:spPr>
          <a:xfrm>
            <a:off x="8540496" y="2167128"/>
            <a:ext cx="3108960" cy="292608"/>
          </a:xfrm>
          <a:prstGeom prst="rect">
            <a:avLst/>
          </a:prstGeom>
          <a:noFill/>
          <a:ln/>
        </p:spPr>
        <p:txBody>
          <a:bodyPr wrap="square" lIns="0" tIns="0" rIns="0" bIns="0" rtlCol="0" anchor="t"/>
          <a:lstStyle/>
          <a:p>
            <a:pPr indent="0" marL="0">
              <a:buNone/>
            </a:pPr>
            <a:r>
              <a:rPr lang="en-US" sz="1150" dirty="0">
                <a:solidFill>
                  <a:srgbClr val="6B625A"/>
                </a:solidFill>
                <a:latin typeface="Calibri" pitchFamily="34" charset="0"/>
                <a:ea typeface="Calibri" pitchFamily="34" charset="-122"/>
                <a:cs typeface="Calibri" pitchFamily="34" charset="-120"/>
              </a:rPr>
              <a:t>Fire ground, active threat, collapse, flood water</a:t>
            </a:r>
            <a:endParaRPr lang="en-US" sz="1150" dirty="0"/>
          </a:p>
        </p:txBody>
      </p:sp>
      <p:sp>
        <p:nvSpPr>
          <p:cNvPr id="11" name="Shape 9"/>
          <p:cNvSpPr/>
          <p:nvPr/>
        </p:nvSpPr>
        <p:spPr>
          <a:xfrm>
            <a:off x="566928" y="2615184"/>
            <a:ext cx="3621024" cy="457200"/>
          </a:xfrm>
          <a:prstGeom prst="roundRect">
            <a:avLst>
              <a:gd name="adj" fmla="val 10000"/>
            </a:avLst>
          </a:prstGeom>
          <a:solidFill>
            <a:srgbClr val="CD6A3E"/>
          </a:solidFill>
          <a:ln w="12700">
            <a:solidFill>
              <a:srgbClr val="CD6A3E"/>
            </a:solidFill>
            <a:prstDash val="solid"/>
          </a:ln>
        </p:spPr>
      </p:sp>
      <p:sp>
        <p:nvSpPr>
          <p:cNvPr id="12" name="Text 10"/>
          <p:cNvSpPr txBox="1"/>
          <p:nvPr/>
        </p:nvSpPr>
        <p:spPr>
          <a:xfrm>
            <a:off x="749808" y="2724912"/>
            <a:ext cx="3328416" cy="274320"/>
          </a:xfrm>
          <a:prstGeom prst="rect">
            <a:avLst/>
          </a:prstGeom>
          <a:noFill/>
          <a:ln/>
        </p:spPr>
        <p:txBody>
          <a:bodyPr wrap="square" lIns="0" tIns="0" rIns="0" bIns="0" rtlCol="0" anchor="t"/>
          <a:lstStyle/>
          <a:p>
            <a:pPr indent="0" marL="0">
              <a:buNone/>
            </a:pPr>
            <a:r>
              <a:rPr lang="en-US" sz="1100" b="1" spc="60" kern="0" dirty="0">
                <a:solidFill>
                  <a:srgbClr val="FFFFFF"/>
                </a:solidFill>
                <a:latin typeface="Courier New" pitchFamily="34" charset="0"/>
                <a:ea typeface="Courier New" pitchFamily="34" charset="-122"/>
                <a:cs typeface="Courier New" pitchFamily="34" charset="-120"/>
              </a:rPr>
              <a:t>AVOID</a:t>
            </a:r>
            <a:endParaRPr lang="en-US" sz="1100" dirty="0"/>
          </a:p>
        </p:txBody>
      </p:sp>
      <p:sp>
        <p:nvSpPr>
          <p:cNvPr id="13" name="Text 11"/>
          <p:cNvSpPr txBox="1"/>
          <p:nvPr/>
        </p:nvSpPr>
        <p:spPr>
          <a:xfrm>
            <a:off x="5138928" y="2724912"/>
            <a:ext cx="3200400" cy="292608"/>
          </a:xfrm>
          <a:prstGeom prst="rect">
            <a:avLst/>
          </a:prstGeom>
          <a:noFill/>
          <a:ln/>
        </p:spPr>
        <p:txBody>
          <a:bodyPr wrap="square" lIns="0" tIns="0" rIns="0" bIns="0" rtlCol="0" anchor="t"/>
          <a:lstStyle/>
          <a:p>
            <a:pPr indent="0" marL="0">
              <a:buNone/>
            </a:pPr>
            <a:r>
              <a:rPr lang="en-US" sz="1300" dirty="0">
                <a:solidFill>
                  <a:srgbClr val="22201D"/>
                </a:solidFill>
                <a:latin typeface="Calibri" pitchFamily="34" charset="0"/>
                <a:ea typeface="Calibri" pitchFamily="34" charset="-122"/>
                <a:cs typeface="Calibri" pitchFamily="34" charset="-120"/>
              </a:rPr>
              <a:t>Enter only if there is no alternative</a:t>
            </a:r>
            <a:endParaRPr lang="en-US" sz="1300" dirty="0"/>
          </a:p>
        </p:txBody>
      </p:sp>
      <p:sp>
        <p:nvSpPr>
          <p:cNvPr id="14" name="Text 12"/>
          <p:cNvSpPr txBox="1"/>
          <p:nvPr/>
        </p:nvSpPr>
        <p:spPr>
          <a:xfrm>
            <a:off x="8540496" y="2734056"/>
            <a:ext cx="3108960" cy="292608"/>
          </a:xfrm>
          <a:prstGeom prst="rect">
            <a:avLst/>
          </a:prstGeom>
          <a:noFill/>
          <a:ln/>
        </p:spPr>
        <p:txBody>
          <a:bodyPr wrap="square" lIns="0" tIns="0" rIns="0" bIns="0" rtlCol="0" anchor="t"/>
          <a:lstStyle/>
          <a:p>
            <a:pPr indent="0" marL="0">
              <a:buNone/>
            </a:pPr>
            <a:r>
              <a:rPr lang="en-US" sz="1150" dirty="0">
                <a:solidFill>
                  <a:srgbClr val="6B625A"/>
                </a:solidFill>
                <a:latin typeface="Calibri" pitchFamily="34" charset="0"/>
                <a:ea typeface="Calibri" pitchFamily="34" charset="-122"/>
                <a:cs typeface="Calibri" pitchFamily="34" charset="-120"/>
              </a:rPr>
              <a:t>Congested perimeter, weather, utility work</a:t>
            </a:r>
            <a:endParaRPr lang="en-US" sz="1150" dirty="0"/>
          </a:p>
        </p:txBody>
      </p:sp>
      <p:sp>
        <p:nvSpPr>
          <p:cNvPr id="15" name="Shape 13"/>
          <p:cNvSpPr/>
          <p:nvPr/>
        </p:nvSpPr>
        <p:spPr>
          <a:xfrm>
            <a:off x="566928" y="3182112"/>
            <a:ext cx="3017520" cy="457200"/>
          </a:xfrm>
          <a:prstGeom prst="roundRect">
            <a:avLst>
              <a:gd name="adj" fmla="val 10000"/>
            </a:avLst>
          </a:prstGeom>
          <a:solidFill>
            <a:srgbClr val="C08A34"/>
          </a:solidFill>
          <a:ln w="12700">
            <a:solidFill>
              <a:srgbClr val="C08A34"/>
            </a:solidFill>
            <a:prstDash val="solid"/>
          </a:ln>
        </p:spPr>
      </p:sp>
      <p:sp>
        <p:nvSpPr>
          <p:cNvPr id="16" name="Text 14"/>
          <p:cNvSpPr txBox="1"/>
          <p:nvPr/>
        </p:nvSpPr>
        <p:spPr>
          <a:xfrm>
            <a:off x="749808" y="3291840"/>
            <a:ext cx="2724912" cy="274320"/>
          </a:xfrm>
          <a:prstGeom prst="rect">
            <a:avLst/>
          </a:prstGeom>
          <a:noFill/>
          <a:ln/>
        </p:spPr>
        <p:txBody>
          <a:bodyPr wrap="square" lIns="0" tIns="0" rIns="0" bIns="0" rtlCol="0" anchor="t"/>
          <a:lstStyle/>
          <a:p>
            <a:pPr indent="0" marL="0">
              <a:buNone/>
            </a:pPr>
            <a:r>
              <a:rPr lang="en-US" sz="1100" b="1" spc="60" kern="0" dirty="0">
                <a:solidFill>
                  <a:srgbClr val="FFFFFF"/>
                </a:solidFill>
                <a:latin typeface="Courier New" pitchFamily="34" charset="0"/>
                <a:ea typeface="Courier New" pitchFamily="34" charset="-122"/>
                <a:cs typeface="Courier New" pitchFamily="34" charset="-120"/>
              </a:rPr>
              <a:t>NO DRIVERLESS</a:t>
            </a:r>
            <a:endParaRPr lang="en-US" sz="1100" dirty="0"/>
          </a:p>
        </p:txBody>
      </p:sp>
      <p:sp>
        <p:nvSpPr>
          <p:cNvPr id="17" name="Text 15"/>
          <p:cNvSpPr txBox="1"/>
          <p:nvPr/>
        </p:nvSpPr>
        <p:spPr>
          <a:xfrm>
            <a:off x="5138928" y="3291840"/>
            <a:ext cx="3200400" cy="292608"/>
          </a:xfrm>
          <a:prstGeom prst="rect">
            <a:avLst/>
          </a:prstGeom>
          <a:noFill/>
          <a:ln/>
        </p:spPr>
        <p:txBody>
          <a:bodyPr wrap="square" lIns="0" tIns="0" rIns="0" bIns="0" rtlCol="0" anchor="t"/>
          <a:lstStyle/>
          <a:p>
            <a:pPr indent="0" marL="0">
              <a:buNone/>
            </a:pPr>
            <a:r>
              <a:rPr lang="en-US" sz="1300" dirty="0">
                <a:solidFill>
                  <a:srgbClr val="22201D"/>
                </a:solidFill>
                <a:latin typeface="Calibri" pitchFamily="34" charset="0"/>
                <a:ea typeface="Calibri" pitchFamily="34" charset="-122"/>
                <a:cs typeface="Calibri" pitchFamily="34" charset="-120"/>
              </a:rPr>
              <a:t>Safety operator aboard, or stay out</a:t>
            </a:r>
            <a:endParaRPr lang="en-US" sz="1300" dirty="0"/>
          </a:p>
        </p:txBody>
      </p:sp>
      <p:sp>
        <p:nvSpPr>
          <p:cNvPr id="18" name="Text 16"/>
          <p:cNvSpPr txBox="1"/>
          <p:nvPr/>
        </p:nvSpPr>
        <p:spPr>
          <a:xfrm>
            <a:off x="8540496" y="3300984"/>
            <a:ext cx="3108960" cy="292608"/>
          </a:xfrm>
          <a:prstGeom prst="rect">
            <a:avLst/>
          </a:prstGeom>
          <a:noFill/>
          <a:ln/>
        </p:spPr>
        <p:txBody>
          <a:bodyPr wrap="square" lIns="0" tIns="0" rIns="0" bIns="0" rtlCol="0" anchor="t"/>
          <a:lstStyle/>
          <a:p>
            <a:pPr indent="0" marL="0">
              <a:buNone/>
            </a:pPr>
            <a:r>
              <a:rPr lang="en-US" sz="1150" dirty="0">
                <a:solidFill>
                  <a:srgbClr val="6B625A"/>
                </a:solidFill>
                <a:latin typeface="Calibri" pitchFamily="34" charset="0"/>
                <a:ea typeface="Calibri" pitchFamily="34" charset="-122"/>
                <a:cs typeface="Calibri" pitchFamily="34" charset="-120"/>
              </a:rPr>
              <a:t>Signals dark, officers directing traffic</a:t>
            </a:r>
            <a:endParaRPr lang="en-US" sz="1150" dirty="0"/>
          </a:p>
        </p:txBody>
      </p:sp>
      <p:sp>
        <p:nvSpPr>
          <p:cNvPr id="19" name="Shape 17"/>
          <p:cNvSpPr/>
          <p:nvPr/>
        </p:nvSpPr>
        <p:spPr>
          <a:xfrm>
            <a:off x="566928" y="3749040"/>
            <a:ext cx="2414016" cy="457200"/>
          </a:xfrm>
          <a:prstGeom prst="roundRect">
            <a:avLst>
              <a:gd name="adj" fmla="val 10000"/>
            </a:avLst>
          </a:prstGeom>
          <a:solidFill>
            <a:srgbClr val="9A8A48"/>
          </a:solidFill>
          <a:ln w="12700">
            <a:solidFill>
              <a:srgbClr val="9A8A48"/>
            </a:solidFill>
            <a:prstDash val="solid"/>
          </a:ln>
        </p:spPr>
      </p:sp>
      <p:sp>
        <p:nvSpPr>
          <p:cNvPr id="20" name="Text 18"/>
          <p:cNvSpPr txBox="1"/>
          <p:nvPr/>
        </p:nvSpPr>
        <p:spPr>
          <a:xfrm>
            <a:off x="749808" y="3858768"/>
            <a:ext cx="2121408" cy="274320"/>
          </a:xfrm>
          <a:prstGeom prst="rect">
            <a:avLst/>
          </a:prstGeom>
          <a:noFill/>
          <a:ln/>
        </p:spPr>
        <p:txBody>
          <a:bodyPr wrap="square" lIns="0" tIns="0" rIns="0" bIns="0" rtlCol="0" anchor="t"/>
          <a:lstStyle/>
          <a:p>
            <a:pPr indent="0" marL="0">
              <a:buNone/>
            </a:pPr>
            <a:r>
              <a:rPr lang="en-US" sz="1100" b="1" spc="60" kern="0" dirty="0">
                <a:solidFill>
                  <a:srgbClr val="FFFFFF"/>
                </a:solidFill>
                <a:latin typeface="Courier New" pitchFamily="34" charset="0"/>
                <a:ea typeface="Courier New" pitchFamily="34" charset="-122"/>
                <a:cs typeface="Courier New" pitchFamily="34" charset="-120"/>
              </a:rPr>
              <a:t>NO STOP</a:t>
            </a:r>
            <a:endParaRPr lang="en-US" sz="1100" dirty="0"/>
          </a:p>
        </p:txBody>
      </p:sp>
      <p:sp>
        <p:nvSpPr>
          <p:cNvPr id="21" name="Text 19"/>
          <p:cNvSpPr txBox="1"/>
          <p:nvPr/>
        </p:nvSpPr>
        <p:spPr>
          <a:xfrm>
            <a:off x="5138928" y="3858768"/>
            <a:ext cx="3200400" cy="292608"/>
          </a:xfrm>
          <a:prstGeom prst="rect">
            <a:avLst/>
          </a:prstGeom>
          <a:noFill/>
          <a:ln/>
        </p:spPr>
        <p:txBody>
          <a:bodyPr wrap="square" lIns="0" tIns="0" rIns="0" bIns="0" rtlCol="0" anchor="t"/>
          <a:lstStyle/>
          <a:p>
            <a:pPr indent="0" marL="0">
              <a:buNone/>
            </a:pPr>
            <a:r>
              <a:rPr lang="en-US" sz="1300" dirty="0">
                <a:solidFill>
                  <a:srgbClr val="22201D"/>
                </a:solidFill>
                <a:latin typeface="Calibri" pitchFamily="34" charset="0"/>
                <a:ea typeface="Calibri" pitchFamily="34" charset="-122"/>
                <a:cs typeface="Calibri" pitchFamily="34" charset="-120"/>
              </a:rPr>
              <a:t>Drive through, do not stop or wait</a:t>
            </a:r>
            <a:endParaRPr lang="en-US" sz="1300" dirty="0"/>
          </a:p>
        </p:txBody>
      </p:sp>
      <p:sp>
        <p:nvSpPr>
          <p:cNvPr id="22" name="Text 20"/>
          <p:cNvSpPr txBox="1"/>
          <p:nvPr/>
        </p:nvSpPr>
        <p:spPr>
          <a:xfrm>
            <a:off x="8540496" y="3867912"/>
            <a:ext cx="3108960" cy="292608"/>
          </a:xfrm>
          <a:prstGeom prst="rect">
            <a:avLst/>
          </a:prstGeom>
          <a:noFill/>
          <a:ln/>
        </p:spPr>
        <p:txBody>
          <a:bodyPr wrap="square" lIns="0" tIns="0" rIns="0" bIns="0" rtlCol="0" anchor="t"/>
          <a:lstStyle/>
          <a:p>
            <a:pPr indent="0" marL="0">
              <a:buNone/>
            </a:pPr>
            <a:r>
              <a:rPr lang="en-US" sz="1150" dirty="0">
                <a:solidFill>
                  <a:srgbClr val="6B625A"/>
                </a:solidFill>
                <a:latin typeface="Calibri" pitchFamily="34" charset="0"/>
                <a:ea typeface="Calibri" pitchFamily="34" charset="-122"/>
                <a:cs typeface="Calibri" pitchFamily="34" charset="-120"/>
              </a:rPr>
              <a:t>Parade staging, motorcade, narrow work zone</a:t>
            </a:r>
            <a:endParaRPr lang="en-US" sz="1150" dirty="0"/>
          </a:p>
        </p:txBody>
      </p:sp>
      <p:sp>
        <p:nvSpPr>
          <p:cNvPr id="23" name="Shape 21"/>
          <p:cNvSpPr/>
          <p:nvPr/>
        </p:nvSpPr>
        <p:spPr>
          <a:xfrm>
            <a:off x="566928" y="4315968"/>
            <a:ext cx="1810512" cy="457200"/>
          </a:xfrm>
          <a:prstGeom prst="roundRect">
            <a:avLst>
              <a:gd name="adj" fmla="val 10000"/>
            </a:avLst>
          </a:prstGeom>
          <a:solidFill>
            <a:srgbClr val="5C7C60"/>
          </a:solidFill>
          <a:ln w="12700">
            <a:solidFill>
              <a:srgbClr val="5C7C60"/>
            </a:solidFill>
            <a:prstDash val="solid"/>
          </a:ln>
        </p:spPr>
      </p:sp>
      <p:sp>
        <p:nvSpPr>
          <p:cNvPr id="24" name="Text 22"/>
          <p:cNvSpPr txBox="1"/>
          <p:nvPr/>
        </p:nvSpPr>
        <p:spPr>
          <a:xfrm>
            <a:off x="749808" y="4425696"/>
            <a:ext cx="1517904" cy="274320"/>
          </a:xfrm>
          <a:prstGeom prst="rect">
            <a:avLst/>
          </a:prstGeom>
          <a:noFill/>
          <a:ln/>
        </p:spPr>
        <p:txBody>
          <a:bodyPr wrap="square" lIns="0" tIns="0" rIns="0" bIns="0" rtlCol="0" anchor="t"/>
          <a:lstStyle/>
          <a:p>
            <a:pPr indent="0" marL="0">
              <a:buNone/>
            </a:pPr>
            <a:r>
              <a:rPr lang="en-US" sz="1100" b="1" spc="60" kern="0" dirty="0">
                <a:solidFill>
                  <a:srgbClr val="FFFFFF"/>
                </a:solidFill>
                <a:latin typeface="Courier New" pitchFamily="34" charset="0"/>
                <a:ea typeface="Courier New" pitchFamily="34" charset="-122"/>
                <a:cs typeface="Courier New" pitchFamily="34" charset="-120"/>
              </a:rPr>
              <a:t>SPEED LIMITED</a:t>
            </a:r>
            <a:endParaRPr lang="en-US" sz="1100" dirty="0"/>
          </a:p>
        </p:txBody>
      </p:sp>
      <p:sp>
        <p:nvSpPr>
          <p:cNvPr id="25" name="Text 23"/>
          <p:cNvSpPr txBox="1"/>
          <p:nvPr/>
        </p:nvSpPr>
        <p:spPr>
          <a:xfrm>
            <a:off x="5138928" y="4425696"/>
            <a:ext cx="3200400" cy="292608"/>
          </a:xfrm>
          <a:prstGeom prst="rect">
            <a:avLst/>
          </a:prstGeom>
          <a:noFill/>
          <a:ln/>
        </p:spPr>
        <p:txBody>
          <a:bodyPr wrap="square" lIns="0" tIns="0" rIns="0" bIns="0" rtlCol="0" anchor="t"/>
          <a:lstStyle/>
          <a:p>
            <a:pPr indent="0" marL="0">
              <a:buNone/>
            </a:pPr>
            <a:r>
              <a:rPr lang="en-US" sz="1300" dirty="0">
                <a:solidFill>
                  <a:srgbClr val="22201D"/>
                </a:solidFill>
                <a:latin typeface="Calibri" pitchFamily="34" charset="0"/>
                <a:ea typeface="Calibri" pitchFamily="34" charset="-122"/>
                <a:cs typeface="Calibri" pitchFamily="34" charset="-120"/>
              </a:rPr>
              <a:t>Reduced speed through the area</a:t>
            </a:r>
            <a:endParaRPr lang="en-US" sz="1300" dirty="0"/>
          </a:p>
        </p:txBody>
      </p:sp>
      <p:sp>
        <p:nvSpPr>
          <p:cNvPr id="26" name="Text 24"/>
          <p:cNvSpPr txBox="1"/>
          <p:nvPr/>
        </p:nvSpPr>
        <p:spPr>
          <a:xfrm>
            <a:off x="8540496" y="4434840"/>
            <a:ext cx="3108960" cy="292608"/>
          </a:xfrm>
          <a:prstGeom prst="rect">
            <a:avLst/>
          </a:prstGeom>
          <a:noFill/>
          <a:ln/>
        </p:spPr>
        <p:txBody>
          <a:bodyPr wrap="square" lIns="0" tIns="0" rIns="0" bIns="0" rtlCol="0" anchor="t"/>
          <a:lstStyle/>
          <a:p>
            <a:pPr indent="0" marL="0">
              <a:buNone/>
            </a:pPr>
            <a:r>
              <a:rPr lang="en-US" sz="1150" dirty="0">
                <a:solidFill>
                  <a:srgbClr val="6B625A"/>
                </a:solidFill>
                <a:latin typeface="Calibri" pitchFamily="34" charset="0"/>
                <a:ea typeface="Calibri" pitchFamily="34" charset="-122"/>
                <a:cs typeface="Calibri" pitchFamily="34" charset="-120"/>
              </a:rPr>
              <a:t>Debris field, degraded pavement</a:t>
            </a:r>
            <a:endParaRPr lang="en-US" sz="1150" dirty="0"/>
          </a:p>
        </p:txBody>
      </p:sp>
      <p:sp>
        <p:nvSpPr>
          <p:cNvPr id="27" name="Shape 25"/>
          <p:cNvSpPr/>
          <p:nvPr/>
        </p:nvSpPr>
        <p:spPr>
          <a:xfrm>
            <a:off x="566928" y="4882896"/>
            <a:ext cx="1481328" cy="457200"/>
          </a:xfrm>
          <a:prstGeom prst="roundRect">
            <a:avLst>
              <a:gd name="adj" fmla="val 10000"/>
            </a:avLst>
          </a:prstGeom>
          <a:solidFill>
            <a:srgbClr val="2E6E85"/>
          </a:solidFill>
          <a:ln w="12700">
            <a:solidFill>
              <a:srgbClr val="2E6E85"/>
            </a:solidFill>
            <a:prstDash val="solid"/>
          </a:ln>
        </p:spPr>
      </p:sp>
      <p:sp>
        <p:nvSpPr>
          <p:cNvPr id="28" name="Text 26"/>
          <p:cNvSpPr txBox="1"/>
          <p:nvPr/>
        </p:nvSpPr>
        <p:spPr>
          <a:xfrm>
            <a:off x="749808" y="4992624"/>
            <a:ext cx="1188720" cy="274320"/>
          </a:xfrm>
          <a:prstGeom prst="rect">
            <a:avLst/>
          </a:prstGeom>
          <a:noFill/>
          <a:ln/>
        </p:spPr>
        <p:txBody>
          <a:bodyPr wrap="square" lIns="0" tIns="0" rIns="0" bIns="0" rtlCol="0" anchor="t"/>
          <a:lstStyle/>
          <a:p>
            <a:pPr indent="0" marL="0">
              <a:buNone/>
            </a:pPr>
            <a:r>
              <a:rPr lang="en-US" sz="1100" b="1" spc="60" kern="0" dirty="0">
                <a:solidFill>
                  <a:srgbClr val="FFFFFF"/>
                </a:solidFill>
                <a:latin typeface="Courier New" pitchFamily="34" charset="0"/>
                <a:ea typeface="Courier New" pitchFamily="34" charset="-122"/>
                <a:cs typeface="Courier New" pitchFamily="34" charset="-120"/>
              </a:rPr>
              <a:t>NO PICKUPS</a:t>
            </a:r>
            <a:endParaRPr lang="en-US" sz="1100" dirty="0"/>
          </a:p>
        </p:txBody>
      </p:sp>
      <p:sp>
        <p:nvSpPr>
          <p:cNvPr id="29" name="Text 27"/>
          <p:cNvSpPr txBox="1"/>
          <p:nvPr/>
        </p:nvSpPr>
        <p:spPr>
          <a:xfrm>
            <a:off x="5138928" y="4992624"/>
            <a:ext cx="3200400" cy="292608"/>
          </a:xfrm>
          <a:prstGeom prst="rect">
            <a:avLst/>
          </a:prstGeom>
          <a:noFill/>
          <a:ln/>
        </p:spPr>
        <p:txBody>
          <a:bodyPr wrap="square" lIns="0" tIns="0" rIns="0" bIns="0" rtlCol="0" anchor="t"/>
          <a:lstStyle/>
          <a:p>
            <a:pPr indent="0" marL="0">
              <a:buNone/>
            </a:pPr>
            <a:r>
              <a:rPr lang="en-US" sz="1300" dirty="0">
                <a:solidFill>
                  <a:srgbClr val="22201D"/>
                </a:solidFill>
                <a:latin typeface="Calibri" pitchFamily="34" charset="0"/>
                <a:ea typeface="Calibri" pitchFamily="34" charset="-122"/>
                <a:cs typeface="Calibri" pitchFamily="34" charset="-120"/>
              </a:rPr>
              <a:t>No passenger pickup or drop-off</a:t>
            </a:r>
            <a:endParaRPr lang="en-US" sz="1300" dirty="0"/>
          </a:p>
        </p:txBody>
      </p:sp>
      <p:sp>
        <p:nvSpPr>
          <p:cNvPr id="30" name="Text 28"/>
          <p:cNvSpPr txBox="1"/>
          <p:nvPr/>
        </p:nvSpPr>
        <p:spPr>
          <a:xfrm>
            <a:off x="8540496" y="5001768"/>
            <a:ext cx="3108960" cy="292608"/>
          </a:xfrm>
          <a:prstGeom prst="rect">
            <a:avLst/>
          </a:prstGeom>
          <a:noFill/>
          <a:ln/>
        </p:spPr>
        <p:txBody>
          <a:bodyPr wrap="square" lIns="0" tIns="0" rIns="0" bIns="0" rtlCol="0" anchor="t"/>
          <a:lstStyle/>
          <a:p>
            <a:pPr indent="0" marL="0">
              <a:buNone/>
            </a:pPr>
            <a:r>
              <a:rPr lang="en-US" sz="1150" dirty="0">
                <a:solidFill>
                  <a:srgbClr val="6B625A"/>
                </a:solidFill>
                <a:latin typeface="Calibri" pitchFamily="34" charset="0"/>
                <a:ea typeface="Calibri" pitchFamily="34" charset="-122"/>
                <a:cs typeface="Calibri" pitchFamily="34" charset="-120"/>
              </a:rPr>
              <a:t>Event egress, temporary curb conflict</a:t>
            </a:r>
            <a:endParaRPr lang="en-US" sz="1150" dirty="0"/>
          </a:p>
        </p:txBody>
      </p:sp>
      <p:sp>
        <p:nvSpPr>
          <p:cNvPr id="31" name="Text 29"/>
          <p:cNvSpPr txBox="1"/>
          <p:nvPr/>
        </p:nvSpPr>
        <p:spPr>
          <a:xfrm>
            <a:off x="566928" y="5687568"/>
            <a:ext cx="11057839" cy="658368"/>
          </a:xfrm>
          <a:prstGeom prst="rect">
            <a:avLst/>
          </a:prstGeom>
          <a:noFill/>
          <a:ln/>
        </p:spPr>
        <p:txBody>
          <a:bodyPr wrap="square" lIns="0" tIns="0" rIns="0" bIns="0" rtlCol="0" anchor="t"/>
          <a:lstStyle/>
          <a:p>
            <a:pPr indent="0" marL="0">
              <a:lnSpc>
                <a:spcPts val="2000"/>
              </a:lnSpc>
              <a:buNone/>
            </a:pPr>
            <a:r>
              <a:rPr lang="en-US" sz="1400" dirty="0">
                <a:solidFill>
                  <a:srgbClr val="22201D"/>
                </a:solidFill>
                <a:latin typeface="Calibri" pitchFamily="34" charset="0"/>
                <a:ea typeface="Calibri" pitchFamily="34" charset="-122"/>
                <a:cs typeface="Calibri" pitchFamily="34" charset="-120"/>
              </a:rPr>
              <a:t>Closing more street than the incident needs is not free. It pushes traffic onto residential blocks and strands riders who depend on the service. The format makes it easy to close exactly what you need, and no more.</a:t>
            </a:r>
            <a:endParaRPr lang="en-US" sz="1400" dirty="0"/>
          </a:p>
        </p:txBody>
      </p:sp>
      <p:sp>
        <p:nvSpPr>
          <p:cNvPr id="32" name="Text 30"/>
          <p:cNvSpPr txBox="1"/>
          <p:nvPr/>
        </p:nvSpPr>
        <p:spPr>
          <a:xfrm>
            <a:off x="566928" y="6291072"/>
            <a:ext cx="11057839" cy="274320"/>
          </a:xfrm>
          <a:prstGeom prst="rect">
            <a:avLst/>
          </a:prstGeom>
          <a:noFill/>
          <a:ln/>
        </p:spPr>
        <p:txBody>
          <a:bodyPr wrap="square" lIns="0" tIns="0" rIns="0" bIns="0" rtlCol="0" anchor="t"/>
          <a:lstStyle/>
          <a:p>
            <a:pP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C1A18"/>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DESIGN DECISIONS 2, 3 AND 4</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F2EEE9"/>
                </a:solidFill>
                <a:latin typeface="Cambria" pitchFamily="34" charset="0"/>
                <a:ea typeface="Cambria" pitchFamily="34" charset="-122"/>
                <a:cs typeface="Cambria" pitchFamily="34" charset="-120"/>
              </a:rPr>
              <a:t>The three rules that protect your people</a:t>
            </a:r>
            <a:endParaRPr lang="en-US" sz="3400" dirty="0"/>
          </a:p>
        </p:txBody>
      </p:sp>
      <p:sp>
        <p:nvSpPr>
          <p:cNvPr id="4" name="Shape 2"/>
          <p:cNvSpPr/>
          <p:nvPr/>
        </p:nvSpPr>
        <p:spPr>
          <a:xfrm>
            <a:off x="566928" y="1828800"/>
            <a:ext cx="3515258" cy="3401568"/>
          </a:xfrm>
          <a:prstGeom prst="roundRect">
            <a:avLst>
              <a:gd name="adj" fmla="val 2151"/>
            </a:avLst>
          </a:prstGeom>
          <a:solidFill>
            <a:srgbClr val="2A2622"/>
          </a:solidFill>
          <a:ln w="12700">
            <a:solidFill>
              <a:srgbClr val="3A342E"/>
            </a:solidFill>
            <a:prstDash val="solid"/>
          </a:ln>
        </p:spPr>
      </p:sp>
      <p:sp>
        <p:nvSpPr>
          <p:cNvPr id="5" name="Text 3"/>
          <p:cNvSpPr txBox="1"/>
          <p:nvPr/>
        </p:nvSpPr>
        <p:spPr>
          <a:xfrm>
            <a:off x="841248" y="2066544"/>
            <a:ext cx="2966618" cy="274320"/>
          </a:xfrm>
          <a:prstGeom prst="rect">
            <a:avLst/>
          </a:prstGeom>
          <a:noFill/>
          <a:ln/>
        </p:spPr>
        <p:txBody>
          <a:bodyPr wrap="square" lIns="0" tIns="0" rIns="0" bIns="0" rtlCol="0" anchor="t"/>
          <a:lstStyle/>
          <a:p>
            <a:pPr indent="0" marL="0">
              <a:buNone/>
            </a:pPr>
            <a:r>
              <a:rPr lang="en-US" sz="1100" b="1" spc="130" kern="0" dirty="0">
                <a:solidFill>
                  <a:srgbClr val="C1341C"/>
                </a:solidFill>
                <a:latin typeface="Courier New" pitchFamily="34" charset="0"/>
                <a:ea typeface="Courier New" pitchFamily="34" charset="-122"/>
                <a:cs typeface="Courier New" pitchFamily="34" charset="-120"/>
              </a:rPr>
              <a:t>EXIT, NEVER FREEZE</a:t>
            </a:r>
            <a:endParaRPr lang="en-US" sz="1100" dirty="0"/>
          </a:p>
        </p:txBody>
      </p:sp>
      <p:sp>
        <p:nvSpPr>
          <p:cNvPr id="6" name="Text 4"/>
          <p:cNvSpPr txBox="1"/>
          <p:nvPr/>
        </p:nvSpPr>
        <p:spPr>
          <a:xfrm>
            <a:off x="841248" y="2395728"/>
            <a:ext cx="2966618" cy="914400"/>
          </a:xfrm>
          <a:prstGeom prst="rect">
            <a:avLst/>
          </a:prstGeom>
          <a:noFill/>
          <a:ln/>
        </p:spPr>
        <p:txBody>
          <a:bodyPr wrap="square" lIns="0" tIns="0" rIns="0" bIns="0" rtlCol="0" anchor="t"/>
          <a:lstStyle/>
          <a:p>
            <a:pPr indent="0" marL="0">
              <a:lnSpc>
                <a:spcPts val="2500"/>
              </a:lnSpc>
              <a:buNone/>
            </a:pPr>
            <a:r>
              <a:rPr lang="en-US" sz="1900" b="1" dirty="0">
                <a:solidFill>
                  <a:srgbClr val="F2EEE9"/>
                </a:solidFill>
                <a:latin typeface="Cambria" pitchFamily="34" charset="0"/>
                <a:ea typeface="Cambria" pitchFamily="34" charset="-122"/>
                <a:cs typeface="Cambria" pitchFamily="34" charset="-120"/>
              </a:rPr>
              <a:t>Vehicles drive out, they do not stop where they stand</a:t>
            </a:r>
            <a:endParaRPr lang="en-US" sz="1900" dirty="0"/>
          </a:p>
        </p:txBody>
      </p:sp>
      <p:sp>
        <p:nvSpPr>
          <p:cNvPr id="7" name="Text 5"/>
          <p:cNvSpPr txBox="1"/>
          <p:nvPr/>
        </p:nvSpPr>
        <p:spPr>
          <a:xfrm>
            <a:off x="841248" y="3364992"/>
            <a:ext cx="2966618" cy="1700784"/>
          </a:xfrm>
          <a:prstGeom prst="rect">
            <a:avLst/>
          </a:prstGeom>
          <a:noFill/>
          <a:ln/>
        </p:spPr>
        <p:txBody>
          <a:bodyPr wrap="square" lIns="0" tIns="0" rIns="0" bIns="0" rtlCol="0" anchor="t"/>
          <a:lstStyle/>
          <a:p>
            <a:pPr indent="0" marL="0">
              <a:lnSpc>
                <a:spcPts val="1900"/>
              </a:lnSpc>
              <a:buNone/>
            </a:pPr>
            <a:r>
              <a:rPr lang="en-US" sz="1300" dirty="0">
                <a:solidFill>
                  <a:srgbClr val="A79C90"/>
                </a:solidFill>
                <a:latin typeface="Calibri" pitchFamily="34" charset="0"/>
                <a:ea typeface="Calibri" pitchFamily="34" charset="-122"/>
                <a:cs typeface="Calibri" pitchFamily="34" charset="-120"/>
              </a:rPr>
              <a:t>The default instruction to a vehicle caught inside a new zone is to leave by the shortest lawful path without stopping. A vehicle that halts the instant a geofence turns on is a vehicle abandoned in a fire lane, which is the exact behavior NHTSA cited.</a:t>
            </a:r>
            <a:endParaRPr lang="en-US" sz="1300" dirty="0"/>
          </a:p>
        </p:txBody>
      </p:sp>
      <p:sp>
        <p:nvSpPr>
          <p:cNvPr id="8" name="Shape 6"/>
          <p:cNvSpPr/>
          <p:nvPr/>
        </p:nvSpPr>
        <p:spPr>
          <a:xfrm>
            <a:off x="4338218" y="1828800"/>
            <a:ext cx="3515258" cy="3401568"/>
          </a:xfrm>
          <a:prstGeom prst="roundRect">
            <a:avLst>
              <a:gd name="adj" fmla="val 2151"/>
            </a:avLst>
          </a:prstGeom>
          <a:solidFill>
            <a:srgbClr val="2A2622"/>
          </a:solidFill>
          <a:ln w="12700">
            <a:solidFill>
              <a:srgbClr val="3A342E"/>
            </a:solidFill>
            <a:prstDash val="solid"/>
          </a:ln>
        </p:spPr>
      </p:sp>
      <p:sp>
        <p:nvSpPr>
          <p:cNvPr id="9" name="Text 7"/>
          <p:cNvSpPr txBox="1"/>
          <p:nvPr/>
        </p:nvSpPr>
        <p:spPr>
          <a:xfrm>
            <a:off x="4612538" y="2066544"/>
            <a:ext cx="2966618" cy="274320"/>
          </a:xfrm>
          <a:prstGeom prst="rect">
            <a:avLst/>
          </a:prstGeom>
          <a:noFill/>
          <a:ln/>
        </p:spPr>
        <p:txBody>
          <a:bodyPr wrap="square" lIns="0" tIns="0" rIns="0" bIns="0" rtlCol="0" anchor="t"/>
          <a:lstStyle/>
          <a:p>
            <a:pPr indent="0" marL="0">
              <a:buNone/>
            </a:pPr>
            <a:r>
              <a:rPr lang="en-US" sz="1100" b="1" spc="130" kern="0" dirty="0">
                <a:solidFill>
                  <a:srgbClr val="C1341C"/>
                </a:solidFill>
                <a:latin typeface="Courier New" pitchFamily="34" charset="0"/>
                <a:ea typeface="Courier New" pitchFamily="34" charset="-122"/>
                <a:cs typeface="Courier New" pitchFamily="34" charset="-120"/>
              </a:rPr>
              <a:t>EVERY NOTICE EXPIRES</a:t>
            </a:r>
            <a:endParaRPr lang="en-US" sz="1100" dirty="0"/>
          </a:p>
        </p:txBody>
      </p:sp>
      <p:sp>
        <p:nvSpPr>
          <p:cNvPr id="10" name="Text 8"/>
          <p:cNvSpPr txBox="1"/>
          <p:nvPr/>
        </p:nvSpPr>
        <p:spPr>
          <a:xfrm>
            <a:off x="4612538" y="2395728"/>
            <a:ext cx="2966618" cy="914400"/>
          </a:xfrm>
          <a:prstGeom prst="rect">
            <a:avLst/>
          </a:prstGeom>
          <a:noFill/>
          <a:ln/>
        </p:spPr>
        <p:txBody>
          <a:bodyPr wrap="square" lIns="0" tIns="0" rIns="0" bIns="0" rtlCol="0" anchor="t"/>
          <a:lstStyle/>
          <a:p>
            <a:pPr indent="0" marL="0">
              <a:lnSpc>
                <a:spcPts val="2500"/>
              </a:lnSpc>
              <a:buNone/>
            </a:pPr>
            <a:r>
              <a:rPr lang="en-US" sz="1900" b="1" dirty="0">
                <a:solidFill>
                  <a:srgbClr val="F2EEE9"/>
                </a:solidFill>
                <a:latin typeface="Cambria" pitchFamily="34" charset="0"/>
                <a:ea typeface="Cambria" pitchFamily="34" charset="-122"/>
                <a:cs typeface="Cambria" pitchFamily="34" charset="-120"/>
              </a:rPr>
              <a:t>The restriction lifts on its own</a:t>
            </a:r>
            <a:endParaRPr lang="en-US" sz="1900" dirty="0"/>
          </a:p>
        </p:txBody>
      </p:sp>
      <p:sp>
        <p:nvSpPr>
          <p:cNvPr id="11" name="Text 9"/>
          <p:cNvSpPr txBox="1"/>
          <p:nvPr/>
        </p:nvSpPr>
        <p:spPr>
          <a:xfrm>
            <a:off x="4612538" y="3364992"/>
            <a:ext cx="2966618" cy="1700784"/>
          </a:xfrm>
          <a:prstGeom prst="rect">
            <a:avLst/>
          </a:prstGeom>
          <a:noFill/>
          <a:ln/>
        </p:spPr>
        <p:txBody>
          <a:bodyPr wrap="square" lIns="0" tIns="0" rIns="0" bIns="0" rtlCol="0" anchor="t"/>
          <a:lstStyle/>
          <a:p>
            <a:pPr indent="0" marL="0">
              <a:lnSpc>
                <a:spcPts val="1900"/>
              </a:lnSpc>
              <a:buNone/>
            </a:pPr>
            <a:r>
              <a:rPr lang="en-US" sz="1300" dirty="0">
                <a:solidFill>
                  <a:srgbClr val="A79C90"/>
                </a:solidFill>
                <a:latin typeface="Calibri" pitchFamily="34" charset="0"/>
                <a:ea typeface="Calibri" pitchFamily="34" charset="-122"/>
                <a:cs typeface="Calibri" pitchFamily="34" charset="-120"/>
              </a:rPr>
              <a:t>There is no open-ended form. A stuck geofence fails silently: nothing alarms, service just quietly stops being available in a neighborhood. Extending takes one click. Forgetting cannot happen.</a:t>
            </a:r>
            <a:endParaRPr lang="en-US" sz="1300" dirty="0"/>
          </a:p>
        </p:txBody>
      </p:sp>
      <p:sp>
        <p:nvSpPr>
          <p:cNvPr id="12" name="Shape 10"/>
          <p:cNvSpPr/>
          <p:nvPr/>
        </p:nvSpPr>
        <p:spPr>
          <a:xfrm>
            <a:off x="8109509" y="1828800"/>
            <a:ext cx="3515258" cy="3401568"/>
          </a:xfrm>
          <a:prstGeom prst="roundRect">
            <a:avLst>
              <a:gd name="adj" fmla="val 2151"/>
            </a:avLst>
          </a:prstGeom>
          <a:solidFill>
            <a:srgbClr val="2A2622"/>
          </a:solidFill>
          <a:ln w="12700">
            <a:solidFill>
              <a:srgbClr val="3A342E"/>
            </a:solidFill>
            <a:prstDash val="solid"/>
          </a:ln>
        </p:spPr>
      </p:sp>
      <p:sp>
        <p:nvSpPr>
          <p:cNvPr id="13" name="Text 11"/>
          <p:cNvSpPr txBox="1"/>
          <p:nvPr/>
        </p:nvSpPr>
        <p:spPr>
          <a:xfrm>
            <a:off x="8383829" y="2066544"/>
            <a:ext cx="2966618" cy="274320"/>
          </a:xfrm>
          <a:prstGeom prst="rect">
            <a:avLst/>
          </a:prstGeom>
          <a:noFill/>
          <a:ln/>
        </p:spPr>
        <p:txBody>
          <a:bodyPr wrap="square" lIns="0" tIns="0" rIns="0" bIns="0" rtlCol="0" anchor="t"/>
          <a:lstStyle/>
          <a:p>
            <a:pPr indent="0" marL="0">
              <a:buNone/>
            </a:pPr>
            <a:r>
              <a:rPr lang="en-US" sz="1100" b="1" spc="130" kern="0" dirty="0">
                <a:solidFill>
                  <a:srgbClr val="C1341C"/>
                </a:solidFill>
                <a:latin typeface="Courier New" pitchFamily="34" charset="0"/>
                <a:ea typeface="Courier New" pitchFamily="34" charset="-122"/>
                <a:cs typeface="Courier New" pitchFamily="34" charset="-120"/>
              </a:rPr>
              <a:t>SAFETY OUTRANKS THE NOTICE</a:t>
            </a:r>
            <a:endParaRPr lang="en-US" sz="1100" dirty="0"/>
          </a:p>
        </p:txBody>
      </p:sp>
      <p:sp>
        <p:nvSpPr>
          <p:cNvPr id="14" name="Text 12"/>
          <p:cNvSpPr txBox="1"/>
          <p:nvPr/>
        </p:nvSpPr>
        <p:spPr>
          <a:xfrm>
            <a:off x="8383829" y="2395728"/>
            <a:ext cx="2966618" cy="914400"/>
          </a:xfrm>
          <a:prstGeom prst="rect">
            <a:avLst/>
          </a:prstGeom>
          <a:noFill/>
          <a:ln/>
        </p:spPr>
        <p:txBody>
          <a:bodyPr wrap="square" lIns="0" tIns="0" rIns="0" bIns="0" rtlCol="0" anchor="t"/>
          <a:lstStyle/>
          <a:p>
            <a:pPr indent="0" marL="0">
              <a:lnSpc>
                <a:spcPts val="2500"/>
              </a:lnSpc>
              <a:buNone/>
            </a:pPr>
            <a:r>
              <a:rPr lang="en-US" sz="1900" b="1" dirty="0">
                <a:solidFill>
                  <a:srgbClr val="F2EEE9"/>
                </a:solidFill>
                <a:latin typeface="Cambria" pitchFamily="34" charset="0"/>
                <a:ea typeface="Cambria" pitchFamily="34" charset="-122"/>
                <a:cs typeface="Cambria" pitchFamily="34" charset="-120"/>
              </a:rPr>
              <a:t>It is a routing constraint, not a kill switch</a:t>
            </a:r>
            <a:endParaRPr lang="en-US" sz="1900" dirty="0"/>
          </a:p>
        </p:txBody>
      </p:sp>
      <p:sp>
        <p:nvSpPr>
          <p:cNvPr id="15" name="Text 13"/>
          <p:cNvSpPr txBox="1"/>
          <p:nvPr/>
        </p:nvSpPr>
        <p:spPr>
          <a:xfrm>
            <a:off x="8383829" y="3364992"/>
            <a:ext cx="2966618" cy="1700784"/>
          </a:xfrm>
          <a:prstGeom prst="rect">
            <a:avLst/>
          </a:prstGeom>
          <a:noFill/>
          <a:ln/>
        </p:spPr>
        <p:txBody>
          <a:bodyPr wrap="square" lIns="0" tIns="0" rIns="0" bIns="0" rtlCol="0" anchor="t"/>
          <a:lstStyle/>
          <a:p>
            <a:pPr indent="0" marL="0">
              <a:lnSpc>
                <a:spcPts val="1900"/>
              </a:lnSpc>
              <a:buNone/>
            </a:pPr>
            <a:r>
              <a:rPr lang="en-US" sz="1300" dirty="0">
                <a:solidFill>
                  <a:srgbClr val="A79C90"/>
                </a:solidFill>
                <a:latin typeface="Calibri" pitchFamily="34" charset="0"/>
                <a:ea typeface="Calibri" pitchFamily="34" charset="-122"/>
                <a:cs typeface="Calibri" pitchFamily="34" charset="-120"/>
              </a:rPr>
              <a:t>No notice can make a vehicle brake in a travel lane, reverse, make an illegal turn, or ignore an officer directing traffic. Your people on scene outrank the message. Nobody should ever sell this as remote control.</a:t>
            </a:r>
            <a:endParaRPr lang="en-US" sz="1300" dirty="0"/>
          </a:p>
        </p:txBody>
      </p:sp>
      <p:sp>
        <p:nvSpPr>
          <p:cNvPr id="16" name="Text 14"/>
          <p:cNvSpPr txBox="1"/>
          <p:nvPr/>
        </p:nvSpPr>
        <p:spPr>
          <a:xfrm>
            <a:off x="566928" y="5504688"/>
            <a:ext cx="11057839" cy="457200"/>
          </a:xfrm>
          <a:prstGeom prst="rect">
            <a:avLst/>
          </a:prstGeom>
          <a:noFill/>
          <a:ln/>
        </p:spPr>
        <p:txBody>
          <a:bodyPr wrap="square" lIns="0" tIns="0" rIns="0" bIns="0" rtlCol="0" anchor="t"/>
          <a:lstStyle/>
          <a:p>
            <a:pPr indent="0" marL="0">
              <a:buNone/>
            </a:pPr>
            <a:r>
              <a:rPr lang="en-US" sz="1400" i="1" dirty="0">
                <a:solidFill>
                  <a:srgbClr val="A79C90"/>
                </a:solidFill>
                <a:latin typeface="Calibri" pitchFamily="34" charset="0"/>
                <a:ea typeface="Calibri" pitchFamily="34" charset="-122"/>
                <a:cs typeface="Calibri" pitchFamily="34" charset="-120"/>
              </a:rPr>
              <a:t>Together with graduated restriction, these are the four decisions that make the format safe to hand to an incident commander at 04:00.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IN PRACTICE</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A dispatcher draws the zone and issues it in under a minute</a:t>
            </a:r>
            <a:endParaRPr lang="en-US" sz="3400" dirty="0"/>
          </a:p>
        </p:txBody>
      </p:sp>
      <p:pic>
        <p:nvPicPr>
          <p:cNvPr id="4" name="Image 0" descr="/tmp/deck/console-map.png">    </p:cNvPr>
          <p:cNvPicPr>
            <a:picLocks noChangeAspect="1"/>
          </p:cNvPicPr>
          <p:nvPr/>
        </p:nvPicPr>
        <p:blipFill>
          <a:blip r:embed="rId1"/>
          <a:srcRect l="0" r="0" t="0" b="0"/>
          <a:stretch/>
        </p:blipFill>
        <p:spPr>
          <a:xfrm>
            <a:off x="566928" y="1773936"/>
            <a:ext cx="7360920" cy="4041648"/>
          </a:xfrm>
          <a:prstGeom prst="rect">
            <a:avLst/>
          </a:prstGeom>
        </p:spPr>
      </p:pic>
      <p:sp>
        <p:nvSpPr>
          <p:cNvPr id="5" name="Text 2"/>
          <p:cNvSpPr txBox="1"/>
          <p:nvPr/>
        </p:nvSpPr>
        <p:spPr>
          <a:xfrm>
            <a:off x="8211312" y="1847088"/>
            <a:ext cx="896112" cy="274320"/>
          </a:xfrm>
          <a:prstGeom prst="rect">
            <a:avLst/>
          </a:prstGeom>
          <a:noFill/>
          <a:ln/>
        </p:spPr>
        <p:txBody>
          <a:bodyPr wrap="square" lIns="0" tIns="0" rIns="0" bIns="0" rtlCol="0" anchor="t"/>
          <a:lstStyle/>
          <a:p>
            <a:pPr indent="0" marL="0">
              <a:buNone/>
            </a:pPr>
            <a:r>
              <a:rPr lang="en-US" sz="1200" b="1" dirty="0">
                <a:solidFill>
                  <a:srgbClr val="C1341C"/>
                </a:solidFill>
                <a:latin typeface="Courier New" pitchFamily="34" charset="0"/>
                <a:ea typeface="Courier New" pitchFamily="34" charset="-122"/>
                <a:cs typeface="Courier New" pitchFamily="34" charset="-120"/>
              </a:rPr>
              <a:t>0:00</a:t>
            </a:r>
            <a:endParaRPr lang="en-US" sz="1200" dirty="0"/>
          </a:p>
        </p:txBody>
      </p:sp>
      <p:sp>
        <p:nvSpPr>
          <p:cNvPr id="6" name="Text 3"/>
          <p:cNvSpPr txBox="1"/>
          <p:nvPr/>
        </p:nvSpPr>
        <p:spPr>
          <a:xfrm>
            <a:off x="9162288" y="1828800"/>
            <a:ext cx="2487168" cy="786384"/>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Draw the zone on the map. The console will not let you issue one that breaks a duration or area limit.</a:t>
            </a:r>
            <a:endParaRPr lang="en-US" sz="1200" dirty="0"/>
          </a:p>
        </p:txBody>
      </p:sp>
      <p:sp>
        <p:nvSpPr>
          <p:cNvPr id="7" name="Text 4"/>
          <p:cNvSpPr txBox="1"/>
          <p:nvPr/>
        </p:nvSpPr>
        <p:spPr>
          <a:xfrm>
            <a:off x="8211312" y="2651760"/>
            <a:ext cx="896112" cy="274320"/>
          </a:xfrm>
          <a:prstGeom prst="rect">
            <a:avLst/>
          </a:prstGeom>
          <a:noFill/>
          <a:ln/>
        </p:spPr>
        <p:txBody>
          <a:bodyPr wrap="square" lIns="0" tIns="0" rIns="0" bIns="0" rtlCol="0" anchor="t"/>
          <a:lstStyle/>
          <a:p>
            <a:pPr indent="0" marL="0">
              <a:buNone/>
            </a:pPr>
            <a:r>
              <a:rPr lang="en-US" sz="1200" b="1" dirty="0">
                <a:solidFill>
                  <a:srgbClr val="C1341C"/>
                </a:solidFill>
                <a:latin typeface="Courier New" pitchFamily="34" charset="0"/>
                <a:ea typeface="Courier New" pitchFamily="34" charset="-122"/>
                <a:cs typeface="Courier New" pitchFamily="34" charset="-120"/>
              </a:rPr>
              <a:t>0:15</a:t>
            </a:r>
            <a:endParaRPr lang="en-US" sz="1200" dirty="0"/>
          </a:p>
        </p:txBody>
      </p:sp>
      <p:sp>
        <p:nvSpPr>
          <p:cNvPr id="8" name="Text 5"/>
          <p:cNvSpPr txBox="1"/>
          <p:nvPr/>
        </p:nvSpPr>
        <p:spPr>
          <a:xfrm>
            <a:off x="9162288" y="2633472"/>
            <a:ext cx="2487168" cy="786384"/>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Every operator acknowledges, and reports how many of their vehicles are inside.</a:t>
            </a:r>
            <a:endParaRPr lang="en-US" sz="1200" dirty="0"/>
          </a:p>
        </p:txBody>
      </p:sp>
      <p:sp>
        <p:nvSpPr>
          <p:cNvPr id="9" name="Text 6"/>
          <p:cNvSpPr txBox="1"/>
          <p:nvPr/>
        </p:nvSpPr>
        <p:spPr>
          <a:xfrm>
            <a:off x="8211312" y="3456432"/>
            <a:ext cx="896112" cy="274320"/>
          </a:xfrm>
          <a:prstGeom prst="rect">
            <a:avLst/>
          </a:prstGeom>
          <a:noFill/>
          <a:ln/>
        </p:spPr>
        <p:txBody>
          <a:bodyPr wrap="square" lIns="0" tIns="0" rIns="0" bIns="0" rtlCol="0" anchor="t"/>
          <a:lstStyle/>
          <a:p>
            <a:pPr indent="0" marL="0">
              <a:buNone/>
            </a:pPr>
            <a:r>
              <a:rPr lang="en-US" sz="1200" b="1" dirty="0">
                <a:solidFill>
                  <a:srgbClr val="C1341C"/>
                </a:solidFill>
                <a:latin typeface="Courier New" pitchFamily="34" charset="0"/>
                <a:ea typeface="Courier New" pitchFamily="34" charset="-122"/>
                <a:cs typeface="Courier New" pitchFamily="34" charset="-120"/>
              </a:rPr>
              <a:t>0:30</a:t>
            </a:r>
            <a:endParaRPr lang="en-US" sz="1200" dirty="0"/>
          </a:p>
        </p:txBody>
      </p:sp>
      <p:sp>
        <p:nvSpPr>
          <p:cNvPr id="10" name="Text 7"/>
          <p:cNvSpPr txBox="1"/>
          <p:nvPr/>
        </p:nvSpPr>
        <p:spPr>
          <a:xfrm>
            <a:off x="9162288" y="3438144"/>
            <a:ext cx="2487168" cy="786384"/>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Routing is updated. No new vehicles enter.</a:t>
            </a:r>
            <a:endParaRPr lang="en-US" sz="1200" dirty="0"/>
          </a:p>
        </p:txBody>
      </p:sp>
      <p:sp>
        <p:nvSpPr>
          <p:cNvPr id="11" name="Text 8"/>
          <p:cNvSpPr txBox="1"/>
          <p:nvPr/>
        </p:nvSpPr>
        <p:spPr>
          <a:xfrm>
            <a:off x="8211312" y="4261104"/>
            <a:ext cx="896112" cy="274320"/>
          </a:xfrm>
          <a:prstGeom prst="rect">
            <a:avLst/>
          </a:prstGeom>
          <a:noFill/>
          <a:ln/>
        </p:spPr>
        <p:txBody>
          <a:bodyPr wrap="square" lIns="0" tIns="0" rIns="0" bIns="0" rtlCol="0" anchor="t"/>
          <a:lstStyle/>
          <a:p>
            <a:pPr indent="0" marL="0">
              <a:buNone/>
            </a:pPr>
            <a:r>
              <a:rPr lang="en-US" sz="1200" b="1" dirty="0">
                <a:solidFill>
                  <a:srgbClr val="C1341C"/>
                </a:solidFill>
                <a:latin typeface="Courier New" pitchFamily="34" charset="0"/>
                <a:ea typeface="Courier New" pitchFamily="34" charset="-122"/>
                <a:cs typeface="Courier New" pitchFamily="34" charset="-120"/>
              </a:rPr>
              <a:t>5:00</a:t>
            </a:r>
            <a:endParaRPr lang="en-US" sz="1200" dirty="0"/>
          </a:p>
        </p:txBody>
      </p:sp>
      <p:sp>
        <p:nvSpPr>
          <p:cNvPr id="12" name="Text 9"/>
          <p:cNvSpPr txBox="1"/>
          <p:nvPr/>
        </p:nvSpPr>
        <p:spPr>
          <a:xfrm>
            <a:off x="9162288" y="4242816"/>
            <a:ext cx="2487168" cy="786384"/>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Vehicles already inside are out. Any that cannot move are reported by exception on the hotline.</a:t>
            </a:r>
            <a:endParaRPr lang="en-US" sz="1200" dirty="0"/>
          </a:p>
        </p:txBody>
      </p:sp>
      <p:sp>
        <p:nvSpPr>
          <p:cNvPr id="13" name="Text 10"/>
          <p:cNvSpPr txBox="1"/>
          <p:nvPr/>
        </p:nvSpPr>
        <p:spPr>
          <a:xfrm>
            <a:off x="8211312" y="5065776"/>
            <a:ext cx="896112" cy="274320"/>
          </a:xfrm>
          <a:prstGeom prst="rect">
            <a:avLst/>
          </a:prstGeom>
          <a:noFill/>
          <a:ln/>
        </p:spPr>
        <p:txBody>
          <a:bodyPr wrap="square" lIns="0" tIns="0" rIns="0" bIns="0" rtlCol="0" anchor="t"/>
          <a:lstStyle/>
          <a:p>
            <a:pPr indent="0" marL="0">
              <a:buNone/>
            </a:pPr>
            <a:r>
              <a:rPr lang="en-US" sz="1200" b="1" dirty="0">
                <a:solidFill>
                  <a:srgbClr val="C1341C"/>
                </a:solidFill>
                <a:latin typeface="Courier New" pitchFamily="34" charset="0"/>
                <a:ea typeface="Courier New" pitchFamily="34" charset="-122"/>
                <a:cs typeface="Courier New" pitchFamily="34" charset="-120"/>
              </a:rPr>
              <a:t>4:00:00</a:t>
            </a:r>
            <a:endParaRPr lang="en-US" sz="1200" dirty="0"/>
          </a:p>
        </p:txBody>
      </p:sp>
      <p:sp>
        <p:nvSpPr>
          <p:cNvPr id="14" name="Text 11"/>
          <p:cNvSpPr txBox="1"/>
          <p:nvPr/>
        </p:nvSpPr>
        <p:spPr>
          <a:xfrm>
            <a:off x="9162288" y="5047488"/>
            <a:ext cx="2487168" cy="786384"/>
          </a:xfrm>
          <a:prstGeom prst="rect">
            <a:avLst/>
          </a:prstGeom>
          <a:noFill/>
          <a:ln/>
        </p:spPr>
        <p:txBody>
          <a:bodyPr wrap="square" lIns="0" tIns="0" rIns="0" bIns="0" rtlCol="0" anchor="t"/>
          <a:lstStyle/>
          <a:p>
            <a:pPr indent="0" marL="0">
              <a:lnSpc>
                <a:spcPts val="1600"/>
              </a:lnSpc>
              <a:buNone/>
            </a:pPr>
            <a:r>
              <a:rPr lang="en-US" sz="1200" dirty="0">
                <a:solidFill>
                  <a:srgbClr val="6B625A"/>
                </a:solidFill>
                <a:latin typeface="Calibri" pitchFamily="34" charset="0"/>
                <a:ea typeface="Calibri" pitchFamily="34" charset="-122"/>
                <a:cs typeface="Calibri" pitchFamily="34" charset="-120"/>
              </a:rPr>
              <a:t>The restriction expires by itself unless the incident commander extends it.</a:t>
            </a:r>
            <a:endParaRPr lang="en-US" sz="1200" dirty="0"/>
          </a:p>
        </p:txBody>
      </p:sp>
      <p:sp>
        <p:nvSpPr>
          <p:cNvPr id="15" name="Text 12"/>
          <p:cNvSpPr txBox="1"/>
          <p:nvPr/>
        </p:nvSpPr>
        <p:spPr>
          <a:xfrm>
            <a:off x="566928" y="6291072"/>
            <a:ext cx="11057839" cy="274320"/>
          </a:xfrm>
          <a:prstGeom prst="rect">
            <a:avLst/>
          </a:prstGeom>
          <a:noFill/>
          <a:ln/>
        </p:spPr>
        <p:txBody>
          <a:bodyPr wrap="square" lIns="0" tIns="0" rIns="0" bIns="0" rtlCol="0" anchor="t"/>
          <a:lstStyle/>
          <a:p>
            <a:pPr indent="0" marL="0">
              <a:buNone/>
            </a:pPr>
            <a:r>
              <a:rPr lang="en-US" sz="1000" dirty="0">
                <a:solidFill>
                  <a:srgbClr val="6B625A"/>
                </a:solidFill>
                <a:latin typeface="Calibri" pitchFamily="34" charset="0"/>
                <a:ea typeface="Calibri" pitchFamily="34" charset="-122"/>
                <a:cs typeface="Calibri" pitchFamily="34" charset="-120"/>
              </a:rPr>
              <a:t>Working demonstration console. The fleet, the acknowledgments and the signature are simulated; the notice it produces is real and validates against the specification.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ADOPTION</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Four things a department needs. You already have the first.</a:t>
            </a:r>
            <a:endParaRPr lang="en-US" sz="3400" dirty="0"/>
          </a:p>
        </p:txBody>
      </p:sp>
      <p:sp>
        <p:nvSpPr>
          <p:cNvPr id="4" name="Shape 2"/>
          <p:cNvSpPr/>
          <p:nvPr/>
        </p:nvSpPr>
        <p:spPr>
          <a:xfrm>
            <a:off x="566928" y="1810512"/>
            <a:ext cx="2586152" cy="3163824"/>
          </a:xfrm>
          <a:prstGeom prst="roundRect">
            <a:avLst>
              <a:gd name="adj" fmla="val 2475"/>
            </a:avLst>
          </a:prstGeom>
          <a:solidFill>
            <a:srgbClr val="FFFFFF"/>
          </a:solidFill>
          <a:ln w="25400">
            <a:solidFill>
              <a:srgbClr val="C1341C"/>
            </a:solidFill>
            <a:prstDash val="solid"/>
          </a:ln>
          <a:effectLst>
            <a:outerShdw sx="100000" sy="100000" kx="0" ky="0" algn="bl" rotWithShape="0" blurRad="88900" dist="12700" dir="5400000">
              <a:srgbClr val="9A9088">
                <a:alpha val="15000"/>
              </a:srgbClr>
            </a:outerShdw>
          </a:effectLst>
        </p:spPr>
      </p:sp>
      <p:sp>
        <p:nvSpPr>
          <p:cNvPr id="5" name="Shape 3"/>
          <p:cNvSpPr/>
          <p:nvPr/>
        </p:nvSpPr>
        <p:spPr>
          <a:xfrm>
            <a:off x="822960" y="2048256"/>
            <a:ext cx="457200" cy="457200"/>
          </a:xfrm>
          <a:prstGeom prst="ellipse">
            <a:avLst/>
          </a:prstGeom>
          <a:solidFill>
            <a:srgbClr val="C1341C"/>
          </a:solidFill>
          <a:ln w="12700">
            <a:solidFill>
              <a:srgbClr val="C1341C"/>
            </a:solidFill>
            <a:prstDash val="solid"/>
          </a:ln>
        </p:spPr>
      </p:sp>
      <p:sp>
        <p:nvSpPr>
          <p:cNvPr id="6" name="Text 4"/>
          <p:cNvSpPr txBox="1"/>
          <p:nvPr/>
        </p:nvSpPr>
        <p:spPr>
          <a:xfrm>
            <a:off x="822960" y="2103120"/>
            <a:ext cx="457200" cy="347472"/>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822960" y="2670048"/>
            <a:ext cx="2074088" cy="585216"/>
          </a:xfrm>
          <a:prstGeom prst="rect">
            <a:avLst/>
          </a:prstGeom>
          <a:noFill/>
          <a:ln/>
        </p:spPr>
        <p:txBody>
          <a:bodyPr wrap="square" lIns="0" tIns="0" rIns="0" bIns="0" rtlCol="0" anchor="t"/>
          <a:lstStyle/>
          <a:p>
            <a:pPr indent="0" marL="0">
              <a:buNone/>
            </a:pPr>
            <a:r>
              <a:rPr lang="en-US" sz="1800" b="1" dirty="0">
                <a:solidFill>
                  <a:srgbClr val="22201D"/>
                </a:solidFill>
                <a:latin typeface="Cambria" pitchFamily="34" charset="0"/>
                <a:ea typeface="Cambria" pitchFamily="34" charset="-122"/>
                <a:cs typeface="Cambria" pitchFamily="34" charset="-120"/>
              </a:rPr>
              <a:t>The authority to send it</a:t>
            </a:r>
            <a:endParaRPr lang="en-US" sz="1800" dirty="0"/>
          </a:p>
        </p:txBody>
      </p:sp>
      <p:sp>
        <p:nvSpPr>
          <p:cNvPr id="8" name="Text 6"/>
          <p:cNvSpPr txBox="1"/>
          <p:nvPr/>
        </p:nvSpPr>
        <p:spPr>
          <a:xfrm>
            <a:off x="822960" y="3310128"/>
            <a:ext cx="2074088" cy="153619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In California you have it now. A letter to each operator starts a 30 business day clock in which they must give you everything needed to begin issuing. You do not need anyone's permission and you do not need a credential to start.</a:t>
            </a:r>
            <a:endParaRPr lang="en-US" sz="1250" dirty="0"/>
          </a:p>
        </p:txBody>
      </p:sp>
      <p:sp>
        <p:nvSpPr>
          <p:cNvPr id="9" name="Shape 7"/>
          <p:cNvSpPr/>
          <p:nvPr/>
        </p:nvSpPr>
        <p:spPr>
          <a:xfrm>
            <a:off x="3390824" y="1810512"/>
            <a:ext cx="2586152" cy="3163824"/>
          </a:xfrm>
          <a:prstGeom prst="roundRect">
            <a:avLst>
              <a:gd name="adj" fmla="val 2475"/>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10" name="Shape 8"/>
          <p:cNvSpPr/>
          <p:nvPr/>
        </p:nvSpPr>
        <p:spPr>
          <a:xfrm>
            <a:off x="3646856" y="2048256"/>
            <a:ext cx="457200" cy="457200"/>
          </a:xfrm>
          <a:prstGeom prst="ellipse">
            <a:avLst/>
          </a:prstGeom>
          <a:solidFill>
            <a:srgbClr val="2E6E85"/>
          </a:solidFill>
          <a:ln w="12700">
            <a:solidFill>
              <a:srgbClr val="2E6E85"/>
            </a:solidFill>
            <a:prstDash val="solid"/>
          </a:ln>
        </p:spPr>
      </p:sp>
      <p:sp>
        <p:nvSpPr>
          <p:cNvPr id="11" name="Text 9"/>
          <p:cNvSpPr txBox="1"/>
          <p:nvPr/>
        </p:nvSpPr>
        <p:spPr>
          <a:xfrm>
            <a:off x="3646856" y="2103120"/>
            <a:ext cx="457200" cy="347472"/>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3646856" y="2670048"/>
            <a:ext cx="2074088" cy="585216"/>
          </a:xfrm>
          <a:prstGeom prst="rect">
            <a:avLst/>
          </a:prstGeom>
          <a:noFill/>
          <a:ln/>
        </p:spPr>
        <p:txBody>
          <a:bodyPr wrap="square" lIns="0" tIns="0" rIns="0" bIns="0" rtlCol="0" anchor="t"/>
          <a:lstStyle/>
          <a:p>
            <a:pPr indent="0" marL="0">
              <a:buNone/>
            </a:pPr>
            <a:r>
              <a:rPr lang="en-US" sz="1800" b="1" dirty="0">
                <a:solidFill>
                  <a:srgbClr val="22201D"/>
                </a:solidFill>
                <a:latin typeface="Cambria" pitchFamily="34" charset="0"/>
                <a:ea typeface="Cambria" pitchFamily="34" charset="-122"/>
                <a:cs typeface="Cambria" pitchFamily="34" charset="-120"/>
              </a:rPr>
              <a:t>An authorized issuer</a:t>
            </a:r>
            <a:endParaRPr lang="en-US" sz="1800" dirty="0"/>
          </a:p>
        </p:txBody>
      </p:sp>
      <p:sp>
        <p:nvSpPr>
          <p:cNvPr id="13" name="Text 11"/>
          <p:cNvSpPr txBox="1"/>
          <p:nvPr/>
        </p:nvSpPr>
        <p:spPr>
          <a:xfrm>
            <a:off x="3646856" y="3310128"/>
            <a:ext cx="2074088" cy="153619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Incident commander, watch commander or dispatch supervisor, per your policy. The format assumes an incident number and a staffed callback line. You already have both.</a:t>
            </a:r>
            <a:endParaRPr lang="en-US" sz="1250" dirty="0"/>
          </a:p>
        </p:txBody>
      </p:sp>
      <p:sp>
        <p:nvSpPr>
          <p:cNvPr id="14" name="Shape 12"/>
          <p:cNvSpPr/>
          <p:nvPr/>
        </p:nvSpPr>
        <p:spPr>
          <a:xfrm>
            <a:off x="6214720" y="1810512"/>
            <a:ext cx="2586152" cy="3163824"/>
          </a:xfrm>
          <a:prstGeom prst="roundRect">
            <a:avLst>
              <a:gd name="adj" fmla="val 2475"/>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15" name="Shape 13"/>
          <p:cNvSpPr/>
          <p:nvPr/>
        </p:nvSpPr>
        <p:spPr>
          <a:xfrm>
            <a:off x="6470752" y="2048256"/>
            <a:ext cx="457200" cy="457200"/>
          </a:xfrm>
          <a:prstGeom prst="ellipse">
            <a:avLst/>
          </a:prstGeom>
          <a:solidFill>
            <a:srgbClr val="2E6E85"/>
          </a:solidFill>
          <a:ln w="12700">
            <a:solidFill>
              <a:srgbClr val="2E6E85"/>
            </a:solidFill>
            <a:prstDash val="solid"/>
          </a:ln>
        </p:spPr>
      </p:sp>
      <p:sp>
        <p:nvSpPr>
          <p:cNvPr id="16" name="Text 14"/>
          <p:cNvSpPr txBox="1"/>
          <p:nvPr/>
        </p:nvSpPr>
        <p:spPr>
          <a:xfrm>
            <a:off x="6470752" y="2103120"/>
            <a:ext cx="457200" cy="347472"/>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txBox="1"/>
          <p:nvPr/>
        </p:nvSpPr>
        <p:spPr>
          <a:xfrm>
            <a:off x="6470752" y="2670048"/>
            <a:ext cx="2074088" cy="585216"/>
          </a:xfrm>
          <a:prstGeom prst="rect">
            <a:avLst/>
          </a:prstGeom>
          <a:noFill/>
          <a:ln/>
        </p:spPr>
        <p:txBody>
          <a:bodyPr wrap="square" lIns="0" tIns="0" rIns="0" bIns="0" rtlCol="0" anchor="t"/>
          <a:lstStyle/>
          <a:p>
            <a:pPr indent="0" marL="0">
              <a:buNone/>
            </a:pPr>
            <a:r>
              <a:rPr lang="en-US" sz="1800" b="1" dirty="0">
                <a:solidFill>
                  <a:srgbClr val="22201D"/>
                </a:solidFill>
                <a:latin typeface="Cambria" pitchFamily="34" charset="0"/>
                <a:ea typeface="Cambria" pitchFamily="34" charset="-122"/>
                <a:cs typeface="Cambria" pitchFamily="34" charset="-120"/>
              </a:rPr>
              <a:t>A way to draw the zone</a:t>
            </a:r>
            <a:endParaRPr lang="en-US" sz="1800" dirty="0"/>
          </a:p>
        </p:txBody>
      </p:sp>
      <p:sp>
        <p:nvSpPr>
          <p:cNvPr id="18" name="Text 16"/>
          <p:cNvSpPr txBox="1"/>
          <p:nvPr/>
        </p:nvSpPr>
        <p:spPr>
          <a:xfrm>
            <a:off x="6470752" y="3310128"/>
            <a:ext cx="2074088" cy="153619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A CAD integration, or the standalone console. And a habit: send coordinates when your CAD can produce them. A landmark name makes somebody else guess how big the closure is.</a:t>
            </a:r>
            <a:endParaRPr lang="en-US" sz="1250" dirty="0"/>
          </a:p>
        </p:txBody>
      </p:sp>
      <p:sp>
        <p:nvSpPr>
          <p:cNvPr id="19" name="Shape 17"/>
          <p:cNvSpPr/>
          <p:nvPr/>
        </p:nvSpPr>
        <p:spPr>
          <a:xfrm>
            <a:off x="9038615" y="1810512"/>
            <a:ext cx="2586152" cy="3163824"/>
          </a:xfrm>
          <a:prstGeom prst="roundRect">
            <a:avLst>
              <a:gd name="adj" fmla="val 2475"/>
            </a:avLst>
          </a:prstGeom>
          <a:solidFill>
            <a:srgbClr val="FFFFFF"/>
          </a:solidFill>
          <a:ln w="12700">
            <a:solidFill>
              <a:srgbClr val="EDE9E4"/>
            </a:solidFill>
            <a:prstDash val="solid"/>
          </a:ln>
          <a:effectLst>
            <a:outerShdw sx="100000" sy="100000" kx="0" ky="0" algn="bl" rotWithShape="0" blurRad="88900" dist="12700" dir="5400000">
              <a:srgbClr val="9A9088">
                <a:alpha val="15000"/>
              </a:srgbClr>
            </a:outerShdw>
          </a:effectLst>
        </p:spPr>
      </p:sp>
      <p:sp>
        <p:nvSpPr>
          <p:cNvPr id="20" name="Shape 18"/>
          <p:cNvSpPr/>
          <p:nvPr/>
        </p:nvSpPr>
        <p:spPr>
          <a:xfrm>
            <a:off x="9294647" y="2048256"/>
            <a:ext cx="457200" cy="457200"/>
          </a:xfrm>
          <a:prstGeom prst="ellipse">
            <a:avLst/>
          </a:prstGeom>
          <a:solidFill>
            <a:srgbClr val="2E6E85"/>
          </a:solidFill>
          <a:ln w="12700">
            <a:solidFill>
              <a:srgbClr val="2E6E85"/>
            </a:solidFill>
            <a:prstDash val="solid"/>
          </a:ln>
        </p:spPr>
      </p:sp>
      <p:sp>
        <p:nvSpPr>
          <p:cNvPr id="21" name="Text 19"/>
          <p:cNvSpPr txBox="1"/>
          <p:nvPr/>
        </p:nvSpPr>
        <p:spPr>
          <a:xfrm>
            <a:off x="9294647" y="2103120"/>
            <a:ext cx="457200" cy="347472"/>
          </a:xfrm>
          <a:prstGeom prst="rect">
            <a:avLst/>
          </a:prstGeom>
          <a:noFill/>
          <a:ln/>
        </p:spPr>
        <p:txBody>
          <a:bodyPr wrap="square" lIns="0" tIns="0" rIns="0" bIns="0" rtlCol="0" anchor="t"/>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txBox="1"/>
          <p:nvPr/>
        </p:nvSpPr>
        <p:spPr>
          <a:xfrm>
            <a:off x="9294647" y="2670048"/>
            <a:ext cx="2074088" cy="585216"/>
          </a:xfrm>
          <a:prstGeom prst="rect">
            <a:avLst/>
          </a:prstGeom>
          <a:noFill/>
          <a:ln/>
        </p:spPr>
        <p:txBody>
          <a:bodyPr wrap="square" lIns="0" tIns="0" rIns="0" bIns="0" rtlCol="0" anchor="t"/>
          <a:lstStyle/>
          <a:p>
            <a:pPr indent="0" marL="0">
              <a:buNone/>
            </a:pPr>
            <a:r>
              <a:rPr lang="en-US" sz="1800" b="1" dirty="0">
                <a:solidFill>
                  <a:srgbClr val="22201D"/>
                </a:solidFill>
                <a:latin typeface="Cambria" pitchFamily="34" charset="0"/>
                <a:ea typeface="Cambria" pitchFamily="34" charset="-122"/>
                <a:cs typeface="Cambria" pitchFamily="34" charset="-120"/>
              </a:rPr>
              <a:t>Standing policy on levels</a:t>
            </a:r>
            <a:endParaRPr lang="en-US" sz="1800" dirty="0"/>
          </a:p>
        </p:txBody>
      </p:sp>
      <p:sp>
        <p:nvSpPr>
          <p:cNvPr id="23" name="Text 21"/>
          <p:cNvSpPr txBox="1"/>
          <p:nvPr/>
        </p:nvSpPr>
        <p:spPr>
          <a:xfrm>
            <a:off x="9294647" y="3310128"/>
            <a:ext cx="2074088" cy="1536192"/>
          </a:xfrm>
          <a:prstGeom prst="rect">
            <a:avLst/>
          </a:prstGeom>
          <a:noFill/>
          <a:ln/>
        </p:spPr>
        <p:txBody>
          <a:bodyPr wrap="square" lIns="0" tIns="0" rIns="0" bIns="0" rtlCol="0" anchor="t"/>
          <a:lstStyle/>
          <a:p>
            <a:pPr indent="0" marL="0">
              <a:lnSpc>
                <a:spcPts val="1700"/>
              </a:lnSpc>
              <a:buNone/>
            </a:pPr>
            <a:r>
              <a:rPr lang="en-US" sz="1250" dirty="0">
                <a:solidFill>
                  <a:srgbClr val="6B625A"/>
                </a:solidFill>
                <a:latin typeface="Calibri" pitchFamily="34" charset="0"/>
                <a:ea typeface="Calibri" pitchFamily="34" charset="-122"/>
                <a:cs typeface="Calibri" pitchFamily="34" charset="-120"/>
              </a:rPr>
              <a:t>The format supplies the vocabulary. Deciding that a working structure fire gets PROHIBITED and a fender bender gets AVOID is a local command decision, made before the incident.</a:t>
            </a:r>
            <a:endParaRPr lang="en-US" sz="1250" dirty="0"/>
          </a:p>
        </p:txBody>
      </p:sp>
      <p:sp>
        <p:nvSpPr>
          <p:cNvPr id="24" name="Shape 22"/>
          <p:cNvSpPr/>
          <p:nvPr/>
        </p:nvSpPr>
        <p:spPr>
          <a:xfrm>
            <a:off x="566928" y="5193792"/>
            <a:ext cx="11057839" cy="822960"/>
          </a:xfrm>
          <a:prstGeom prst="roundRect">
            <a:avLst>
              <a:gd name="adj" fmla="val 6667"/>
            </a:avLst>
          </a:prstGeom>
          <a:solidFill>
            <a:srgbClr val="F0DCD6"/>
          </a:solidFill>
          <a:ln w="12700">
            <a:solidFill>
              <a:srgbClr val="E2C4BB"/>
            </a:solidFill>
            <a:prstDash val="solid"/>
          </a:ln>
        </p:spPr>
      </p:sp>
      <p:sp>
        <p:nvSpPr>
          <p:cNvPr id="25" name="Text 23"/>
          <p:cNvSpPr txBox="1"/>
          <p:nvPr/>
        </p:nvSpPr>
        <p:spPr>
          <a:xfrm>
            <a:off x="877824" y="5358384"/>
            <a:ext cx="10436047" cy="512064"/>
          </a:xfrm>
          <a:prstGeom prst="rect">
            <a:avLst/>
          </a:prstGeom>
          <a:noFill/>
          <a:ln/>
        </p:spPr>
        <p:txBody>
          <a:bodyPr wrap="square" lIns="0" tIns="0" rIns="0" bIns="0" rtlCol="0" anchor="t"/>
          <a:lstStyle/>
          <a:p>
            <a:pPr indent="0" marL="0">
              <a:lnSpc>
                <a:spcPts val="2000"/>
              </a:lnSpc>
              <a:buNone/>
            </a:pPr>
            <a:r>
              <a:rPr lang="en-US" sz="1450" b="1" dirty="0">
                <a:solidFill>
                  <a:srgbClr val="22201D"/>
                </a:solidFill>
                <a:latin typeface="Calibri" pitchFamily="34" charset="0"/>
                <a:ea typeface="Calibri" pitchFamily="34" charset="-122"/>
                <a:cs typeface="Calibri" pitchFamily="34" charset="-120"/>
              </a:rPr>
              <a:t>The credential question is still open. </a:t>
            </a:r>
            <a:pPr indent="0" marL="0">
              <a:lnSpc>
                <a:spcPts val="2000"/>
              </a:lnSpc>
              <a:buNone/>
            </a:pPr>
            <a:r>
              <a:rPr lang="en-US" sz="1450" dirty="0">
                <a:solidFill>
                  <a:srgbClr val="22201D"/>
                </a:solidFill>
                <a:latin typeface="Calibri" pitchFamily="34" charset="0"/>
                <a:ea typeface="Calibri" pitchFamily="34" charset="-122"/>
                <a:cs typeface="Calibri" pitchFamily="34" charset="-120"/>
              </a:rPr>
              <a:t>Signing is what separates your notice from a forged one, and there is now a proposal on the table for who issues those certificates. If the fire service does not say how a twelve-person rural department gets one, that decision gets made without you.</a:t>
            </a:r>
            <a:endParaRPr lang="en-US" sz="1450" dirty="0"/>
          </a:p>
        </p:txBody>
      </p:sp>
      <p:sp>
        <p:nvSpPr>
          <p:cNvPr id="26" name="Text 24"/>
          <p:cNvSpPr txBox="1"/>
          <p:nvPr/>
        </p:nvSpPr>
        <p:spPr>
          <a:xfrm>
            <a:off x="566928" y="6291072"/>
            <a:ext cx="11057839" cy="274320"/>
          </a:xfrm>
          <a:prstGeom prst="rect">
            <a:avLst/>
          </a:prstGeom>
          <a:noFill/>
          <a:ln/>
        </p:spPr>
        <p:txBody>
          <a:bodyPr wrap="square" lIns="0" tIns="0" rIns="0" bIns="0" rtlCol="0" anchor="t"/>
          <a:lstStyle/>
          <a:p>
            <a:pP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HONESTY SLIDE</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Where this draft is tighter than the law requires</a:t>
            </a:r>
            <a:endParaRPr lang="en-US" sz="3400" dirty="0"/>
          </a:p>
        </p:txBody>
      </p:sp>
      <p:sp>
        <p:nvSpPr>
          <p:cNvPr id="4" name="Text 2"/>
          <p:cNvSpPr txBox="1"/>
          <p:nvPr/>
        </p:nvSpPr>
        <p:spPr>
          <a:xfrm>
            <a:off x="4224528" y="1847088"/>
            <a:ext cx="3310128" cy="274320"/>
          </a:xfrm>
          <a:prstGeom prst="rect">
            <a:avLst/>
          </a:prstGeom>
          <a:noFill/>
          <a:ln/>
        </p:spPr>
        <p:txBody>
          <a:bodyPr wrap="square" lIns="0" tIns="0" rIns="0" bIns="0" rtlCol="0" anchor="t"/>
          <a:lstStyle/>
          <a:p>
            <a:pPr indent="0" marL="0">
              <a:buNone/>
            </a:pPr>
            <a:r>
              <a:rPr lang="en-US" sz="1100" b="1" spc="130" kern="0" dirty="0">
                <a:solidFill>
                  <a:srgbClr val="2E6E85"/>
                </a:solidFill>
                <a:latin typeface="Courier New" pitchFamily="34" charset="0"/>
                <a:ea typeface="Courier New" pitchFamily="34" charset="-122"/>
                <a:cs typeface="Courier New" pitchFamily="34" charset="-120"/>
              </a:rPr>
              <a:t>California law allows</a:t>
            </a:r>
            <a:endParaRPr lang="en-US" sz="1100" dirty="0"/>
          </a:p>
        </p:txBody>
      </p:sp>
      <p:sp>
        <p:nvSpPr>
          <p:cNvPr id="5" name="Text 3"/>
          <p:cNvSpPr txBox="1"/>
          <p:nvPr/>
        </p:nvSpPr>
        <p:spPr>
          <a:xfrm>
            <a:off x="8119872" y="1847088"/>
            <a:ext cx="3392424" cy="274320"/>
          </a:xfrm>
          <a:prstGeom prst="rect">
            <a:avLst/>
          </a:prstGeom>
          <a:noFill/>
          <a:ln/>
        </p:spPr>
        <p:txBody>
          <a:bodyPr wrap="square" lIns="0" tIns="0" rIns="0" bIns="0" rtlCol="0" anchor="t"/>
          <a:lstStyle/>
          <a:p>
            <a:pPr indent="0" marL="0">
              <a:buNone/>
            </a:pPr>
            <a:r>
              <a:rPr lang="en-US" sz="1100" b="1" spc="130" kern="0" dirty="0">
                <a:solidFill>
                  <a:srgbClr val="C1341C"/>
                </a:solidFill>
                <a:latin typeface="Courier New" pitchFamily="34" charset="0"/>
                <a:ea typeface="Courier New" pitchFamily="34" charset="-122"/>
                <a:cs typeface="Courier New" pitchFamily="34" charset="-120"/>
              </a:rPr>
              <a:t>This draft sets</a:t>
            </a:r>
            <a:endParaRPr lang="en-US" sz="1100" dirty="0"/>
          </a:p>
        </p:txBody>
      </p:sp>
      <p:sp>
        <p:nvSpPr>
          <p:cNvPr id="6" name="Shape 4"/>
          <p:cNvSpPr/>
          <p:nvPr/>
        </p:nvSpPr>
        <p:spPr>
          <a:xfrm>
            <a:off x="566928" y="2231136"/>
            <a:ext cx="11057839" cy="969264"/>
          </a:xfrm>
          <a:prstGeom prst="roundRect">
            <a:avLst>
              <a:gd name="adj" fmla="val 4717"/>
            </a:avLst>
          </a:prstGeom>
          <a:solidFill>
            <a:srgbClr val="EDE9E4"/>
          </a:solidFill>
          <a:ln w="12700">
            <a:solidFill>
              <a:srgbClr val="EDE9E4"/>
            </a:solidFill>
            <a:prstDash val="solid"/>
          </a:ln>
        </p:spPr>
      </p:sp>
      <p:sp>
        <p:nvSpPr>
          <p:cNvPr id="7" name="Text 5"/>
          <p:cNvSpPr txBox="1"/>
          <p:nvPr/>
        </p:nvSpPr>
        <p:spPr>
          <a:xfrm>
            <a:off x="786384" y="2414016"/>
            <a:ext cx="2852928" cy="603504"/>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Maximum duration</a:t>
            </a:r>
            <a:endParaRPr lang="en-US" sz="1600" dirty="0"/>
          </a:p>
        </p:txBody>
      </p:sp>
      <p:sp>
        <p:nvSpPr>
          <p:cNvPr id="8" name="Text 6"/>
          <p:cNvSpPr txBox="1"/>
          <p:nvPr/>
        </p:nvSpPr>
        <p:spPr>
          <a:xfrm>
            <a:off x="4224528" y="2414016"/>
            <a:ext cx="3310128" cy="603504"/>
          </a:xfrm>
          <a:prstGeom prst="rect">
            <a:avLst/>
          </a:prstGeom>
          <a:noFill/>
          <a:ln/>
        </p:spPr>
        <p:txBody>
          <a:bodyPr wrap="square" lIns="0" tIns="0" rIns="0" bIns="0" rtlCol="0" anchor="t"/>
          <a:lstStyle/>
          <a:p>
            <a:pPr indent="0" marL="0">
              <a:lnSpc>
                <a:spcPts val="1800"/>
              </a:lnSpc>
              <a:buNone/>
            </a:pPr>
            <a:r>
              <a:rPr lang="en-US" sz="1350" dirty="0">
                <a:solidFill>
                  <a:srgbClr val="6B625A"/>
                </a:solidFill>
                <a:latin typeface="Calibri" pitchFamily="34" charset="0"/>
                <a:ea typeface="Calibri" pitchFamily="34" charset="-122"/>
                <a:cs typeface="Calibri" pitchFamily="34" charset="-120"/>
              </a:rPr>
              <a:t>Whatever duration the official states, extendable. No ceiling.</a:t>
            </a:r>
            <a:endParaRPr lang="en-US" sz="1350" dirty="0"/>
          </a:p>
        </p:txBody>
      </p:sp>
      <p:sp>
        <p:nvSpPr>
          <p:cNvPr id="9" name="Text 7"/>
          <p:cNvSpPr txBox="1"/>
          <p:nvPr/>
        </p:nvSpPr>
        <p:spPr>
          <a:xfrm>
            <a:off x="8119872" y="2414016"/>
            <a:ext cx="3392424" cy="603504"/>
          </a:xfrm>
          <a:prstGeom prst="rect">
            <a:avLst/>
          </a:prstGeom>
          <a:noFill/>
          <a:ln/>
        </p:spPr>
        <p:txBody>
          <a:bodyPr wrap="square" lIns="0" tIns="0" rIns="0" bIns="0" rtlCol="0" anchor="t"/>
          <a:lstStyle/>
          <a:p>
            <a:pPr indent="0" marL="0">
              <a:lnSpc>
                <a:spcPts val="1800"/>
              </a:lnSpc>
              <a:buNone/>
            </a:pPr>
            <a:r>
              <a:rPr lang="en-US" sz="1350" dirty="0">
                <a:solidFill>
                  <a:srgbClr val="22201D"/>
                </a:solidFill>
                <a:latin typeface="Calibri" pitchFamily="34" charset="0"/>
                <a:ea typeface="Calibri" pitchFamily="34" charset="-122"/>
                <a:cs typeface="Calibri" pitchFamily="34" charset="-120"/>
              </a:rPr>
              <a:t>4 hours for a fire or police incident, 24 hours cumulative. Longer only for planned infrastructure work.</a:t>
            </a:r>
            <a:endParaRPr lang="en-US" sz="1350" dirty="0"/>
          </a:p>
        </p:txBody>
      </p:sp>
      <p:sp>
        <p:nvSpPr>
          <p:cNvPr id="10" name="Text 8"/>
          <p:cNvSpPr txBox="1"/>
          <p:nvPr/>
        </p:nvSpPr>
        <p:spPr>
          <a:xfrm>
            <a:off x="786384" y="3456432"/>
            <a:ext cx="2852928" cy="603504"/>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Compliance timing</a:t>
            </a:r>
            <a:endParaRPr lang="en-US" sz="1600" dirty="0"/>
          </a:p>
        </p:txBody>
      </p:sp>
      <p:sp>
        <p:nvSpPr>
          <p:cNvPr id="11" name="Text 9"/>
          <p:cNvSpPr txBox="1"/>
          <p:nvPr/>
        </p:nvSpPr>
        <p:spPr>
          <a:xfrm>
            <a:off x="4224528" y="3456432"/>
            <a:ext cx="3310128" cy="603504"/>
          </a:xfrm>
          <a:prstGeom prst="rect">
            <a:avLst/>
          </a:prstGeom>
          <a:noFill/>
          <a:ln/>
        </p:spPr>
        <p:txBody>
          <a:bodyPr wrap="square" lIns="0" tIns="0" rIns="0" bIns="0" rtlCol="0" anchor="t"/>
          <a:lstStyle/>
          <a:p>
            <a:pPr indent="0" marL="0">
              <a:lnSpc>
                <a:spcPts val="1800"/>
              </a:lnSpc>
              <a:buNone/>
            </a:pPr>
            <a:r>
              <a:rPr lang="en-US" sz="1350" dirty="0">
                <a:solidFill>
                  <a:srgbClr val="6B625A"/>
                </a:solidFill>
                <a:latin typeface="Calibri" pitchFamily="34" charset="0"/>
                <a:ea typeface="Calibri" pitchFamily="34" charset="-122"/>
                <a:cs typeface="Calibri" pitchFamily="34" charset="-120"/>
              </a:rPr>
              <a:t>Fleet direction issued within 2 minutes</a:t>
            </a:r>
            <a:endParaRPr lang="en-US" sz="1350" dirty="0"/>
          </a:p>
        </p:txBody>
      </p:sp>
      <p:sp>
        <p:nvSpPr>
          <p:cNvPr id="12" name="Text 10"/>
          <p:cNvSpPr txBox="1"/>
          <p:nvPr/>
        </p:nvSpPr>
        <p:spPr>
          <a:xfrm>
            <a:off x="8119872" y="3456432"/>
            <a:ext cx="3392424" cy="603504"/>
          </a:xfrm>
          <a:prstGeom prst="rect">
            <a:avLst/>
          </a:prstGeom>
          <a:noFill/>
          <a:ln/>
        </p:spPr>
        <p:txBody>
          <a:bodyPr wrap="square" lIns="0" tIns="0" rIns="0" bIns="0" rtlCol="0" anchor="t"/>
          <a:lstStyle/>
          <a:p>
            <a:pPr indent="0" marL="0">
              <a:lnSpc>
                <a:spcPts val="1800"/>
              </a:lnSpc>
              <a:buNone/>
            </a:pPr>
            <a:r>
              <a:rPr lang="en-US" sz="1350" dirty="0">
                <a:solidFill>
                  <a:srgbClr val="22201D"/>
                </a:solidFill>
                <a:latin typeface="Calibri" pitchFamily="34" charset="0"/>
                <a:ea typeface="Calibri" pitchFamily="34" charset="-122"/>
                <a:cs typeface="Calibri" pitchFamily="34" charset="-120"/>
              </a:rPr>
              <a:t>Acknowledge in 15 seconds, routing updated in 30 seconds, vehicles clear of the zone in 5 minutes.</a:t>
            </a:r>
            <a:endParaRPr lang="en-US" sz="1350" dirty="0"/>
          </a:p>
        </p:txBody>
      </p:sp>
      <p:sp>
        <p:nvSpPr>
          <p:cNvPr id="13" name="Shape 11"/>
          <p:cNvSpPr/>
          <p:nvPr/>
        </p:nvSpPr>
        <p:spPr>
          <a:xfrm>
            <a:off x="566928" y="4315968"/>
            <a:ext cx="11057839" cy="969264"/>
          </a:xfrm>
          <a:prstGeom prst="roundRect">
            <a:avLst>
              <a:gd name="adj" fmla="val 4717"/>
            </a:avLst>
          </a:prstGeom>
          <a:solidFill>
            <a:srgbClr val="EDE9E4"/>
          </a:solidFill>
          <a:ln w="12700">
            <a:solidFill>
              <a:srgbClr val="EDE9E4"/>
            </a:solidFill>
            <a:prstDash val="solid"/>
          </a:ln>
        </p:spPr>
      </p:sp>
      <p:sp>
        <p:nvSpPr>
          <p:cNvPr id="14" name="Text 12"/>
          <p:cNvSpPr txBox="1"/>
          <p:nvPr/>
        </p:nvSpPr>
        <p:spPr>
          <a:xfrm>
            <a:off x="786384" y="4498848"/>
            <a:ext cx="2852928" cy="603504"/>
          </a:xfrm>
          <a:prstGeom prst="rect">
            <a:avLst/>
          </a:prstGeom>
          <a:noFill/>
          <a:ln/>
        </p:spPr>
        <p:txBody>
          <a:bodyPr wrap="square" lIns="0" tIns="0" rIns="0" bIns="0" rtlCol="0" anchor="t"/>
          <a:lstStyle/>
          <a:p>
            <a:pPr indent="0" marL="0">
              <a:buNone/>
            </a:pPr>
            <a:r>
              <a:rPr lang="en-US" sz="1600" b="1" dirty="0">
                <a:solidFill>
                  <a:srgbClr val="22201D"/>
                </a:solidFill>
                <a:latin typeface="Cambria" pitchFamily="34" charset="0"/>
                <a:ea typeface="Cambria" pitchFamily="34" charset="-122"/>
                <a:cs typeface="Cambria" pitchFamily="34" charset="-120"/>
              </a:rPr>
              <a:t>What a location is</a:t>
            </a:r>
            <a:endParaRPr lang="en-US" sz="1600" dirty="0"/>
          </a:p>
        </p:txBody>
      </p:sp>
      <p:sp>
        <p:nvSpPr>
          <p:cNvPr id="15" name="Text 13"/>
          <p:cNvSpPr txBox="1"/>
          <p:nvPr/>
        </p:nvSpPr>
        <p:spPr>
          <a:xfrm>
            <a:off x="4224528" y="4498848"/>
            <a:ext cx="3310128" cy="603504"/>
          </a:xfrm>
          <a:prstGeom prst="rect">
            <a:avLst/>
          </a:prstGeom>
          <a:noFill/>
          <a:ln/>
        </p:spPr>
        <p:txBody>
          <a:bodyPr wrap="square" lIns="0" tIns="0" rIns="0" bIns="0" rtlCol="0" anchor="t"/>
          <a:lstStyle/>
          <a:p>
            <a:pPr indent="0" marL="0">
              <a:lnSpc>
                <a:spcPts val="1800"/>
              </a:lnSpc>
              <a:buNone/>
            </a:pPr>
            <a:r>
              <a:rPr lang="en-US" sz="1350" dirty="0">
                <a:solidFill>
                  <a:srgbClr val="6B625A"/>
                </a:solidFill>
                <a:latin typeface="Calibri" pitchFamily="34" charset="0"/>
                <a:ea typeface="Calibri" pitchFamily="34" charset="-122"/>
                <a:cs typeface="Calibri" pitchFamily="34" charset="-120"/>
              </a:rPr>
              <a:t>A street address or an intersection is enough</a:t>
            </a:r>
            <a:endParaRPr lang="en-US" sz="1350" dirty="0"/>
          </a:p>
        </p:txBody>
      </p:sp>
      <p:sp>
        <p:nvSpPr>
          <p:cNvPr id="16" name="Text 14"/>
          <p:cNvSpPr txBox="1"/>
          <p:nvPr/>
        </p:nvSpPr>
        <p:spPr>
          <a:xfrm>
            <a:off x="8119872" y="4498848"/>
            <a:ext cx="3392424" cy="603504"/>
          </a:xfrm>
          <a:prstGeom prst="rect">
            <a:avLst/>
          </a:prstGeom>
          <a:noFill/>
          <a:ln/>
        </p:spPr>
        <p:txBody>
          <a:bodyPr wrap="square" lIns="0" tIns="0" rIns="0" bIns="0" rtlCol="0" anchor="t"/>
          <a:lstStyle/>
          <a:p>
            <a:pPr indent="0" marL="0">
              <a:lnSpc>
                <a:spcPts val="1800"/>
              </a:lnSpc>
              <a:buNone/>
            </a:pPr>
            <a:r>
              <a:rPr lang="en-US" sz="1350" dirty="0">
                <a:solidFill>
                  <a:srgbClr val="22201D"/>
                </a:solidFill>
                <a:latin typeface="Calibri" pitchFamily="34" charset="0"/>
                <a:ea typeface="Calibri" pitchFamily="34" charset="-122"/>
                <a:cs typeface="Calibri" pitchFamily="34" charset="-120"/>
              </a:rPr>
              <a:t>A shape. An address becomes a circle capped at 150 meters, recorded as synthesized, never quietly enlarged.</a:t>
            </a:r>
            <a:endParaRPr lang="en-US" sz="1350" dirty="0"/>
          </a:p>
        </p:txBody>
      </p:sp>
      <p:sp>
        <p:nvSpPr>
          <p:cNvPr id="17" name="Text 15"/>
          <p:cNvSpPr txBox="1"/>
          <p:nvPr/>
        </p:nvSpPr>
        <p:spPr>
          <a:xfrm>
            <a:off x="566928" y="5468112"/>
            <a:ext cx="7589520" cy="822960"/>
          </a:xfrm>
          <a:prstGeom prst="rect">
            <a:avLst/>
          </a:prstGeom>
          <a:noFill/>
          <a:ln/>
        </p:spPr>
        <p:txBody>
          <a:bodyPr wrap="square" lIns="0" tIns="0" rIns="0" bIns="0" rtlCol="0" anchor="t"/>
          <a:lstStyle/>
          <a:p>
            <a:pPr indent="0" marL="0">
              <a:lnSpc>
                <a:spcPts val="2000"/>
              </a:lnSpc>
              <a:buNone/>
            </a:pPr>
            <a:r>
              <a:rPr lang="en-US" sz="1400" b="1" dirty="0">
                <a:solidFill>
                  <a:srgbClr val="22201D"/>
                </a:solidFill>
                <a:latin typeface="Calibri" pitchFamily="34" charset="0"/>
                <a:ea typeface="Calibri" pitchFamily="34" charset="-122"/>
                <a:cs typeface="Calibri" pitchFamily="34" charset="-120"/>
              </a:rPr>
              <a:t>A four-hour ceiling is not a limit on your authority. </a:t>
            </a:r>
            <a:pPr indent="0" marL="0">
              <a:lnSpc>
                <a:spcPts val="2000"/>
              </a:lnSpc>
              <a:buNone/>
            </a:pPr>
            <a:r>
              <a:rPr lang="en-US" sz="1400" dirty="0">
                <a:solidFill>
                  <a:srgbClr val="22201D"/>
                </a:solidFill>
                <a:latin typeface="Calibri" pitchFamily="34" charset="0"/>
                <a:ea typeface="Calibri" pitchFamily="34" charset="-122"/>
                <a:cs typeface="Calibri" pitchFamily="34" charset="-120"/>
              </a:rPr>
              <a:t>It is a forcing function that makes someone look at the zone again while the incident is still live. Extending is one click. Forgetting is the failure the ceiling prevents.</a:t>
            </a:r>
            <a:endParaRPr lang="en-US" sz="1400" dirty="0"/>
          </a:p>
        </p:txBody>
      </p:sp>
      <p:sp>
        <p:nvSpPr>
          <p:cNvPr id="18" name="Shape 16"/>
          <p:cNvSpPr/>
          <p:nvPr/>
        </p:nvSpPr>
        <p:spPr>
          <a:xfrm>
            <a:off x="8321040" y="5394960"/>
            <a:ext cx="3310128" cy="914400"/>
          </a:xfrm>
          <a:prstGeom prst="roundRect">
            <a:avLst>
              <a:gd name="adj" fmla="val 6000"/>
            </a:avLst>
          </a:prstGeom>
          <a:solidFill>
            <a:srgbClr val="F0DCD6"/>
          </a:solidFill>
          <a:ln w="12700">
            <a:solidFill>
              <a:srgbClr val="E2C4BB"/>
            </a:solidFill>
            <a:prstDash val="solid"/>
          </a:ln>
        </p:spPr>
      </p:sp>
      <p:sp>
        <p:nvSpPr>
          <p:cNvPr id="19" name="Text 17"/>
          <p:cNvSpPr txBox="1"/>
          <p:nvPr/>
        </p:nvSpPr>
        <p:spPr>
          <a:xfrm>
            <a:off x="8540496" y="5541264"/>
            <a:ext cx="2871216" cy="640080"/>
          </a:xfrm>
          <a:prstGeom prst="rect">
            <a:avLst/>
          </a:prstGeom>
          <a:noFill/>
          <a:ln/>
        </p:spPr>
        <p:txBody>
          <a:bodyPr wrap="square" lIns="0" tIns="0" rIns="0" bIns="0" rtlCol="0" anchor="t"/>
          <a:lstStyle/>
          <a:p>
            <a:pPr indent="0" marL="0">
              <a:lnSpc>
                <a:spcPts val="1700"/>
              </a:lnSpc>
              <a:buNone/>
            </a:pPr>
            <a:r>
              <a:rPr lang="en-US" sz="1250" dirty="0">
                <a:solidFill>
                  <a:srgbClr val="22201D"/>
                </a:solidFill>
                <a:latin typeface="Calibri" pitchFamily="34" charset="0"/>
                <a:ea typeface="Calibri" pitchFamily="34" charset="-122"/>
                <a:cs typeface="Calibri" pitchFamily="34" charset="-120"/>
              </a:rPr>
              <a:t>Who may issue is the other gap. The law says any emergency response official, and does not define the edge of that list.</a:t>
            </a:r>
            <a:endParaRPr lang="en-US" sz="1250" dirty="0"/>
          </a:p>
        </p:txBody>
      </p:sp>
      <p:sp>
        <p:nvSpPr>
          <p:cNvPr id="20" name="Text 18"/>
          <p:cNvSpPr txBox="1"/>
          <p:nvPr/>
        </p:nvSpPr>
        <p:spPr>
          <a:xfrm>
            <a:off x="566928" y="6291072"/>
            <a:ext cx="11057839" cy="274320"/>
          </a:xfrm>
          <a:prstGeom prst="rect">
            <a:avLst/>
          </a:prstGeom>
          <a:noFill/>
          <a:ln/>
        </p:spPr>
        <p:txBody>
          <a:bodyPr wrap="square" lIns="0" tIns="0" rIns="0" bIns="0" rtlCol="0" anchor="t"/>
          <a:lstStyle/>
          <a:p>
            <a:pP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C1A18"/>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SCOPE</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F2EEE9"/>
                </a:solidFill>
                <a:latin typeface="Cambria" pitchFamily="34" charset="0"/>
                <a:ea typeface="Cambria" pitchFamily="34" charset="-122"/>
                <a:cs typeface="Cambria" pitchFamily="34" charset="-120"/>
              </a:rPr>
              <a:t>What this is, and what it is not</a:t>
            </a:r>
            <a:endParaRPr lang="en-US" sz="3400" dirty="0"/>
          </a:p>
        </p:txBody>
      </p:sp>
      <p:sp>
        <p:nvSpPr>
          <p:cNvPr id="4" name="Shape 2"/>
          <p:cNvSpPr/>
          <p:nvPr/>
        </p:nvSpPr>
        <p:spPr>
          <a:xfrm>
            <a:off x="566928" y="1883664"/>
            <a:ext cx="5440680" cy="3200400"/>
          </a:xfrm>
          <a:prstGeom prst="roundRect">
            <a:avLst>
              <a:gd name="adj" fmla="val 2286"/>
            </a:avLst>
          </a:prstGeom>
          <a:solidFill>
            <a:srgbClr val="2A2622"/>
          </a:solidFill>
          <a:ln w="25400">
            <a:solidFill>
              <a:srgbClr val="44724A"/>
            </a:solidFill>
            <a:prstDash val="solid"/>
          </a:ln>
        </p:spPr>
      </p:sp>
      <p:sp>
        <p:nvSpPr>
          <p:cNvPr id="5" name="Text 3"/>
          <p:cNvSpPr txBox="1"/>
          <p:nvPr/>
        </p:nvSpPr>
        <p:spPr>
          <a:xfrm>
            <a:off x="877824" y="2139696"/>
            <a:ext cx="4818888" cy="292608"/>
          </a:xfrm>
          <a:prstGeom prst="rect">
            <a:avLst/>
          </a:prstGeom>
          <a:noFill/>
          <a:ln/>
        </p:spPr>
        <p:txBody>
          <a:bodyPr wrap="square" lIns="0" tIns="0" rIns="0" bIns="0" rtlCol="0" anchor="t"/>
          <a:lstStyle/>
          <a:p>
            <a:pPr indent="0" marL="0">
              <a:buNone/>
            </a:pPr>
            <a:r>
              <a:rPr lang="en-US" sz="1200" b="1" spc="160" kern="0" dirty="0">
                <a:solidFill>
                  <a:srgbClr val="44724A"/>
                </a:solidFill>
                <a:latin typeface="Courier New" pitchFamily="34" charset="0"/>
                <a:ea typeface="Courier New" pitchFamily="34" charset="-122"/>
                <a:cs typeface="Courier New" pitchFamily="34" charset="-120"/>
              </a:rPr>
              <a:t>IT IS</a:t>
            </a:r>
            <a:endParaRPr lang="en-US" sz="1200" dirty="0"/>
          </a:p>
        </p:txBody>
      </p:sp>
      <p:sp>
        <p:nvSpPr>
          <p:cNvPr id="6" name="Text 4"/>
          <p:cNvSpPr txBox="1"/>
          <p:nvPr/>
        </p:nvSpPr>
        <p:spPr>
          <a:xfrm>
            <a:off x="877824" y="2560320"/>
            <a:ext cx="4818888" cy="228600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A draft technical specification, complete enough to implement.</a:t>
            </a:r>
            <a:endParaRPr lang="en-US" sz="1400" dirty="0"/>
          </a:p>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The message format, the rules, a working console, and a validator.</a:t>
            </a:r>
            <a:endParaRPr lang="en-US" sz="1400" dirty="0"/>
          </a:p>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Through one adversarial security and safety review, which found eighteen significant defects. All are fixed and covered by regression tests.</a:t>
            </a:r>
            <a:endParaRPr lang="en-US" sz="1400" dirty="0"/>
          </a:p>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Open for comment, and expected to change.</a:t>
            </a:r>
            <a:endParaRPr lang="en-US" sz="1400" dirty="0"/>
          </a:p>
        </p:txBody>
      </p:sp>
      <p:sp>
        <p:nvSpPr>
          <p:cNvPr id="7" name="Shape 5"/>
          <p:cNvSpPr/>
          <p:nvPr/>
        </p:nvSpPr>
        <p:spPr>
          <a:xfrm>
            <a:off x="6190488" y="1883664"/>
            <a:ext cx="5440680" cy="3200400"/>
          </a:xfrm>
          <a:prstGeom prst="roundRect">
            <a:avLst>
              <a:gd name="adj" fmla="val 2286"/>
            </a:avLst>
          </a:prstGeom>
          <a:solidFill>
            <a:srgbClr val="2A2622"/>
          </a:solidFill>
          <a:ln w="25400">
            <a:solidFill>
              <a:srgbClr val="C1341C"/>
            </a:solidFill>
            <a:prstDash val="solid"/>
          </a:ln>
        </p:spPr>
      </p:sp>
      <p:sp>
        <p:nvSpPr>
          <p:cNvPr id="8" name="Text 6"/>
          <p:cNvSpPr txBox="1"/>
          <p:nvPr/>
        </p:nvSpPr>
        <p:spPr>
          <a:xfrm>
            <a:off x="6501384" y="2139696"/>
            <a:ext cx="4818888" cy="292608"/>
          </a:xfrm>
          <a:prstGeom prst="rect">
            <a:avLst/>
          </a:prstGeom>
          <a:noFill/>
          <a:ln/>
        </p:spPr>
        <p:txBody>
          <a:bodyPr wrap="square" lIns="0" tIns="0" rIns="0" bIns="0" rtlCol="0" anchor="t"/>
          <a:lstStyle/>
          <a:p>
            <a:pPr indent="0" marL="0">
              <a:buNone/>
            </a:pPr>
            <a:r>
              <a:rPr lang="en-US" sz="1200" b="1" spc="160" kern="0" dirty="0">
                <a:solidFill>
                  <a:srgbClr val="C1341C"/>
                </a:solidFill>
                <a:latin typeface="Courier New" pitchFamily="34" charset="0"/>
                <a:ea typeface="Courier New" pitchFamily="34" charset="-122"/>
                <a:cs typeface="Courier New" pitchFamily="34" charset="-120"/>
              </a:rPr>
              <a:t>IT IS NOT</a:t>
            </a:r>
            <a:endParaRPr lang="en-US" sz="1200" dirty="0"/>
          </a:p>
        </p:txBody>
      </p:sp>
      <p:sp>
        <p:nvSpPr>
          <p:cNvPr id="9" name="Text 7"/>
          <p:cNvSpPr txBox="1"/>
          <p:nvPr/>
        </p:nvSpPr>
        <p:spPr>
          <a:xfrm>
            <a:off x="6501384" y="2560320"/>
            <a:ext cx="4818888" cy="2286000"/>
          </a:xfrm>
          <a:prstGeom prst="rect">
            <a:avLst/>
          </a:prstGeom>
          <a:noFill/>
          <a:ln/>
        </p:spPr>
        <p:txBody>
          <a:bodyPr wrap="square" lIns="0" tIns="0" rIns="0" bIns="0" rtlCol="0" anchor="t"/>
          <a:lstStyle/>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An adopted standard. No standards body has taken it up.</a:t>
            </a:r>
            <a:endParaRPr lang="en-US" sz="1400" dirty="0"/>
          </a:p>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A product. There is nothing to buy and nothing to install.</a:t>
            </a:r>
            <a:endParaRPr lang="en-US" sz="1400" dirty="0"/>
          </a:p>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Agreed by anyone. No AV operator has committed to accept these notices.</a:t>
            </a:r>
            <a:endParaRPr lang="en-US" sz="1400" dirty="0"/>
          </a:p>
          <a:p>
            <a:pPr marL="342900" indent="-342900">
              <a:lnSpc>
                <a:spcPts val="2000"/>
              </a:lnSpc>
              <a:spcAft>
                <a:spcPts val="1000"/>
              </a:spcAft>
              <a:buSzPct val="100000"/>
              <a:buChar char="•"/>
            </a:pPr>
            <a:r>
              <a:rPr lang="en-US" sz="1400" dirty="0">
                <a:solidFill>
                  <a:srgbClr val="F2EEE9"/>
                </a:solidFill>
                <a:latin typeface="Calibri" pitchFamily="34" charset="0"/>
                <a:ea typeface="Calibri" pitchFamily="34" charset="-122"/>
                <a:cs typeface="Calibri" pitchFamily="34" charset="-120"/>
              </a:rPr>
              <a:t>Remote control. It cannot stop, steer or disable a vehicle, by design.</a:t>
            </a:r>
            <a:endParaRPr lang="en-US" sz="1400" dirty="0"/>
          </a:p>
        </p:txBody>
      </p:sp>
      <p:sp>
        <p:nvSpPr>
          <p:cNvPr id="10" name="Text 8"/>
          <p:cNvSpPr txBox="1"/>
          <p:nvPr/>
        </p:nvSpPr>
        <p:spPr>
          <a:xfrm>
            <a:off x="566928" y="5413248"/>
            <a:ext cx="11057839" cy="457200"/>
          </a:xfrm>
          <a:prstGeom prst="rect">
            <a:avLst/>
          </a:prstGeom>
          <a:noFill/>
          <a:ln/>
        </p:spPr>
        <p:txBody>
          <a:bodyPr wrap="square" lIns="0" tIns="0" rIns="0" bIns="0" rtlCol="0" anchor="t"/>
          <a:lstStyle/>
          <a:p>
            <a:pPr indent="0" marL="0">
              <a:buNone/>
            </a:pPr>
            <a:r>
              <a:rPr lang="en-US" sz="1700" i="1" dirty="0">
                <a:solidFill>
                  <a:srgbClr val="A79C90"/>
                </a:solidFill>
                <a:latin typeface="Cambria" pitchFamily="34" charset="0"/>
                <a:ea typeface="Cambria" pitchFamily="34" charset="-122"/>
                <a:cs typeface="Cambria" pitchFamily="34" charset="-120"/>
              </a:rPr>
              <a:t>The credential registry, which everything else depends on, does not exist yet.</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C1A18"/>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74320"/>
          </a:xfrm>
          <a:prstGeom prst="rect">
            <a:avLst/>
          </a:prstGeom>
          <a:noFill/>
          <a:ln/>
        </p:spPr>
        <p:txBody>
          <a:bodyPr wrap="square" lIns="0" tIns="0" rIns="0" bIns="0" rtlCol="0" anchor="t"/>
          <a:lstStyle/>
          <a:p>
            <a:pPr indent="0" marL="0">
              <a:buNone/>
            </a:pPr>
            <a:r>
              <a:rPr lang="en-US" sz="1200" b="1" spc="220" kern="0" dirty="0">
                <a:solidFill>
                  <a:srgbClr val="C1341C"/>
                </a:solidFill>
                <a:latin typeface="Courier New" pitchFamily="34" charset="0"/>
                <a:ea typeface="Courier New" pitchFamily="34" charset="-122"/>
                <a:cs typeface="Courier New" pitchFamily="34" charset="-120"/>
              </a:rPr>
              <a:t>THE ASK</a:t>
            </a:r>
            <a:endParaRPr lang="en-US" sz="1200" dirty="0"/>
          </a:p>
        </p:txBody>
      </p:sp>
      <p:sp>
        <p:nvSpPr>
          <p:cNvPr id="3" name="Text 1"/>
          <p:cNvSpPr txBox="1"/>
          <p:nvPr/>
        </p:nvSpPr>
        <p:spPr>
          <a:xfrm>
            <a:off x="566928" y="713232"/>
            <a:ext cx="11057839" cy="640080"/>
          </a:xfrm>
          <a:prstGeom prst="rect">
            <a:avLst/>
          </a:prstGeom>
          <a:noFill/>
          <a:ln/>
        </p:spPr>
        <p:txBody>
          <a:bodyPr wrap="square" lIns="0" tIns="0" rIns="0" bIns="0" rtlCol="0" anchor="t"/>
          <a:lstStyle/>
          <a:p>
            <a:pPr indent="0" marL="0">
              <a:buNone/>
            </a:pPr>
            <a:r>
              <a:rPr lang="en-US" sz="3600" b="1" dirty="0">
                <a:solidFill>
                  <a:srgbClr val="F2EEE9"/>
                </a:solidFill>
                <a:latin typeface="Cambria" pitchFamily="34" charset="0"/>
                <a:ea typeface="Cambria" pitchFamily="34" charset="-122"/>
                <a:cs typeface="Cambria" pitchFamily="34" charset="-120"/>
              </a:rPr>
              <a:t>Four things. The first one is a letter.</a:t>
            </a:r>
            <a:endParaRPr lang="en-US" sz="3600" dirty="0"/>
          </a:p>
        </p:txBody>
      </p:sp>
      <p:sp>
        <p:nvSpPr>
          <p:cNvPr id="4" name="Text 2"/>
          <p:cNvSpPr txBox="1"/>
          <p:nvPr/>
        </p:nvSpPr>
        <p:spPr>
          <a:xfrm>
            <a:off x="566928" y="1810512"/>
            <a:ext cx="786384" cy="402336"/>
          </a:xfrm>
          <a:prstGeom prst="rect">
            <a:avLst/>
          </a:prstGeom>
          <a:noFill/>
          <a:ln/>
        </p:spPr>
        <p:txBody>
          <a:bodyPr wrap="square" lIns="0" tIns="0" rIns="0" bIns="0" rtlCol="0" anchor="t"/>
          <a:lstStyle/>
          <a:p>
            <a:pPr indent="0" marL="0">
              <a:buNone/>
            </a:pPr>
            <a:r>
              <a:rPr lang="en-US" sz="1700" b="1" dirty="0">
                <a:solidFill>
                  <a:srgbClr val="C1341C"/>
                </a:solidFill>
                <a:latin typeface="Courier New" pitchFamily="34" charset="0"/>
                <a:ea typeface="Courier New" pitchFamily="34" charset="-122"/>
                <a:cs typeface="Courier New" pitchFamily="34" charset="-120"/>
              </a:rPr>
              <a:t>01</a:t>
            </a:r>
            <a:endParaRPr lang="en-US" sz="1700" dirty="0"/>
          </a:p>
        </p:txBody>
      </p:sp>
      <p:sp>
        <p:nvSpPr>
          <p:cNvPr id="5" name="Text 3"/>
          <p:cNvSpPr txBox="1"/>
          <p:nvPr/>
        </p:nvSpPr>
        <p:spPr>
          <a:xfrm>
            <a:off x="1463040" y="1773936"/>
            <a:ext cx="3657600" cy="402336"/>
          </a:xfrm>
          <a:prstGeom prst="rect">
            <a:avLst/>
          </a:prstGeom>
          <a:noFill/>
          <a:ln/>
        </p:spPr>
        <p:txBody>
          <a:bodyPr wrap="square" lIns="0" tIns="0" rIns="0" bIns="0" rtlCol="0" anchor="t"/>
          <a:lstStyle/>
          <a:p>
            <a:pPr indent="0" marL="0">
              <a:buNone/>
            </a:pPr>
            <a:r>
              <a:rPr lang="en-US" sz="2000" b="1" dirty="0">
                <a:solidFill>
                  <a:srgbClr val="F2EEE9"/>
                </a:solidFill>
                <a:latin typeface="Cambria" pitchFamily="34" charset="0"/>
                <a:ea typeface="Cambria" pitchFamily="34" charset="-122"/>
                <a:cs typeface="Cambria" pitchFamily="34" charset="-120"/>
              </a:rPr>
              <a:t>Send the letter</a:t>
            </a:r>
            <a:endParaRPr lang="en-US" sz="2000" dirty="0"/>
          </a:p>
        </p:txBody>
      </p:sp>
      <p:sp>
        <p:nvSpPr>
          <p:cNvPr id="6" name="Text 4"/>
          <p:cNvSpPr txBox="1"/>
          <p:nvPr/>
        </p:nvSpPr>
        <p:spPr>
          <a:xfrm>
            <a:off x="5230368" y="1792224"/>
            <a:ext cx="6400800" cy="786384"/>
          </a:xfrm>
          <a:prstGeom prst="rect">
            <a:avLst/>
          </a:prstGeom>
          <a:noFill/>
          <a:ln/>
        </p:spPr>
        <p:txBody>
          <a:bodyPr wrap="square" lIns="0" tIns="0" rIns="0" bIns="0" rtlCol="0" anchor="t"/>
          <a:lstStyle/>
          <a:p>
            <a:pPr indent="0" marL="0">
              <a:lnSpc>
                <a:spcPts val="1900"/>
              </a:lnSpc>
              <a:buNone/>
            </a:pPr>
            <a:r>
              <a:rPr lang="en-US" sz="1350" dirty="0">
                <a:solidFill>
                  <a:srgbClr val="A79C90"/>
                </a:solidFill>
                <a:latin typeface="Calibri" pitchFamily="34" charset="0"/>
                <a:ea typeface="Calibri" pitchFamily="34" charset="-122"/>
                <a:cs typeface="Calibri" pitchFamily="34" charset="-120"/>
              </a:rPr>
              <a:t>One page to each operator running vehicles in your city, saying you intend to begin issuing and this is the interface you will use. California law then gives them 30 business days to make it work. We have a draft you can sign.</a:t>
            </a:r>
            <a:endParaRPr lang="en-US" sz="1350" dirty="0"/>
          </a:p>
        </p:txBody>
      </p:sp>
      <p:sp>
        <p:nvSpPr>
          <p:cNvPr id="7" name="Text 5"/>
          <p:cNvSpPr txBox="1"/>
          <p:nvPr/>
        </p:nvSpPr>
        <p:spPr>
          <a:xfrm>
            <a:off x="566928" y="2779776"/>
            <a:ext cx="786384" cy="402336"/>
          </a:xfrm>
          <a:prstGeom prst="rect">
            <a:avLst/>
          </a:prstGeom>
          <a:noFill/>
          <a:ln/>
        </p:spPr>
        <p:txBody>
          <a:bodyPr wrap="square" lIns="0" tIns="0" rIns="0" bIns="0" rtlCol="0" anchor="t"/>
          <a:lstStyle/>
          <a:p>
            <a:pPr indent="0" marL="0">
              <a:buNone/>
            </a:pPr>
            <a:r>
              <a:rPr lang="en-US" sz="1700" b="1" dirty="0">
                <a:solidFill>
                  <a:srgbClr val="C1341C"/>
                </a:solidFill>
                <a:latin typeface="Courier New" pitchFamily="34" charset="0"/>
                <a:ea typeface="Courier New" pitchFamily="34" charset="-122"/>
                <a:cs typeface="Courier New" pitchFamily="34" charset="-120"/>
              </a:rPr>
              <a:t>02</a:t>
            </a:r>
            <a:endParaRPr lang="en-US" sz="1700" dirty="0"/>
          </a:p>
        </p:txBody>
      </p:sp>
      <p:sp>
        <p:nvSpPr>
          <p:cNvPr id="8" name="Text 6"/>
          <p:cNvSpPr txBox="1"/>
          <p:nvPr/>
        </p:nvSpPr>
        <p:spPr>
          <a:xfrm>
            <a:off x="1463040" y="2743200"/>
            <a:ext cx="3657600" cy="402336"/>
          </a:xfrm>
          <a:prstGeom prst="rect">
            <a:avLst/>
          </a:prstGeom>
          <a:noFill/>
          <a:ln/>
        </p:spPr>
        <p:txBody>
          <a:bodyPr wrap="square" lIns="0" tIns="0" rIns="0" bIns="0" rtlCol="0" anchor="t"/>
          <a:lstStyle/>
          <a:p>
            <a:pPr indent="0" marL="0">
              <a:buNone/>
            </a:pPr>
            <a:r>
              <a:rPr lang="en-US" sz="2000" b="1" dirty="0">
                <a:solidFill>
                  <a:srgbClr val="F2EEE9"/>
                </a:solidFill>
                <a:latin typeface="Cambria" pitchFamily="34" charset="0"/>
                <a:ea typeface="Cambria" pitchFamily="34" charset="-122"/>
                <a:cs typeface="Cambria" pitchFamily="34" charset="-120"/>
              </a:rPr>
              <a:t>Run a tabletop</a:t>
            </a:r>
            <a:endParaRPr lang="en-US" sz="2000" dirty="0"/>
          </a:p>
        </p:txBody>
      </p:sp>
      <p:sp>
        <p:nvSpPr>
          <p:cNvPr id="9" name="Text 7"/>
          <p:cNvSpPr txBox="1"/>
          <p:nvPr/>
        </p:nvSpPr>
        <p:spPr>
          <a:xfrm>
            <a:off x="5230368" y="2761488"/>
            <a:ext cx="6400800" cy="786384"/>
          </a:xfrm>
          <a:prstGeom prst="rect">
            <a:avLst/>
          </a:prstGeom>
          <a:noFill/>
          <a:ln/>
        </p:spPr>
        <p:txBody>
          <a:bodyPr wrap="square" lIns="0" tIns="0" rIns="0" bIns="0" rtlCol="0" anchor="t"/>
          <a:lstStyle/>
          <a:p>
            <a:pPr indent="0" marL="0">
              <a:lnSpc>
                <a:spcPts val="1900"/>
              </a:lnSpc>
              <a:buNone/>
            </a:pPr>
            <a:r>
              <a:rPr lang="en-US" sz="1350" dirty="0">
                <a:solidFill>
                  <a:srgbClr val="A79C90"/>
                </a:solidFill>
                <a:latin typeface="Calibri" pitchFamily="34" charset="0"/>
                <a:ea typeface="Calibri" pitchFamily="34" charset="-122"/>
                <a:cs typeface="Calibri" pitchFamily="34" charset="-120"/>
              </a:rPr>
              <a:t>Take a real incident from your records, draw the zone in the console, and tell us where the format gets in the way.</a:t>
            </a:r>
            <a:endParaRPr lang="en-US" sz="1350" dirty="0"/>
          </a:p>
        </p:txBody>
      </p:sp>
      <p:sp>
        <p:nvSpPr>
          <p:cNvPr id="10" name="Text 8"/>
          <p:cNvSpPr txBox="1"/>
          <p:nvPr/>
        </p:nvSpPr>
        <p:spPr>
          <a:xfrm>
            <a:off x="566928" y="3749040"/>
            <a:ext cx="786384" cy="402336"/>
          </a:xfrm>
          <a:prstGeom prst="rect">
            <a:avLst/>
          </a:prstGeom>
          <a:noFill/>
          <a:ln/>
        </p:spPr>
        <p:txBody>
          <a:bodyPr wrap="square" lIns="0" tIns="0" rIns="0" bIns="0" rtlCol="0" anchor="t"/>
          <a:lstStyle/>
          <a:p>
            <a:pPr indent="0" marL="0">
              <a:buNone/>
            </a:pPr>
            <a:r>
              <a:rPr lang="en-US" sz="1700" b="1" dirty="0">
                <a:solidFill>
                  <a:srgbClr val="C1341C"/>
                </a:solidFill>
                <a:latin typeface="Courier New" pitchFamily="34" charset="0"/>
                <a:ea typeface="Courier New" pitchFamily="34" charset="-122"/>
                <a:cs typeface="Courier New" pitchFamily="34" charset="-120"/>
              </a:rPr>
              <a:t>03</a:t>
            </a:r>
            <a:endParaRPr lang="en-US" sz="1700" dirty="0"/>
          </a:p>
        </p:txBody>
      </p:sp>
      <p:sp>
        <p:nvSpPr>
          <p:cNvPr id="11" name="Text 9"/>
          <p:cNvSpPr txBox="1"/>
          <p:nvPr/>
        </p:nvSpPr>
        <p:spPr>
          <a:xfrm>
            <a:off x="1463040" y="3712464"/>
            <a:ext cx="3657600" cy="402336"/>
          </a:xfrm>
          <a:prstGeom prst="rect">
            <a:avLst/>
          </a:prstGeom>
          <a:noFill/>
          <a:ln/>
        </p:spPr>
        <p:txBody>
          <a:bodyPr wrap="square" lIns="0" tIns="0" rIns="0" bIns="0" rtlCol="0" anchor="t"/>
          <a:lstStyle/>
          <a:p>
            <a:pPr indent="0" marL="0">
              <a:buNone/>
            </a:pPr>
            <a:r>
              <a:rPr lang="en-US" sz="2000" b="1" dirty="0">
                <a:solidFill>
                  <a:srgbClr val="F2EEE9"/>
                </a:solidFill>
                <a:latin typeface="Cambria" pitchFamily="34" charset="0"/>
                <a:ea typeface="Cambria" pitchFamily="34" charset="-122"/>
                <a:cs typeface="Cambria" pitchFamily="34" charset="-120"/>
              </a:rPr>
              <a:t>Take a position on the registry</a:t>
            </a:r>
            <a:endParaRPr lang="en-US" sz="2000" dirty="0"/>
          </a:p>
        </p:txBody>
      </p:sp>
      <p:sp>
        <p:nvSpPr>
          <p:cNvPr id="12" name="Text 10"/>
          <p:cNvSpPr txBox="1"/>
          <p:nvPr/>
        </p:nvSpPr>
        <p:spPr>
          <a:xfrm>
            <a:off x="5230368" y="3730752"/>
            <a:ext cx="6400800" cy="786384"/>
          </a:xfrm>
          <a:prstGeom prst="rect">
            <a:avLst/>
          </a:prstGeom>
          <a:noFill/>
          <a:ln/>
        </p:spPr>
        <p:txBody>
          <a:bodyPr wrap="square" lIns="0" tIns="0" rIns="0" bIns="0" rtlCol="0" anchor="t"/>
          <a:lstStyle/>
          <a:p>
            <a:pPr indent="0" marL="0">
              <a:lnSpc>
                <a:spcPts val="1900"/>
              </a:lnSpc>
              <a:buNone/>
            </a:pPr>
            <a:r>
              <a:rPr lang="en-US" sz="1350" dirty="0">
                <a:solidFill>
                  <a:srgbClr val="A79C90"/>
                </a:solidFill>
                <a:latin typeface="Calibri" pitchFamily="34" charset="0"/>
                <a:ea typeface="Calibri" pitchFamily="34" charset="-122"/>
                <a:cs typeface="Calibri" pitchFamily="34" charset="-120"/>
              </a:rPr>
              <a:t>Who issues the signing credentials, and how a small department gets one. There is a proposal now. Argue with it.</a:t>
            </a:r>
            <a:endParaRPr lang="en-US" sz="1350" dirty="0"/>
          </a:p>
        </p:txBody>
      </p:sp>
      <p:sp>
        <p:nvSpPr>
          <p:cNvPr id="13" name="Text 11"/>
          <p:cNvSpPr txBox="1"/>
          <p:nvPr/>
        </p:nvSpPr>
        <p:spPr>
          <a:xfrm>
            <a:off x="566928" y="4718304"/>
            <a:ext cx="786384" cy="402336"/>
          </a:xfrm>
          <a:prstGeom prst="rect">
            <a:avLst/>
          </a:prstGeom>
          <a:noFill/>
          <a:ln/>
        </p:spPr>
        <p:txBody>
          <a:bodyPr wrap="square" lIns="0" tIns="0" rIns="0" bIns="0" rtlCol="0" anchor="t"/>
          <a:lstStyle/>
          <a:p>
            <a:pPr indent="0" marL="0">
              <a:buNone/>
            </a:pPr>
            <a:r>
              <a:rPr lang="en-US" sz="1700" b="1" dirty="0">
                <a:solidFill>
                  <a:srgbClr val="C1341C"/>
                </a:solidFill>
                <a:latin typeface="Courier New" pitchFamily="34" charset="0"/>
                <a:ea typeface="Courier New" pitchFamily="34" charset="-122"/>
                <a:cs typeface="Courier New" pitchFamily="34" charset="-120"/>
              </a:rPr>
              <a:t>04</a:t>
            </a:r>
            <a:endParaRPr lang="en-US" sz="1700" dirty="0"/>
          </a:p>
        </p:txBody>
      </p:sp>
      <p:sp>
        <p:nvSpPr>
          <p:cNvPr id="14" name="Text 12"/>
          <p:cNvSpPr txBox="1"/>
          <p:nvPr/>
        </p:nvSpPr>
        <p:spPr>
          <a:xfrm>
            <a:off x="1463040" y="4681728"/>
            <a:ext cx="3657600" cy="402336"/>
          </a:xfrm>
          <a:prstGeom prst="rect">
            <a:avLst/>
          </a:prstGeom>
          <a:noFill/>
          <a:ln/>
        </p:spPr>
        <p:txBody>
          <a:bodyPr wrap="square" lIns="0" tIns="0" rIns="0" bIns="0" rtlCol="0" anchor="t"/>
          <a:lstStyle/>
          <a:p>
            <a:pPr indent="0" marL="0">
              <a:buNone/>
            </a:pPr>
            <a:r>
              <a:rPr lang="en-US" sz="2000" b="1" dirty="0">
                <a:solidFill>
                  <a:srgbClr val="F2EEE9"/>
                </a:solidFill>
                <a:latin typeface="Cambria" pitchFamily="34" charset="0"/>
                <a:ea typeface="Cambria" pitchFamily="34" charset="-122"/>
                <a:cs typeface="Cambria" pitchFamily="34" charset="-120"/>
              </a:rPr>
              <a:t>Back a common format</a:t>
            </a:r>
            <a:endParaRPr lang="en-US" sz="2000" dirty="0"/>
          </a:p>
        </p:txBody>
      </p:sp>
      <p:sp>
        <p:nvSpPr>
          <p:cNvPr id="15" name="Text 13"/>
          <p:cNvSpPr txBox="1"/>
          <p:nvPr/>
        </p:nvSpPr>
        <p:spPr>
          <a:xfrm>
            <a:off x="5230368" y="4700016"/>
            <a:ext cx="6400800" cy="786384"/>
          </a:xfrm>
          <a:prstGeom prst="rect">
            <a:avLst/>
          </a:prstGeom>
          <a:noFill/>
          <a:ln/>
        </p:spPr>
        <p:txBody>
          <a:bodyPr wrap="square" lIns="0" tIns="0" rIns="0" bIns="0" rtlCol="0" anchor="t"/>
          <a:lstStyle/>
          <a:p>
            <a:pPr indent="0" marL="0">
              <a:lnSpc>
                <a:spcPts val="1900"/>
              </a:lnSpc>
              <a:buNone/>
            </a:pPr>
            <a:r>
              <a:rPr lang="en-US" sz="1350" dirty="0">
                <a:solidFill>
                  <a:srgbClr val="A79C90"/>
                </a:solidFill>
                <a:latin typeface="Calibri" pitchFamily="34" charset="0"/>
                <a:ea typeface="Calibri" pitchFamily="34" charset="-122"/>
                <a:cs typeface="Calibri" pitchFamily="34" charset="-120"/>
              </a:rPr>
              <a:t>The alternative is a separate bespoke arrangement with every operator, renegotiated each time a new one enters your city.</a:t>
            </a:r>
            <a:endParaRPr lang="en-US" sz="1350" dirty="0"/>
          </a:p>
        </p:txBody>
      </p:sp>
      <p:sp>
        <p:nvSpPr>
          <p:cNvPr id="16" name="Shape 14"/>
          <p:cNvSpPr/>
          <p:nvPr/>
        </p:nvSpPr>
        <p:spPr>
          <a:xfrm>
            <a:off x="566928" y="5705856"/>
            <a:ext cx="11057839" cy="621792"/>
          </a:xfrm>
          <a:prstGeom prst="roundRect">
            <a:avLst>
              <a:gd name="adj" fmla="val 8824"/>
            </a:avLst>
          </a:prstGeom>
          <a:solidFill>
            <a:srgbClr val="2A2622"/>
          </a:solidFill>
          <a:ln w="12700">
            <a:solidFill>
              <a:srgbClr val="3A342E"/>
            </a:solidFill>
            <a:prstDash val="solid"/>
          </a:ln>
        </p:spPr>
      </p:sp>
      <p:sp>
        <p:nvSpPr>
          <p:cNvPr id="17" name="Text 15"/>
          <p:cNvSpPr txBox="1"/>
          <p:nvPr/>
        </p:nvSpPr>
        <p:spPr>
          <a:xfrm>
            <a:off x="877824" y="5852160"/>
            <a:ext cx="10436047" cy="420624"/>
          </a:xfrm>
          <a:prstGeom prst="rect">
            <a:avLst/>
          </a:prstGeom>
          <a:noFill/>
          <a:ln/>
        </p:spPr>
        <p:txBody>
          <a:bodyPr wrap="square" lIns="0" tIns="0" rIns="0" bIns="0" rtlCol="0" anchor="t"/>
          <a:lstStyle/>
          <a:p>
            <a:pPr indent="0" marL="0">
              <a:buNone/>
            </a:pPr>
            <a:r>
              <a:rPr lang="en-US" sz="1450" dirty="0">
                <a:solidFill>
                  <a:srgbClr val="F2EEE9"/>
                </a:solidFill>
                <a:latin typeface="Calibri" pitchFamily="34" charset="0"/>
                <a:ea typeface="Calibri" pitchFamily="34" charset="-122"/>
                <a:cs typeface="Calibri" pitchFamily="34" charset="-120"/>
              </a:rPr>
              <a:t>Federal rules average about five years, and only if the bill passes. The duty in California is in force today. Nothing about this is waiting on Washington.</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5F2"/>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237744"/>
          </a:xfrm>
          <a:prstGeom prst="rect">
            <a:avLst/>
          </a:prstGeom>
          <a:noFill/>
          <a:ln/>
        </p:spPr>
        <p:txBody>
          <a:bodyPr wrap="square" lIns="0" tIns="0" rIns="0" bIns="0" rtlCol="0" anchor="t"/>
          <a:lstStyle/>
          <a:p>
            <a:pPr indent="0" marL="0">
              <a:buNone/>
            </a:pPr>
            <a:r>
              <a:rPr lang="en-US" sz="1100" b="1" spc="220" kern="0" dirty="0">
                <a:solidFill>
                  <a:srgbClr val="C1341C"/>
                </a:solidFill>
                <a:latin typeface="Courier New" pitchFamily="34" charset="0"/>
                <a:ea typeface="Courier New" pitchFamily="34" charset="-122"/>
                <a:cs typeface="Courier New" pitchFamily="34" charset="-120"/>
              </a:rPr>
              <a:t>REFERENCE</a:t>
            </a:r>
            <a:endParaRPr lang="en-US" sz="1100" dirty="0"/>
          </a:p>
        </p:txBody>
      </p:sp>
      <p:sp>
        <p:nvSpPr>
          <p:cNvPr id="3" name="Text 1"/>
          <p:cNvSpPr txBox="1"/>
          <p:nvPr/>
        </p:nvSpPr>
        <p:spPr>
          <a:xfrm>
            <a:off x="566928" y="713232"/>
            <a:ext cx="11057839" cy="841248"/>
          </a:xfrm>
          <a:prstGeom prst="rect">
            <a:avLst/>
          </a:prstGeom>
          <a:noFill/>
          <a:ln/>
        </p:spPr>
        <p:txBody>
          <a:bodyPr wrap="square" lIns="0" tIns="0" rIns="0" bIns="0" rtlCol="0" anchor="t"/>
          <a:lstStyle/>
          <a:p>
            <a:pPr indent="0" marL="0">
              <a:buNone/>
            </a:pPr>
            <a:r>
              <a:rPr lang="en-US" sz="3400" b="1" dirty="0">
                <a:solidFill>
                  <a:srgbClr val="22201D"/>
                </a:solidFill>
                <a:latin typeface="Cambria" pitchFamily="34" charset="0"/>
                <a:ea typeface="Cambria" pitchFamily="34" charset="-122"/>
                <a:cs typeface="Cambria" pitchFamily="34" charset="-120"/>
              </a:rPr>
              <a:t>The acronyms, in plain words</a:t>
            </a:r>
            <a:endParaRPr lang="en-US" sz="3400" dirty="0"/>
          </a:p>
        </p:txBody>
      </p:sp>
      <p:sp>
        <p:nvSpPr>
          <p:cNvPr id="4" name="Text 2"/>
          <p:cNvSpPr txBox="1"/>
          <p:nvPr/>
        </p:nvSpPr>
        <p:spPr>
          <a:xfrm>
            <a:off x="566928" y="1737360"/>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ADS</a:t>
            </a:r>
            <a:endParaRPr lang="en-US" sz="1150" dirty="0"/>
          </a:p>
        </p:txBody>
      </p:sp>
      <p:sp>
        <p:nvSpPr>
          <p:cNvPr id="5" name="Text 3"/>
          <p:cNvSpPr txBox="1"/>
          <p:nvPr/>
        </p:nvSpPr>
        <p:spPr>
          <a:xfrm>
            <a:off x="2212848" y="1719072"/>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Automated Driving System. The driving automation itself. “AV” is the everyday word for a vehicle that has one.</a:t>
            </a:r>
            <a:endParaRPr lang="en-US" sz="1150" dirty="0"/>
          </a:p>
        </p:txBody>
      </p:sp>
      <p:sp>
        <p:nvSpPr>
          <p:cNvPr id="6" name="Text 4"/>
          <p:cNvSpPr txBox="1"/>
          <p:nvPr/>
        </p:nvSpPr>
        <p:spPr>
          <a:xfrm>
            <a:off x="6324448" y="1737360"/>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CAD</a:t>
            </a:r>
            <a:endParaRPr lang="en-US" sz="1150" dirty="0"/>
          </a:p>
        </p:txBody>
      </p:sp>
      <p:sp>
        <p:nvSpPr>
          <p:cNvPr id="7" name="Text 5"/>
          <p:cNvSpPr txBox="1"/>
          <p:nvPr/>
        </p:nvSpPr>
        <p:spPr>
          <a:xfrm>
            <a:off x="7970368" y="1719072"/>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Computer-Aided Dispatch. Your incident system, and where the incident number comes from.</a:t>
            </a:r>
            <a:endParaRPr lang="en-US" sz="1150" dirty="0"/>
          </a:p>
        </p:txBody>
      </p:sp>
      <p:sp>
        <p:nvSpPr>
          <p:cNvPr id="8" name="Text 6"/>
          <p:cNvSpPr txBox="1"/>
          <p:nvPr/>
        </p:nvSpPr>
        <p:spPr>
          <a:xfrm>
            <a:off x="566928" y="2459736"/>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CAP</a:t>
            </a:r>
            <a:endParaRPr lang="en-US" sz="1150" dirty="0"/>
          </a:p>
        </p:txBody>
      </p:sp>
      <p:sp>
        <p:nvSpPr>
          <p:cNvPr id="9" name="Text 7"/>
          <p:cNvSpPr txBox="1"/>
          <p:nvPr/>
        </p:nvSpPr>
        <p:spPr>
          <a:xfrm>
            <a:off x="2212848" y="2441448"/>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Common Alerting Protocol. The standard format emergency alerts already travel in.</a:t>
            </a:r>
            <a:endParaRPr lang="en-US" sz="1150" dirty="0"/>
          </a:p>
        </p:txBody>
      </p:sp>
      <p:sp>
        <p:nvSpPr>
          <p:cNvPr id="10" name="Text 8"/>
          <p:cNvSpPr txBox="1"/>
          <p:nvPr/>
        </p:nvSpPr>
        <p:spPr>
          <a:xfrm>
            <a:off x="6324448" y="2459736"/>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Covered entity</a:t>
            </a:r>
            <a:endParaRPr lang="en-US" sz="1150" dirty="0"/>
          </a:p>
        </p:txBody>
      </p:sp>
      <p:sp>
        <p:nvSpPr>
          <p:cNvPr id="11" name="Text 9"/>
          <p:cNvSpPr txBox="1"/>
          <p:nvPr/>
        </p:nvSpPr>
        <p:spPr>
          <a:xfrm>
            <a:off x="7970368" y="2441448"/>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H.R. 10033's term for who carries the duty: the company operating the vehicles, or the manufacturer that sold them.</a:t>
            </a:r>
            <a:endParaRPr lang="en-US" sz="1150" dirty="0"/>
          </a:p>
        </p:txBody>
      </p:sp>
      <p:sp>
        <p:nvSpPr>
          <p:cNvPr id="12" name="Text 10"/>
          <p:cNvSpPr txBox="1"/>
          <p:nvPr/>
        </p:nvSpPr>
        <p:spPr>
          <a:xfrm>
            <a:off x="566928" y="3182112"/>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Geofence notice</a:t>
            </a:r>
            <a:endParaRPr lang="en-US" sz="1150" dirty="0"/>
          </a:p>
        </p:txBody>
      </p:sp>
      <p:sp>
        <p:nvSpPr>
          <p:cNvPr id="13" name="Text 11"/>
          <p:cNvSpPr txBox="1"/>
          <p:nvPr/>
        </p:nvSpPr>
        <p:spPr>
          <a:xfrm>
            <a:off x="2212848" y="3163824"/>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A signed message telling automated vehicles to restrict operation in a defined area for a defined time.</a:t>
            </a:r>
            <a:endParaRPr lang="en-US" sz="1150" dirty="0"/>
          </a:p>
        </p:txBody>
      </p:sp>
      <p:sp>
        <p:nvSpPr>
          <p:cNvPr id="14" name="Text 12"/>
          <p:cNvSpPr txBox="1"/>
          <p:nvPr/>
        </p:nvSpPr>
        <p:spPr>
          <a:xfrm>
            <a:off x="6324448" y="3182112"/>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H.R. 10033</a:t>
            </a:r>
            <a:endParaRPr lang="en-US" sz="1150" dirty="0"/>
          </a:p>
        </p:txBody>
      </p:sp>
      <p:sp>
        <p:nvSpPr>
          <p:cNvPr id="15" name="Text 13"/>
          <p:cNvSpPr txBox="1"/>
          <p:nvPr/>
        </p:nvSpPr>
        <p:spPr>
          <a:xfrm>
            <a:off x="7970368" y="3163824"/>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The AV Emergency Response Coordination Act, introduced 3 August 2026. Not passed.</a:t>
            </a:r>
            <a:endParaRPr lang="en-US" sz="1150" dirty="0"/>
          </a:p>
        </p:txBody>
      </p:sp>
      <p:sp>
        <p:nvSpPr>
          <p:cNvPr id="16" name="Text 14"/>
          <p:cNvSpPr txBox="1"/>
          <p:nvPr/>
        </p:nvSpPr>
        <p:spPr>
          <a:xfrm>
            <a:off x="566928" y="3904488"/>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IPAWS</a:t>
            </a:r>
            <a:endParaRPr lang="en-US" sz="1150" dirty="0"/>
          </a:p>
        </p:txBody>
      </p:sp>
      <p:sp>
        <p:nvSpPr>
          <p:cNvPr id="17" name="Text 15"/>
          <p:cNvSpPr txBox="1"/>
          <p:nvPr/>
        </p:nvSpPr>
        <p:spPr>
          <a:xfrm>
            <a:off x="2212848" y="3886200"/>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FEMA's national alert system. What your emergency manager sends alerts through.</a:t>
            </a:r>
            <a:endParaRPr lang="en-US" sz="1150" dirty="0"/>
          </a:p>
        </p:txBody>
      </p:sp>
      <p:sp>
        <p:nvSpPr>
          <p:cNvPr id="18" name="Text 16"/>
          <p:cNvSpPr txBox="1"/>
          <p:nvPr/>
        </p:nvSpPr>
        <p:spPr>
          <a:xfrm>
            <a:off x="6324448" y="3904488"/>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NHTSA</a:t>
            </a:r>
            <a:endParaRPr lang="en-US" sz="1150" dirty="0"/>
          </a:p>
        </p:txBody>
      </p:sp>
      <p:sp>
        <p:nvSpPr>
          <p:cNvPr id="19" name="Text 17"/>
          <p:cNvSpPr txBox="1"/>
          <p:nvPr/>
        </p:nvSpPr>
        <p:spPr>
          <a:xfrm>
            <a:off x="7970368" y="3886200"/>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National Highway Traffic Safety Administration. The federal vehicle safety regulator.</a:t>
            </a:r>
            <a:endParaRPr lang="en-US" sz="1150" dirty="0"/>
          </a:p>
        </p:txBody>
      </p:sp>
      <p:sp>
        <p:nvSpPr>
          <p:cNvPr id="20" name="Text 18"/>
          <p:cNvSpPr txBox="1"/>
          <p:nvPr/>
        </p:nvSpPr>
        <p:spPr>
          <a:xfrm>
            <a:off x="566928" y="4626864"/>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Registry</a:t>
            </a:r>
            <a:endParaRPr lang="en-US" sz="1150" dirty="0"/>
          </a:p>
        </p:txBody>
      </p:sp>
      <p:sp>
        <p:nvSpPr>
          <p:cNvPr id="21" name="Text 19"/>
          <p:cNvSpPr txBox="1"/>
          <p:nvPr/>
        </p:nvSpPr>
        <p:spPr>
          <a:xfrm>
            <a:off x="2212848" y="4608576"/>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The credential authority that would issue signing certificates to agencies. Does not exist yet.</a:t>
            </a:r>
            <a:endParaRPr lang="en-US" sz="1150" dirty="0"/>
          </a:p>
        </p:txBody>
      </p:sp>
      <p:sp>
        <p:nvSpPr>
          <p:cNvPr id="22" name="Text 20"/>
          <p:cNvSpPr txBox="1"/>
          <p:nvPr/>
        </p:nvSpPr>
        <p:spPr>
          <a:xfrm>
            <a:off x="6324448" y="4626864"/>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Tier</a:t>
            </a:r>
            <a:endParaRPr lang="en-US" sz="1150" dirty="0"/>
          </a:p>
        </p:txBody>
      </p:sp>
      <p:sp>
        <p:nvSpPr>
          <p:cNvPr id="23" name="Text 21"/>
          <p:cNvSpPr txBox="1"/>
          <p:nvPr/>
        </p:nvSpPr>
        <p:spPr>
          <a:xfrm>
            <a:off x="7970368" y="4608576"/>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The authority class of the issuing agency, setting how long and how large a restriction it may impose.</a:t>
            </a:r>
            <a:endParaRPr lang="en-US" sz="1150" dirty="0"/>
          </a:p>
        </p:txBody>
      </p:sp>
      <p:sp>
        <p:nvSpPr>
          <p:cNvPr id="24" name="Text 22"/>
          <p:cNvSpPr txBox="1"/>
          <p:nvPr/>
        </p:nvSpPr>
        <p:spPr>
          <a:xfrm>
            <a:off x="566928" y="5349240"/>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WEA / EAS</a:t>
            </a:r>
            <a:endParaRPr lang="en-US" sz="1150" dirty="0"/>
          </a:p>
        </p:txBody>
      </p:sp>
      <p:sp>
        <p:nvSpPr>
          <p:cNvPr id="25" name="Text 23"/>
          <p:cNvSpPr txBox="1"/>
          <p:nvPr/>
        </p:nvSpPr>
        <p:spPr>
          <a:xfrm>
            <a:off x="2212848" y="5330952"/>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Wireless Emergency Alerts to phones, and the Emergency Alert System on broadcast.</a:t>
            </a:r>
            <a:endParaRPr lang="en-US" sz="1150" dirty="0"/>
          </a:p>
        </p:txBody>
      </p:sp>
      <p:sp>
        <p:nvSpPr>
          <p:cNvPr id="26" name="Text 24"/>
          <p:cNvSpPr txBox="1"/>
          <p:nvPr/>
        </p:nvSpPr>
        <p:spPr>
          <a:xfrm>
            <a:off x="6324448" y="5349240"/>
            <a:ext cx="1572768" cy="329184"/>
          </a:xfrm>
          <a:prstGeom prst="rect">
            <a:avLst/>
          </a:prstGeom>
          <a:noFill/>
          <a:ln/>
        </p:spPr>
        <p:txBody>
          <a:bodyPr wrap="square" lIns="0" tIns="0" rIns="0" bIns="0" rtlCol="0" anchor="t"/>
          <a:lstStyle/>
          <a:p>
            <a:pPr indent="0" marL="0">
              <a:buNone/>
            </a:pPr>
            <a:r>
              <a:rPr lang="en-US" sz="1150" b="1" dirty="0">
                <a:solidFill>
                  <a:srgbClr val="C1341C"/>
                </a:solidFill>
                <a:latin typeface="Courier New" pitchFamily="34" charset="0"/>
                <a:ea typeface="Courier New" pitchFamily="34" charset="-122"/>
                <a:cs typeface="Courier New" pitchFamily="34" charset="-120"/>
              </a:rPr>
              <a:t>WZDx</a:t>
            </a:r>
            <a:endParaRPr lang="en-US" sz="1150" dirty="0"/>
          </a:p>
        </p:txBody>
      </p:sp>
      <p:sp>
        <p:nvSpPr>
          <p:cNvPr id="27" name="Text 25"/>
          <p:cNvSpPr txBox="1"/>
          <p:nvPr/>
        </p:nvSpPr>
        <p:spPr>
          <a:xfrm>
            <a:off x="7970368" y="5330952"/>
            <a:ext cx="3654400" cy="676656"/>
          </a:xfrm>
          <a:prstGeom prst="rect">
            <a:avLst/>
          </a:prstGeom>
          <a:noFill/>
          <a:ln/>
        </p:spPr>
        <p:txBody>
          <a:bodyPr wrap="square" lIns="0" tIns="0" rIns="0" bIns="0" rtlCol="0" anchor="t"/>
          <a:lstStyle/>
          <a:p>
            <a:pPr indent="0" marL="0">
              <a:lnSpc>
                <a:spcPts val="1500"/>
              </a:lnSpc>
              <a:buNone/>
            </a:pPr>
            <a:r>
              <a:rPr lang="en-US" sz="1150" dirty="0">
                <a:solidFill>
                  <a:srgbClr val="6B625A"/>
                </a:solidFill>
                <a:latin typeface="Calibri" pitchFamily="34" charset="0"/>
                <a:ea typeface="Calibri" pitchFamily="34" charset="-122"/>
                <a:cs typeface="Calibri" pitchFamily="34" charset="-120"/>
              </a:rPr>
              <a:t>Work Zone Data Exchange. How agencies already publish closures to Google Maps, Waze and Apple Maps.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Closing the Street to a Robotaxi</dc:title>
  <dc:subject>PptxGenJS Presentation</dc:subject>
  <dc:creator>Geofence Notice Specification working draft</dc:creator>
  <cp:lastModifiedBy>Geofence Notice Specification working draft</cp:lastModifiedBy>
  <cp:revision>1</cp:revision>
  <dcterms:created xsi:type="dcterms:W3CDTF">2026-09-04T12:35:19Z</dcterms:created>
  <dcterms:modified xsi:type="dcterms:W3CDTF">2026-09-04T12:35:19Z</dcterms:modified>
</cp:coreProperties>
</file>